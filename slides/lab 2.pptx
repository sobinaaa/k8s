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71" r:id="rId7"/>
    <p:sldId id="263" r:id="rId8"/>
    <p:sldId id="266" r:id="rId9"/>
    <p:sldId id="269" r:id="rId10"/>
    <p:sldId id="267" r:id="rId11"/>
    <p:sldId id="268" r:id="rId12"/>
    <p:sldId id="265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19ABB-629B-BE3D-0969-EFA02880A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A43CBF-8275-0548-CC21-9D9D33C30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16748-57CC-1BE2-CB13-A137FE26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AE57A8-0FED-7B07-8726-4259B9B2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8A5708-92BD-7AAE-60A3-54707ADF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0A1F4-6006-6019-23B0-35D4735A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F196-33C1-AF63-9F83-0F18E915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7FB51-E8EF-3484-03DC-1545C05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0F4DF-56AE-149A-9129-D1E22ACF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548275-C2FD-0D60-B204-60DEF5B5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65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F08BC-B20E-4DF3-3247-8199E898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958AC5-5816-E0AD-2F73-8337DA71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649311-0EE0-8D17-ADD9-DD3ED6E0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2F322-709B-F179-DCFE-AA1A8E0A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D4E44-AE15-1F54-97BC-1DB89B7C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1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DF857-35DC-6E89-2DB6-3AC1DF50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09A46-E308-F0B2-D7A1-30A22ED80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EE2410-9E67-E70F-0067-26B821CF9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F692C9-D0B3-46E0-7B72-B1D5077E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EC304-54E5-7827-5842-29D57CC6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6E3C7-15AA-B7C0-0583-EF284EE2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75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E9381-FF0E-69E9-1542-09D08A4D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7C5D5D-CB5D-DD04-AA00-B26910E9F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80D45-AA96-3B15-C5CB-CAC399B7A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4A92ED-0F99-3AF6-C95D-9B0304CE3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0DCC5F-EA02-9CA3-7768-B8C822A35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1F9A82-997F-A589-7A55-6CCD0B7B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1B2454-A946-5284-6631-C5386EA6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E4A86B-9FCF-E824-B0DE-EC4B9BC1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5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4FC13-284D-AF04-2F3A-B504D70E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CF76A5-61C4-138C-8876-B20928B2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FAC579-D24F-F93E-2810-1106E753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DDDEB1-C227-93D0-B5B3-C682B10C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33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8A306D-FB60-76F3-E28B-FC4DFF2E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9C9E3D-A6C1-2FF6-C860-0442D01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DD2218-6844-3191-3C6D-5E4B6319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99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7AE2E-78C7-178E-9819-C7BC83E6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81171-EB53-3F8D-F683-35DCD4A07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D80245-1C01-0DEC-D202-2A2122131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8CF93F-3AAC-FDF6-8C2C-5D8B0AF2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064720-5242-4F30-ED86-84511653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A9795A-2615-EB28-8C20-BFB48A52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2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FAA14-36F9-4182-98FA-24CC90ED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A1C291-6E9B-F5C3-300F-2A03CE6EF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62D865-0D24-48C3-97CC-DC0E3AA6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197DFF-01A6-0D53-91EC-89A4E378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275B6E-8538-F121-11E7-013A1F6F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5CDC21-16AE-51E7-7866-5C0E8A30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90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6B3E7-E946-618A-B50C-8A24DDA9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0BA08E-F714-E7B6-C0A8-E234050B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A9CC2-824B-4777-81FF-C7FC1EFC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9BB28-E24D-1524-44B0-10E874E6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C8A964-2652-9D7B-94D6-A4F3FCCE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98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DA4FE6-9FBE-DEAB-567C-F4B1EB7A7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4CA4EE-4EEF-3ABC-63C5-11658517F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D4502F-67D9-3AD2-3AEF-1EF870C9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DB5D3-F04A-5378-8C87-42325A76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D0C39-176E-017F-5186-CEE7E79D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3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FDED0-2524-B405-858C-178A5550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C4CF30-EE6A-0358-B9A5-A0BB75B7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828358-8BDD-0DBF-128C-D6363C088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BAEA6-88FC-4542-B3BF-F11A57CC5938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6891A-FD5C-E089-B882-8C0F2F3C7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98368-1739-3D95-C1AA-7BECAEF4A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5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3D78B-1A8E-39B9-88F7-50FC8ACD9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K8s </a:t>
            </a:r>
            <a:r>
              <a:rPr lang="ru-RU" b="1" dirty="0">
                <a:solidFill>
                  <a:srgbClr val="7030A0"/>
                </a:solidFill>
              </a:rPr>
              <a:t>взглядом специалиста по качеству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80E006-3C6F-16AF-B8CA-F5C4C4F490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</a:t>
            </a:r>
            <a:r>
              <a:rPr lang="ru-RU" dirty="0"/>
              <a:t> 2 «Добавляем </a:t>
            </a:r>
            <a:r>
              <a:rPr lang="en-US"/>
              <a:t>helm</a:t>
            </a:r>
            <a:r>
              <a:rPr lang="ru-RU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17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7E41A-AB7A-7395-8848-32BC6F59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6477E6-9EB0-8420-7757-10469E8C6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 – QA команды «Тюрьма для багов». Разработчики подготовили новую версию приложения, которую нужно развернуть, проверить и при необходимости откатить.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C48341-F0D5-3E57-520C-81E3BA1E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179" y="3337560"/>
            <a:ext cx="5011253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69D75-625A-FEB6-3919-018D8914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0. Подготовка. Установка </a:t>
            </a:r>
            <a:r>
              <a:rPr lang="de-DE" b="1" dirty="0" err="1">
                <a:solidFill>
                  <a:schemeClr val="accent1">
                    <a:lumMod val="75000"/>
                  </a:schemeClr>
                </a:solidFill>
              </a:rPr>
              <a:t>helm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A5EA4A-6A09-5464-697C-5F5C7155F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63162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helm</a:t>
            </a:r>
            <a:r>
              <a:rPr lang="ru-RU" b="1" dirty="0"/>
              <a:t> – </a:t>
            </a:r>
            <a:r>
              <a:rPr lang="ru-RU" dirty="0"/>
              <a:t>пакетный менеджер для </a:t>
            </a:r>
            <a:r>
              <a:rPr lang="ru-RU" dirty="0" err="1"/>
              <a:t>Kubernetes</a:t>
            </a:r>
            <a:r>
              <a:rPr lang="ru-RU" dirty="0"/>
              <a:t>, который позволяет устанавливать, обновлять и откатывать приложения как единое целое. 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winget</a:t>
            </a:r>
            <a:r>
              <a:rPr lang="en-US" dirty="0"/>
              <a:t> install </a:t>
            </a:r>
            <a:r>
              <a:rPr lang="en-US" dirty="0" err="1"/>
              <a:t>Helm.Helm</a:t>
            </a:r>
            <a:r>
              <a:rPr lang="en-US" dirty="0"/>
              <a:t> (</a:t>
            </a:r>
            <a:r>
              <a:rPr lang="ru-RU" dirty="0"/>
              <a:t>команда установки)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version</a:t>
            </a:r>
            <a:r>
              <a:rPr lang="ru-RU" dirty="0"/>
              <a:t> (проверить установленную версию)</a:t>
            </a:r>
          </a:p>
        </p:txBody>
      </p:sp>
    </p:spTree>
    <p:extLst>
      <p:ext uri="{BB962C8B-B14F-4D97-AF65-F5344CB8AC3E}">
        <p14:creationId xmlns:p14="http://schemas.microsoft.com/office/powerpoint/2010/main" val="3351885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4EDD-1308-592E-8F6D-DDC15E09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DF90C-FECA-8C67-2F9A-76E4A9BA4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0. Подготовка. Текущее состояние кластера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33278-DB03-2890-D99D-084D4F891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631627"/>
          </a:xfrm>
        </p:spPr>
        <p:txBody>
          <a:bodyPr/>
          <a:lstStyle/>
          <a:p>
            <a:pPr marL="0" indent="0">
              <a:buNone/>
            </a:pPr>
            <a:r>
              <a:rPr lang="ru-RU" i="1" dirty="0"/>
              <a:t>0)* </a:t>
            </a:r>
            <a:r>
              <a:rPr lang="ru-RU" i="1" dirty="0" err="1"/>
              <a:t>minikube</a:t>
            </a:r>
            <a:r>
              <a:rPr lang="ru-RU" i="1" dirty="0"/>
              <a:t> </a:t>
            </a:r>
            <a:r>
              <a:rPr lang="ru-RU" i="1" dirty="0" err="1"/>
              <a:t>start</a:t>
            </a:r>
            <a:r>
              <a:rPr lang="ru-RU" i="1" dirty="0"/>
              <a:t> (может понадобиться запустить снова</a:t>
            </a:r>
            <a:r>
              <a:rPr lang="en-US" i="1" dirty="0"/>
              <a:t>)</a:t>
            </a:r>
            <a:endParaRPr lang="ru-RU" i="1" dirty="0"/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ru-RU" dirty="0"/>
              <a:t> -A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svc</a:t>
            </a:r>
            <a:r>
              <a:rPr lang="ru-RU" dirty="0"/>
              <a:t> -A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deployments</a:t>
            </a:r>
            <a:r>
              <a:rPr lang="ru-RU" dirty="0"/>
              <a:t> </a:t>
            </a:r>
            <a:r>
              <a:rPr lang="en-US" dirty="0"/>
              <a:t>-</a:t>
            </a:r>
            <a:r>
              <a:rPr lang="ru-RU" dirty="0"/>
              <a:t>A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В кластере уже могут существовать ресурсы, созданные во время предыдущей лабораторной работы. Они не помешают выполнению текущего задания.</a:t>
            </a:r>
          </a:p>
        </p:txBody>
      </p:sp>
    </p:spTree>
    <p:extLst>
      <p:ext uri="{BB962C8B-B14F-4D97-AF65-F5344CB8AC3E}">
        <p14:creationId xmlns:p14="http://schemas.microsoft.com/office/powerpoint/2010/main" val="312051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98CC8-8CA2-BA5B-73DF-7767F712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93DE1-9B8C-F2A5-7666-4A71FD6D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0. Подготовка. Выделение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namespace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BA8C15-600E-446E-EC83-349ECB394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6316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ru-RU" dirty="0"/>
              <a:t>Чтобы не смешивать ресурсы разных лабораторных работ </a:t>
            </a:r>
            <a:br>
              <a:rPr lang="ru-RU" dirty="0"/>
            </a:br>
            <a:r>
              <a:rPr lang="ru-RU" dirty="0"/>
              <a:t>(а заодно попрактиковаться), создадим отдельный </a:t>
            </a:r>
            <a:r>
              <a:rPr lang="en-US" dirty="0"/>
              <a:t>namespace:</a:t>
            </a:r>
          </a:p>
          <a:p>
            <a:r>
              <a:rPr lang="en-US" dirty="0" err="1"/>
              <a:t>kubectl</a:t>
            </a:r>
            <a:r>
              <a:rPr lang="en-US" dirty="0"/>
              <a:t> create namespace bug-prison 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ns</a:t>
            </a:r>
            <a:endParaRPr lang="en-US" dirty="0"/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config</a:t>
            </a:r>
            <a:r>
              <a:rPr lang="ru-RU" dirty="0"/>
              <a:t> </a:t>
            </a:r>
            <a:r>
              <a:rPr lang="ru-RU" dirty="0" err="1"/>
              <a:t>set-context</a:t>
            </a:r>
            <a:r>
              <a:rPr lang="ru-RU" dirty="0"/>
              <a:t> --</a:t>
            </a:r>
            <a:r>
              <a:rPr lang="ru-RU" dirty="0" err="1"/>
              <a:t>current</a:t>
            </a:r>
            <a:r>
              <a:rPr lang="ru-RU" dirty="0"/>
              <a:t> --</a:t>
            </a:r>
            <a:r>
              <a:rPr lang="ru-RU" dirty="0" err="1"/>
              <a:t>namespace</a:t>
            </a:r>
            <a:r>
              <a:rPr lang="en-US" dirty="0"/>
              <a:t> bug-prison 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ru-RU" dirty="0"/>
              <a:t>Проверим наличие релизов </a:t>
            </a:r>
            <a:r>
              <a:rPr lang="en-US" dirty="0"/>
              <a:t>helm (</a:t>
            </a:r>
            <a:r>
              <a:rPr lang="ru-RU" dirty="0"/>
              <a:t>пустой список)</a:t>
            </a:r>
          </a:p>
          <a:p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06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1CC0-3AE2-3DA3-FAD9-52222A36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C9236-D0D6-BD99-9DBC-ACE351D5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1. Установка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79528-B8B8-563B-EED8-EF43631D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ru-RU" dirty="0"/>
              <a:t>Перейти в каталог с извлеченным содержимым </a:t>
            </a:r>
            <a:r>
              <a:rPr lang="en-US" dirty="0"/>
              <a:t>bug-prison-chart.7z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ru-RU" dirty="0"/>
              <a:t>Запустить проверку структуры:</a:t>
            </a:r>
          </a:p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lint</a:t>
            </a:r>
            <a:r>
              <a:rPr lang="ru-RU" dirty="0"/>
              <a:t> </a:t>
            </a:r>
            <a:r>
              <a:rPr lang="ru-RU" dirty="0" err="1"/>
              <a:t>bug-prison-chart</a:t>
            </a:r>
            <a:r>
              <a:rPr lang="en-US" dirty="0"/>
              <a:t>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Ожидаемый результат: 1 </a:t>
            </a:r>
            <a:r>
              <a:rPr lang="ru-RU" dirty="0" err="1"/>
              <a:t>chart</a:t>
            </a:r>
            <a:r>
              <a:rPr lang="ru-RU" dirty="0"/>
              <a:t>(s) </a:t>
            </a:r>
            <a:r>
              <a:rPr lang="ru-RU" dirty="0" err="1"/>
              <a:t>linted</a:t>
            </a:r>
            <a:r>
              <a:rPr lang="ru-RU" dirty="0"/>
              <a:t>, 0 </a:t>
            </a:r>
            <a:r>
              <a:rPr lang="ru-RU" dirty="0" err="1"/>
              <a:t>chart</a:t>
            </a:r>
            <a:r>
              <a:rPr lang="ru-RU" dirty="0"/>
              <a:t>(s) </a:t>
            </a:r>
            <a:r>
              <a:rPr lang="ru-RU" dirty="0" err="1"/>
              <a:t>failed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3) Изучить вывод:</a:t>
            </a:r>
          </a:p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template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./</a:t>
            </a:r>
            <a:r>
              <a:rPr lang="ru-RU" dirty="0" err="1"/>
              <a:t>bug-prison-chart</a:t>
            </a:r>
            <a:br>
              <a:rPr lang="en-US" dirty="0"/>
            </a:b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Helm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 не отправляет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Chart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 в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Kubernetes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. Сначала он преобразует шаблоны </a:t>
            </a:r>
            <a:br>
              <a:rPr lang="en-US" i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в обычные YAML-манифесты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Kubernetes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dirty="0"/>
              <a:t>4) Установить приложение из </a:t>
            </a:r>
            <a:r>
              <a:rPr lang="en-US" dirty="0"/>
              <a:t>chart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./</a:t>
            </a:r>
            <a:r>
              <a:rPr lang="ru-RU" dirty="0" err="1"/>
              <a:t>bug-prison-chart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br>
              <a:rPr lang="en-US" dirty="0"/>
            </a:br>
            <a:r>
              <a:rPr lang="ru-RU" dirty="0"/>
              <a:t>Что появилось в кластере?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AA47218-07B1-88D4-0443-B1C037E90C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1389" y="1545336"/>
          <a:ext cx="1362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2" imgW="1362031" imgH="514350" progId="Package">
                  <p:embed/>
                </p:oleObj>
              </mc:Choice>
              <mc:Fallback>
                <p:oleObj name="Объект упаковщика для оболочки" showAsIcon="1" r:id="rId2" imgW="1362031" imgH="514350" progId="Package">
                  <p:embed/>
                  <p:pic>
                    <p:nvPicPr>
                      <p:cNvPr id="5" name="Объект 4">
                        <a:extLst>
                          <a:ext uri="{FF2B5EF4-FFF2-40B4-BE49-F238E27FC236}">
                            <a16:creationId xmlns:a16="http://schemas.microsoft.com/office/drawing/2014/main" id="{A3668B40-D92C-60EB-B779-600A124483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81389" y="1545336"/>
                        <a:ext cx="13620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BD563E-3D59-A021-A61B-E34B79EA8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796" y="2782156"/>
            <a:ext cx="2761068" cy="14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7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00C3-6F10-C6AF-AD51-A421F83E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2C340-F714-2F27-B160-E6DF8272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1. Установка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0397ED-DD69-1BF5-CB27-61925DBA9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5) Проверить релиз</a:t>
            </a:r>
          </a:p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6) Посмотреть созданные ресурсы</a:t>
            </a:r>
          </a:p>
          <a:p>
            <a:pPr marL="0" indent="0">
              <a:buNone/>
            </a:pP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all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7) </a:t>
            </a:r>
            <a:r>
              <a:rPr lang="ru-RU" dirty="0"/>
              <a:t>Проверить результат</a:t>
            </a:r>
          </a:p>
          <a:p>
            <a:pPr marL="0" indent="0">
              <a:buNone/>
            </a:pPr>
            <a:r>
              <a:rPr lang="ru-RU" dirty="0" err="1"/>
              <a:t>minikube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8) Проверить созданные ресурсы в </a:t>
            </a:r>
            <a:r>
              <a:rPr lang="en-US" dirty="0"/>
              <a:t>Lens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59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25B6A-C3A6-02A9-D350-270BB66A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9EB18-14B4-71BC-3E48-12005339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. Изменение параметров через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Values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3E13B0-6FF2-E9F5-E30E-8EE056A78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28" y="1545336"/>
            <a:ext cx="10515600" cy="515721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200" dirty="0"/>
              <a:t>Необходимо изменить конфигурацию стенда:</a:t>
            </a:r>
          </a:p>
          <a:p>
            <a:r>
              <a:rPr lang="ru-RU" sz="3200" dirty="0"/>
              <a:t>увеличить количество "заточенных багов"; </a:t>
            </a:r>
          </a:p>
          <a:p>
            <a:r>
              <a:rPr lang="ru-RU" sz="3200" dirty="0"/>
              <a:t>изменить имя начальника тюрьмы; </a:t>
            </a:r>
          </a:p>
          <a:p>
            <a:r>
              <a:rPr lang="ru-RU" sz="3200" dirty="0"/>
              <a:t>обновить версию стенда.</a:t>
            </a:r>
          </a:p>
          <a:p>
            <a:pPr marL="0" indent="0">
              <a:buNone/>
            </a:pPr>
            <a:r>
              <a:rPr lang="ru-RU" sz="3200" dirty="0"/>
              <a:t>Как это сделать:</a:t>
            </a:r>
          </a:p>
          <a:p>
            <a:pPr marL="514350" indent="-514350">
              <a:buAutoNum type="arabicParenR"/>
            </a:pPr>
            <a:r>
              <a:rPr lang="ru-RU" sz="3200" dirty="0"/>
              <a:t>Изменить файл </a:t>
            </a:r>
            <a:r>
              <a:rPr lang="en-US" sz="3200" b="1" dirty="0"/>
              <a:t>Values</a:t>
            </a:r>
            <a:r>
              <a:rPr lang="en-US" sz="3200" dirty="0"/>
              <a:t> </a:t>
            </a:r>
            <a:r>
              <a:rPr lang="ru-RU" sz="3200" dirty="0"/>
              <a:t>в соответствии с заданием. </a:t>
            </a:r>
            <a:endParaRPr lang="en-US" sz="3200" dirty="0"/>
          </a:p>
          <a:p>
            <a:pPr marL="514350" indent="-514350">
              <a:buAutoNum type="arabicParenR"/>
            </a:pPr>
            <a:r>
              <a:rPr lang="ru-RU" sz="3200" dirty="0"/>
              <a:t>Обновить релиз:</a:t>
            </a:r>
            <a:br>
              <a:rPr lang="en-US" sz="3200" dirty="0"/>
            </a:br>
            <a:r>
              <a:rPr lang="ru-RU" sz="3200" dirty="0" err="1"/>
              <a:t>helm</a:t>
            </a:r>
            <a:r>
              <a:rPr lang="ru-RU" sz="3200" dirty="0"/>
              <a:t> </a:t>
            </a:r>
            <a:r>
              <a:rPr lang="ru-RU" sz="3200" dirty="0" err="1"/>
              <a:t>upgrade</a:t>
            </a:r>
            <a:r>
              <a:rPr lang="ru-RU" sz="3200" dirty="0"/>
              <a:t> </a:t>
            </a:r>
            <a:r>
              <a:rPr lang="ru-RU" sz="3200" dirty="0" err="1"/>
              <a:t>bug-prison</a:t>
            </a:r>
            <a:r>
              <a:rPr lang="ru-RU" sz="3200" dirty="0"/>
              <a:t> ./</a:t>
            </a:r>
            <a:r>
              <a:rPr lang="ru-RU" sz="3200" dirty="0" err="1"/>
              <a:t>bug-prison-chart</a:t>
            </a:r>
            <a:r>
              <a:rPr lang="ru-RU" sz="3200" dirty="0"/>
              <a:t>  -n </a:t>
            </a:r>
            <a:r>
              <a:rPr lang="ru-RU" sz="3200" dirty="0" err="1"/>
              <a:t>bug-prison</a:t>
            </a:r>
            <a:endParaRPr lang="ru-RU" sz="3200" dirty="0"/>
          </a:p>
          <a:p>
            <a:pPr marL="514350" indent="-514350">
              <a:buAutoNum type="arabicParenR"/>
            </a:pPr>
            <a:r>
              <a:rPr lang="ru-RU" sz="3200" dirty="0"/>
              <a:t>Проверить результат</a:t>
            </a:r>
            <a:br>
              <a:rPr lang="ru-RU" sz="3200" dirty="0"/>
            </a:br>
            <a:r>
              <a:rPr lang="ru-RU" sz="3200" dirty="0" err="1"/>
              <a:t>minikube</a:t>
            </a:r>
            <a:r>
              <a:rPr lang="ru-RU" sz="3200" dirty="0"/>
              <a:t> </a:t>
            </a:r>
            <a:r>
              <a:rPr lang="ru-RU" sz="3200" dirty="0" err="1"/>
              <a:t>service</a:t>
            </a:r>
            <a:r>
              <a:rPr lang="ru-RU" sz="3200" dirty="0"/>
              <a:t> </a:t>
            </a:r>
            <a:r>
              <a:rPr lang="ru-RU" sz="3200" dirty="0" err="1"/>
              <a:t>bug-prison</a:t>
            </a:r>
            <a:r>
              <a:rPr lang="ru-RU" sz="3200" dirty="0"/>
              <a:t> -n </a:t>
            </a:r>
            <a:r>
              <a:rPr lang="ru-RU" sz="3200" dirty="0" err="1"/>
              <a:t>bug-prison</a:t>
            </a:r>
            <a:endParaRPr lang="ru-RU" sz="3200" dirty="0"/>
          </a:p>
          <a:p>
            <a:pPr marL="514350" indent="-514350">
              <a:buAutoNum type="arabicParenR"/>
            </a:pPr>
            <a:r>
              <a:rPr lang="ru-RU" sz="3200" dirty="0"/>
              <a:t>Проверить, что релиз действительно обновился.</a:t>
            </a:r>
            <a:br>
              <a:rPr lang="ru-RU" sz="3200" dirty="0"/>
            </a:br>
            <a:r>
              <a:rPr lang="ru-RU" sz="3200" dirty="0" err="1"/>
              <a:t>helm</a:t>
            </a:r>
            <a:r>
              <a:rPr lang="ru-RU" sz="3200" dirty="0"/>
              <a:t> </a:t>
            </a:r>
            <a:r>
              <a:rPr lang="ru-RU" sz="3200" dirty="0" err="1"/>
              <a:t>history</a:t>
            </a:r>
            <a:r>
              <a:rPr lang="ru-RU" sz="3200" dirty="0"/>
              <a:t> </a:t>
            </a:r>
            <a:r>
              <a:rPr lang="ru-RU" sz="3200" dirty="0" err="1"/>
              <a:t>bug-prison</a:t>
            </a:r>
            <a:r>
              <a:rPr lang="ru-RU" sz="3200" dirty="0"/>
              <a:t> -n </a:t>
            </a:r>
            <a:r>
              <a:rPr lang="ru-RU" sz="3200" dirty="0" err="1"/>
              <a:t>bug-prison</a:t>
            </a:r>
            <a:endParaRPr lang="ru-RU" sz="3200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sz="3200" dirty="0"/>
              <a:t>Проверить </a:t>
            </a:r>
            <a:r>
              <a:rPr lang="ru-RU" sz="3200" dirty="0" err="1"/>
              <a:t>ConfigMap</a:t>
            </a:r>
            <a:r>
              <a:rPr lang="ru-RU" sz="3200" dirty="0"/>
              <a:t> (убедиться, что значения попали в него</a:t>
            </a:r>
            <a:r>
              <a:rPr lang="en-US" sz="3200" dirty="0"/>
              <a:t>, </a:t>
            </a:r>
            <a:r>
              <a:rPr lang="ru-RU" sz="3200" dirty="0"/>
              <a:t>например в </a:t>
            </a:r>
            <a:r>
              <a:rPr lang="en-US" sz="3200" dirty="0"/>
              <a:t>Lens)</a:t>
            </a:r>
            <a:endParaRPr lang="ru-RU" sz="32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40A6CDF-E5E3-B91F-C26A-9B6A492741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709985"/>
              </p:ext>
            </p:extLst>
          </p:nvPr>
        </p:nvGraphicFramePr>
        <p:xfrm>
          <a:off x="9630029" y="3308985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2" imgW="1409877" imgH="514350" progId="Package">
                  <p:embed/>
                </p:oleObj>
              </mc:Choice>
              <mc:Fallback>
                <p:oleObj name="Объект упаковщика для оболочки" showAsIcon="1" r:id="rId2" imgW="140987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30029" y="3308985"/>
                        <a:ext cx="1409700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462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49D1-03CF-6202-0C71-BE03D548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5703A-2C51-0CF6-E744-0DCC0157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2. Изменение параметров через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Values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9FCE85-E54A-33BB-BF92-2A45C4BD0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28" y="1545336"/>
            <a:ext cx="10515600" cy="49475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./</a:t>
            </a:r>
            <a:r>
              <a:rPr lang="ru-RU" dirty="0" err="1"/>
              <a:t>bug-prison-chart</a:t>
            </a:r>
            <a:r>
              <a:rPr lang="ru-RU" dirty="0"/>
              <a:t>  -n </a:t>
            </a:r>
            <a:r>
              <a:rPr lang="ru-RU" dirty="0" err="1"/>
              <a:t>bug-prison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Что происходит:</a:t>
            </a:r>
          </a:p>
          <a:p>
            <a:r>
              <a:rPr lang="ru-RU" dirty="0" err="1"/>
              <a:t>Helm</a:t>
            </a:r>
            <a:r>
              <a:rPr lang="ru-RU" dirty="0"/>
              <a:t> рендерит шаблоны с новыми значениями. </a:t>
            </a:r>
          </a:p>
          <a:p>
            <a:r>
              <a:rPr lang="ru-RU" dirty="0"/>
              <a:t>Отправляет обновленный </a:t>
            </a:r>
            <a:r>
              <a:rPr lang="ru-RU" dirty="0" err="1"/>
              <a:t>Deployment</a:t>
            </a:r>
            <a:r>
              <a:rPr lang="ru-RU" dirty="0"/>
              <a:t> в </a:t>
            </a:r>
            <a:r>
              <a:rPr lang="ru-RU" dirty="0" err="1"/>
              <a:t>Kubernetes</a:t>
            </a:r>
            <a:r>
              <a:rPr lang="ru-RU" dirty="0"/>
              <a:t>. </a:t>
            </a:r>
          </a:p>
          <a:p>
            <a:r>
              <a:rPr lang="ru-RU" dirty="0" err="1"/>
              <a:t>Kubernetes</a:t>
            </a:r>
            <a:r>
              <a:rPr lang="ru-RU" dirty="0"/>
              <a:t> замечает изменение шаблона </a:t>
            </a:r>
            <a:r>
              <a:rPr lang="ru-RU" dirty="0" err="1"/>
              <a:t>Pod</a:t>
            </a:r>
            <a:r>
              <a:rPr lang="ru-RU" dirty="0"/>
              <a:t> (</a:t>
            </a:r>
            <a:r>
              <a:rPr lang="ru-RU" dirty="0" err="1"/>
              <a:t>spec.template</a:t>
            </a:r>
            <a:r>
              <a:rPr lang="ru-RU" dirty="0"/>
              <a:t>).</a:t>
            </a:r>
          </a:p>
          <a:p>
            <a:r>
              <a:rPr lang="ru-RU" dirty="0" err="1"/>
              <a:t>Deployment</a:t>
            </a:r>
            <a:r>
              <a:rPr lang="ru-RU" dirty="0"/>
              <a:t> </a:t>
            </a:r>
            <a:r>
              <a:rPr lang="ru-RU" b="1" dirty="0"/>
              <a:t>автоматически</a:t>
            </a:r>
            <a:r>
              <a:rPr lang="ru-RU" dirty="0"/>
              <a:t> запускает </a:t>
            </a:r>
            <a:r>
              <a:rPr lang="ru-RU" b="1" dirty="0"/>
              <a:t>Rolling Update</a:t>
            </a:r>
            <a:r>
              <a:rPr lang="ru-RU" dirty="0"/>
              <a:t>. </a:t>
            </a:r>
          </a:p>
          <a:p>
            <a:r>
              <a:rPr lang="ru-RU" dirty="0"/>
              <a:t>Создается новый </a:t>
            </a:r>
            <a:r>
              <a:rPr lang="ru-RU" dirty="0" err="1"/>
              <a:t>ReplicaSet</a:t>
            </a:r>
            <a:r>
              <a:rPr lang="ru-RU" dirty="0"/>
              <a:t>. </a:t>
            </a:r>
          </a:p>
          <a:p>
            <a:r>
              <a:rPr lang="ru-RU" dirty="0"/>
              <a:t>Старые </a:t>
            </a:r>
            <a:r>
              <a:rPr lang="ru-RU" dirty="0" err="1"/>
              <a:t>Pod</a:t>
            </a:r>
            <a:r>
              <a:rPr lang="ru-RU" dirty="0"/>
              <a:t> постепенно заменяются новыми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Дополнительный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rollout</a:t>
            </a:r>
            <a:r>
              <a:rPr lang="ru-RU" dirty="0"/>
              <a:t> </a:t>
            </a:r>
            <a:r>
              <a:rPr lang="ru-RU" dirty="0" err="1"/>
              <a:t>restart</a:t>
            </a:r>
            <a:r>
              <a:rPr lang="ru-RU" dirty="0"/>
              <a:t> не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384765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3229-01E3-7B53-A031-7B37DC2E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BE3D8-BE98-DC18-DC2C-8DB71A53C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. Изменение параметров через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Values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F2C6496-B4A4-95CB-E0AB-69832647A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0672" y="1594091"/>
            <a:ext cx="5883782" cy="3722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CD4519-EDE9-59D0-0F2B-4425F5CAEF3F}"/>
              </a:ext>
            </a:extLst>
          </p:cNvPr>
          <p:cNvSpPr txBox="1"/>
          <p:nvPr/>
        </p:nvSpPr>
        <p:spPr>
          <a:xfrm>
            <a:off x="576072" y="5393802"/>
            <a:ext cx="11045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dirty="0"/>
              <a:t>В рамках этой лабораторной работе мы </a:t>
            </a:r>
            <a:r>
              <a:rPr lang="ru-RU" sz="2000" b="1" dirty="0"/>
              <a:t>не изменяем шаблоны </a:t>
            </a:r>
            <a:r>
              <a:rPr lang="ru-RU" sz="2000" b="1" dirty="0" err="1"/>
              <a:t>Helm</a:t>
            </a:r>
            <a:r>
              <a:rPr lang="ru-RU" sz="2000" b="1" dirty="0"/>
              <a:t> </a:t>
            </a:r>
            <a:r>
              <a:rPr lang="ru-RU" sz="2000" b="1" dirty="0" err="1"/>
              <a:t>Chart</a:t>
            </a:r>
            <a:r>
              <a:rPr lang="ru-RU" sz="2000" dirty="0"/>
              <a:t> (</a:t>
            </a:r>
            <a:r>
              <a:rPr lang="ru-RU" sz="2000" dirty="0" err="1"/>
              <a:t>templates</a:t>
            </a:r>
            <a:r>
              <a:rPr lang="ru-RU" sz="2000" dirty="0"/>
              <a:t>/*.</a:t>
            </a:r>
            <a:r>
              <a:rPr lang="ru-RU" sz="2000" dirty="0" err="1"/>
              <a:t>yaml</a:t>
            </a:r>
            <a:r>
              <a:rPr lang="ru-RU" sz="2000" dirty="0"/>
              <a:t>) или напрямую </a:t>
            </a:r>
            <a:r>
              <a:rPr lang="en-US" sz="2000" dirty="0" err="1"/>
              <a:t>ConfigMap</a:t>
            </a:r>
            <a:r>
              <a:rPr lang="ru-RU" sz="2000" dirty="0"/>
              <a:t>. Они считаются подготовленными разработчиками или </a:t>
            </a:r>
            <a:r>
              <a:rPr lang="ru-RU" sz="2000" dirty="0" err="1"/>
              <a:t>DevOps</a:t>
            </a:r>
            <a:r>
              <a:rPr lang="ru-RU" sz="2000" dirty="0"/>
              <a:t>-инженерами.</a:t>
            </a:r>
            <a:r>
              <a:rPr lang="en-US" sz="2000" dirty="0"/>
              <a:t> </a:t>
            </a:r>
            <a:r>
              <a:rPr lang="ru-RU" sz="2000" dirty="0"/>
              <a:t>Задача QA – изменять параметры приложения через </a:t>
            </a:r>
            <a:r>
              <a:rPr lang="ru-RU" sz="2000" dirty="0" err="1"/>
              <a:t>values.yaml</a:t>
            </a:r>
            <a:r>
              <a:rPr lang="ru-RU" sz="2000" dirty="0"/>
              <a:t> и выполнять обновление релиза командой </a:t>
            </a:r>
            <a:r>
              <a:rPr lang="ru-RU" sz="2000" dirty="0" err="1"/>
              <a:t>helm</a:t>
            </a:r>
            <a:r>
              <a:rPr lang="ru-RU" sz="2000" dirty="0"/>
              <a:t> </a:t>
            </a:r>
            <a:r>
              <a:rPr lang="ru-RU" sz="2000" dirty="0" err="1"/>
              <a:t>upgrade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447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C95D9-E19F-18A9-6C56-E5F806F5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28DDF-E31D-D0C8-92A8-97C12A16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. Добавляем новые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Values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5CC429-20A9-1A8B-542A-98BC3142F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В главном </a:t>
            </a:r>
            <a:r>
              <a:rPr lang="ru-RU" dirty="0" err="1"/>
              <a:t>values.yaml</a:t>
            </a:r>
            <a:r>
              <a:rPr lang="ru-RU" dirty="0"/>
              <a:t> хранятся общие параметры (имя приложения, порты). Требуется добавить дополнительный </a:t>
            </a:r>
            <a:r>
              <a:rPr lang="en-US" dirty="0"/>
              <a:t>values </a:t>
            </a:r>
            <a:r>
              <a:rPr lang="ru-RU" dirty="0"/>
              <a:t>и обновить стенд с его помощью</a:t>
            </a:r>
            <a:r>
              <a:rPr lang="en-US" dirty="0"/>
              <a:t> (mode: “PROD”)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Создать файл </a:t>
            </a:r>
            <a:r>
              <a:rPr lang="en-US" dirty="0"/>
              <a:t>values-</a:t>
            </a:r>
            <a:r>
              <a:rPr lang="en-US" dirty="0" err="1"/>
              <a:t>prod.yaml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. -f </a:t>
            </a:r>
            <a:r>
              <a:rPr lang="ru-RU" dirty="0" err="1"/>
              <a:t>values.yaml</a:t>
            </a:r>
            <a:r>
              <a:rPr lang="ru-RU" dirty="0"/>
              <a:t> -f </a:t>
            </a:r>
            <a:r>
              <a:rPr lang="ru-RU" dirty="0" err="1"/>
              <a:t>values-update.yaml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</a:p>
          <a:p>
            <a:pPr marL="514350" indent="-514350">
              <a:buAutoNum type="arabicParenR"/>
            </a:pPr>
            <a:r>
              <a:rPr lang="ru-RU" dirty="0"/>
              <a:t>Проверить результат</a:t>
            </a:r>
            <a:br>
              <a:rPr lang="ru-RU" dirty="0"/>
            </a:br>
            <a:r>
              <a:rPr lang="ru-RU" dirty="0" err="1"/>
              <a:t>minikube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Проверить </a:t>
            </a:r>
            <a:r>
              <a:rPr lang="ru-RU" dirty="0" err="1"/>
              <a:t>ConfigMap</a:t>
            </a:r>
            <a:r>
              <a:rPr lang="ru-RU" dirty="0"/>
              <a:t> (убедиться, что значения попали в него</a:t>
            </a:r>
            <a:r>
              <a:rPr lang="en-US" dirty="0"/>
              <a:t>, </a:t>
            </a:r>
            <a:r>
              <a:rPr lang="ru-RU" dirty="0"/>
              <a:t>например в </a:t>
            </a:r>
            <a:r>
              <a:rPr lang="en-US" dirty="0"/>
              <a:t>Lens)</a:t>
            </a: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Проверить историю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history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status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endParaRPr lang="ru-RU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900B4924-AF9A-2897-B92C-570D6F744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030511"/>
              </p:ext>
            </p:extLst>
          </p:nvPr>
        </p:nvGraphicFramePr>
        <p:xfrm>
          <a:off x="9991725" y="2614041"/>
          <a:ext cx="1362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2" imgW="1362031" imgH="514350" progId="Package">
                  <p:embed/>
                </p:oleObj>
              </mc:Choice>
              <mc:Fallback>
                <p:oleObj name="Объект упаковщика для оболочки" showAsIcon="1" r:id="rId2" imgW="136203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91725" y="2614041"/>
                        <a:ext cx="13620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369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E2AD-4BB9-9694-60CE-D9BD7981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BA6861-EE6D-7B1C-1F06-09DD5D27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. Ломаем и откатываем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81E5EA-D555-4CB3-6491-7673BB203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28" y="1545336"/>
            <a:ext cx="10515600" cy="49475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Обновим стенд «сломанным» </a:t>
            </a:r>
            <a:r>
              <a:rPr lang="en-US" dirty="0"/>
              <a:t>values </a:t>
            </a:r>
            <a:r>
              <a:rPr lang="ru-RU" dirty="0"/>
              <a:t>и посмотрим, как это выглядит.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Обновить стенд некорректным </a:t>
            </a:r>
            <a:r>
              <a:rPr lang="en-US" dirty="0"/>
              <a:t>values</a:t>
            </a:r>
            <a:r>
              <a:rPr lang="ru-RU" dirty="0"/>
              <a:t> (в этот раз</a:t>
            </a:r>
            <a:br>
              <a:rPr lang="ru-RU" dirty="0"/>
            </a:br>
            <a:r>
              <a:rPr lang="ru-RU" dirty="0"/>
              <a:t>предварительно его не изучая):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. -f </a:t>
            </a:r>
            <a:r>
              <a:rPr lang="ru-RU" dirty="0" err="1"/>
              <a:t>values.yaml</a:t>
            </a:r>
            <a:r>
              <a:rPr lang="ru-RU" dirty="0"/>
              <a:t> -f </a:t>
            </a:r>
            <a:r>
              <a:rPr lang="ru-RU" dirty="0" err="1"/>
              <a:t>values</a:t>
            </a:r>
            <a:r>
              <a:rPr lang="ru-RU" dirty="0"/>
              <a:t>-</a:t>
            </a:r>
            <a:r>
              <a:rPr lang="en-US" dirty="0"/>
              <a:t>broken</a:t>
            </a:r>
            <a:r>
              <a:rPr lang="ru-RU" dirty="0"/>
              <a:t>.</a:t>
            </a:r>
            <a:r>
              <a:rPr lang="ru-RU" dirty="0" err="1"/>
              <a:t>yaml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результат: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r>
              <a:rPr lang="ru-RU" dirty="0"/>
              <a:t> (обратить внимание на </a:t>
            </a:r>
            <a:r>
              <a:rPr lang="en-US" dirty="0"/>
              <a:t>Status)</a:t>
            </a:r>
            <a:endParaRPr lang="en-US" b="1" dirty="0"/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 &lt;имя-</a:t>
            </a:r>
            <a:r>
              <a:rPr lang="ru-RU" dirty="0" err="1"/>
              <a:t>pod</a:t>
            </a:r>
            <a:r>
              <a:rPr lang="ru-RU" dirty="0"/>
              <a:t>&gt; -n </a:t>
            </a:r>
            <a:r>
              <a:rPr lang="ru-RU" dirty="0" err="1"/>
              <a:t>bug-prison</a:t>
            </a:r>
            <a:r>
              <a:rPr lang="en-US" dirty="0"/>
              <a:t> (</a:t>
            </a:r>
            <a:r>
              <a:rPr lang="ru-RU" dirty="0"/>
              <a:t>посмотреть причины полученного статуса – разобраться, что пошло не так)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номер последней рабочей ревизии (</a:t>
            </a:r>
            <a:r>
              <a:rPr lang="en-US" dirty="0"/>
              <a:t>h</a:t>
            </a:r>
            <a:r>
              <a:rPr lang="ru-RU" dirty="0" err="1"/>
              <a:t>elm</a:t>
            </a:r>
            <a:r>
              <a:rPr lang="ru-RU" dirty="0"/>
              <a:t> хранит историю изменений каждого релиза)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history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rollback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&lt;номер ревизии из п.5&gt; -n </a:t>
            </a:r>
            <a:r>
              <a:rPr lang="ru-RU" dirty="0" err="1"/>
              <a:t>bug-prison</a:t>
            </a:r>
            <a:r>
              <a:rPr lang="ru-RU" dirty="0"/>
              <a:t> (обратить внимание на результат выполнения </a:t>
            </a:r>
            <a:r>
              <a:rPr lang="ru-RU" dirty="0">
                <a:sym typeface="Wingdings" panose="05000000000000000000" pitchFamily="2" charset="2"/>
              </a:rPr>
              <a:t>)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результат</a:t>
            </a:r>
            <a:br>
              <a:rPr lang="ru-RU" dirty="0"/>
            </a:br>
            <a:r>
              <a:rPr lang="ru-RU" dirty="0" err="1"/>
              <a:t>minikube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 </a:t>
            </a:r>
            <a:r>
              <a:rPr lang="ru-RU" dirty="0" err="1"/>
              <a:t>bug-prison</a:t>
            </a:r>
            <a:r>
              <a:rPr lang="ru-RU" dirty="0"/>
              <a:t> -n </a:t>
            </a:r>
            <a:r>
              <a:rPr lang="ru-RU" dirty="0" err="1"/>
              <a:t>bug-prison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944E1B0-4FD2-C1BD-00F4-7E43BFE72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81460"/>
              </p:ext>
            </p:extLst>
          </p:nvPr>
        </p:nvGraphicFramePr>
        <p:xfrm>
          <a:off x="9991725" y="1844485"/>
          <a:ext cx="1362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2" imgW="1362031" imgH="514350" progId="Package">
                  <p:embed/>
                </p:oleObj>
              </mc:Choice>
              <mc:Fallback>
                <p:oleObj name="Объект упаковщика для оболочки" showAsIcon="1" r:id="rId2" imgW="136203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91725" y="1844485"/>
                        <a:ext cx="13620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5183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00DA1-5F2B-53F8-B55A-0E7B27DB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Чему мы научились?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FD87E-3F0F-3C69-6A6E-2482C4A9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устанавливать </a:t>
            </a: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Chart</a:t>
            </a:r>
            <a:r>
              <a:rPr lang="ru-RU" dirty="0"/>
              <a:t>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понимать структуру </a:t>
            </a:r>
            <a:r>
              <a:rPr lang="ru-RU" dirty="0" err="1"/>
              <a:t>Chart</a:t>
            </a:r>
            <a:r>
              <a:rPr lang="ru-RU" dirty="0"/>
              <a:t>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изменять параметры через </a:t>
            </a:r>
            <a:r>
              <a:rPr lang="ru-RU" dirty="0" err="1"/>
              <a:t>values.yaml</a:t>
            </a:r>
            <a:r>
              <a:rPr lang="ru-RU" dirty="0"/>
              <a:t>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обновлять релиз командой </a:t>
            </a: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ru-RU" dirty="0"/>
              <a:t>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просматривать историю релизов;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откатывать неудачное обновление.</a:t>
            </a:r>
          </a:p>
        </p:txBody>
      </p:sp>
      <p:pic>
        <p:nvPicPr>
          <p:cNvPr id="4" name="Рисунок 3" descr="Fallout vault boy">
            <a:extLst>
              <a:ext uri="{FF2B5EF4-FFF2-40B4-BE49-F238E27FC236}">
                <a16:creationId xmlns:a16="http://schemas.microsoft.com/office/drawing/2014/main" id="{29010949-431F-3D2D-A70F-FC21F0358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44" b="92315" l="9783" r="89946">
                        <a14:foregroundMark x1="44701" y1="10759" x2="57745" y2="10855"/>
                        <a14:foregroundMark x1="52853" y1="8357" x2="52038" y2="6436"/>
                        <a14:foregroundMark x1="51223" y1="24015" x2="51630" y2="22767"/>
                        <a14:foregroundMark x1="56658" y1="21614" x2="44701" y2="24976"/>
                        <a14:foregroundMark x1="34375" y1="90010" x2="43071" y2="88088"/>
                        <a14:foregroundMark x1="72011" y1="88280" x2="74864" y2="923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9350" y="1027906"/>
            <a:ext cx="30764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917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9333</TotalTime>
  <Words>800</Words>
  <Application>Microsoft Office PowerPoint</Application>
  <PresentationFormat>Широкоэкранный</PresentationFormat>
  <Paragraphs>84</Paragraphs>
  <Slides>13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Тема Office</vt:lpstr>
      <vt:lpstr>Объект упаковщика для оболочки</vt:lpstr>
      <vt:lpstr>K8s взглядом специалиста по качеству</vt:lpstr>
      <vt:lpstr>Задание</vt:lpstr>
      <vt:lpstr>0. Подготовка. Установка helm</vt:lpstr>
      <vt:lpstr>0. Подготовка. Текущее состояние кластера</vt:lpstr>
      <vt:lpstr>0. Подготовка. Выделение namespace</vt:lpstr>
      <vt:lpstr>1. Установка приложения</vt:lpstr>
      <vt:lpstr>1. Установка приложения</vt:lpstr>
      <vt:lpstr>2. Изменение параметров через Values</vt:lpstr>
      <vt:lpstr>2. Изменение параметров через Values</vt:lpstr>
      <vt:lpstr>2. Изменение параметров через Values</vt:lpstr>
      <vt:lpstr>3. Добавляем новые Values</vt:lpstr>
      <vt:lpstr>4. Ломаем и откатываем</vt:lpstr>
      <vt:lpstr>Чему мы научились?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Алена Собина</dc:creator>
  <cp:lastModifiedBy>Алена Собина</cp:lastModifiedBy>
  <cp:revision>129</cp:revision>
  <dcterms:created xsi:type="dcterms:W3CDTF">2026-07-03T04:37:23Z</dcterms:created>
  <dcterms:modified xsi:type="dcterms:W3CDTF">2026-07-17T14:08:48Z</dcterms:modified>
</cp:coreProperties>
</file>