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2" r:id="rId4"/>
    <p:sldId id="257" r:id="rId5"/>
    <p:sldId id="258" r:id="rId6"/>
    <p:sldId id="261" r:id="rId7"/>
    <p:sldId id="278" r:id="rId8"/>
    <p:sldId id="279" r:id="rId9"/>
    <p:sldId id="263" r:id="rId10"/>
    <p:sldId id="265" r:id="rId11"/>
    <p:sldId id="266" r:id="rId12"/>
    <p:sldId id="264" r:id="rId13"/>
    <p:sldId id="260" r:id="rId14"/>
    <p:sldId id="267" r:id="rId15"/>
    <p:sldId id="274" r:id="rId16"/>
    <p:sldId id="268" r:id="rId17"/>
    <p:sldId id="269" r:id="rId18"/>
    <p:sldId id="273" r:id="rId19"/>
    <p:sldId id="270" r:id="rId20"/>
    <p:sldId id="271" r:id="rId21"/>
    <p:sldId id="272" r:id="rId22"/>
    <p:sldId id="275" r:id="rId23"/>
    <p:sldId id="277" r:id="rId24"/>
    <p:sldId id="280" r:id="rId25"/>
    <p:sldId id="281" r:id="rId26"/>
    <p:sldId id="276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319ABB-629B-BE3D-0969-EFA02880AF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5A43CBF-8275-0548-CC21-9D9D33C303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A516748-57CC-1BE2-CB13-A137FE26C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15.07.2026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9AE57A8-0FED-7B07-8726-4259B9B21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28A5708-92BD-7AAE-60A3-54707ADF5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5780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50A1F4-6006-6019-23B0-35D4735AC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74F196-33C1-AF63-9F83-0F18E915B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C87FB51-E8EF-3484-03DC-1545C05277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15.07.2026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150F4DF-56AE-149A-9129-D1E22ACF4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4548275-C2FD-0D60-B204-60DEF5B53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26512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7F08BC-B20E-4DF3-3247-8199E898D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1958AC5-5816-E0AD-2F73-8337DA710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649311-0EE0-8D17-ADD9-DD3ED6E0C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15.07.2026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02F322-709B-F179-DCFE-AA1A8E0A4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41D4E44-AE15-1F54-97BC-1DB89B7C3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6158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BDF857-35DC-6E89-2DB6-3AC1DF500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409A46-E308-F0B2-D7A1-30A22ED80C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DEE2410-9E67-E70F-0067-26B821CF9E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8F692C9-D0B3-46E0-7B72-B1D5077EC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15.07.2026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5AEC304-54E5-7827-5842-29D57CC6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826E3C7-15AA-B7C0-0583-EF284EE29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1754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E9381-FF0E-69E9-1542-09D08A4D8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D7C5D5D-CB5D-DD04-AA00-B26910E9F1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5780D45-AA96-3B15-C5CB-CAC399B7A5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B4A92ED-0F99-3AF6-C95D-9B0304CE33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90DCC5F-EA02-9CA3-7768-B8C822A35F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91F9A82-997F-A589-7A55-6CCD0B7BD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15.07.2026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A1B2454-A946-5284-6631-C5386EA68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5E4A86B-9FCF-E824-B0DE-EC4B9BC18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40510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14FC13-284D-AF04-2F3A-B504D70E3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8CF76A5-61C4-138C-8876-B20928B25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15.07.2026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8FAC579-D24F-F93E-2810-1106E7538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1DDDEB1-C227-93D0-B5B3-C682B10C0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03331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08A306D-FB60-76F3-E28B-FC4DFF2E6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15.07.2026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D9C9E3D-A6C1-2FF6-C860-0442D01B1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3DD2218-6844-3191-3C6D-5E4B6319C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999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7AE2E-78C7-178E-9819-C7BC83E6A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7181171-EB53-3F8D-F683-35DCD4A078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D80245-1C01-0DEC-D202-2A21221314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28CF93F-3AAC-FDF6-8C2C-5D8B0AF27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15.07.2026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D064720-5242-4F30-ED86-845116535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EA9795A-2615-EB28-8C20-BFB48A529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1326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3FAA14-36F9-4182-98FA-24CC90ED1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4A1C291-6E9B-F5C3-300F-2A03CE6EF2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C62D865-0D24-48C3-97CC-DC0E3AA6BC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E197DFF-01A6-0D53-91EC-89A4E378E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15.07.2026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5275B6E-8538-F121-11E7-013A1F6F8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75CDC21-16AE-51E7-7866-5C0E8A30D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3908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26B3E7-E946-618A-B50C-8A24DDA9B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40BA08E-F714-E7B6-C0A8-E234050B47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B5A9CC2-824B-4777-81FF-C7FC1EFC0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15.07.2026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A09BB28-E24D-1524-44B0-10E874E60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3C8A964-2652-9D7B-94D6-A4F3FCCE0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3988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4DA4FE6-9FBE-DEAB-567C-F4B1EB7A7B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E4CA4EE-4EEF-3ABC-63C5-11658517F4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AD4502F-67D9-3AD2-3AEF-1EF870C91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15.07.2026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9DB5D3-F04A-5378-8C87-42325A76E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68D0C39-176E-017F-5186-CEE7E79D1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9362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9FDED0-2524-B405-858C-178A55503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C4CF30-EE6A-0358-B9A5-A0BB75B72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828358-8BDD-0DBF-128C-D6363C0881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9BAEA6-88FC-4542-B3BF-F11A57CC5938}" type="datetimeFigureOut">
              <a:rPr lang="ru-RU" smtClean="0"/>
              <a:t>15.07.2026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C6891A-FD5C-E089-B882-8C0F2F3C74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B698368-1739-3D95-C1AA-7BECAEF4AC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3859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43D78B-1A8E-39B9-88F7-50FC8ACD94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K8s </a:t>
            </a:r>
            <a:r>
              <a:rPr lang="ru-RU" b="1" dirty="0">
                <a:solidFill>
                  <a:srgbClr val="7030A0"/>
                </a:solidFill>
              </a:rPr>
              <a:t>взглядом специалиста по качеству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480E006-3C6F-16AF-B8CA-F5C4C4F490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Теоретическая часть</a:t>
            </a:r>
          </a:p>
        </p:txBody>
      </p:sp>
    </p:spTree>
    <p:extLst>
      <p:ext uri="{BB962C8B-B14F-4D97-AF65-F5344CB8AC3E}">
        <p14:creationId xmlns:p14="http://schemas.microsoft.com/office/powerpoint/2010/main" val="233175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A3D0B8-DBC5-A67F-E8BD-BD389B3AC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Что это?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CA2DCC9-D650-FA80-395E-BFD169E5C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b="1" dirty="0" err="1"/>
              <a:t>Kubernetes</a:t>
            </a:r>
            <a:r>
              <a:rPr lang="ru-RU" b="1" dirty="0"/>
              <a:t> (K8s) </a:t>
            </a:r>
            <a:r>
              <a:rPr lang="ru-RU" dirty="0"/>
              <a:t>— это система, которая автоматически управляет </a:t>
            </a:r>
            <a:r>
              <a:rPr lang="ru-RU" dirty="0" err="1"/>
              <a:t>контейнеризированными</a:t>
            </a:r>
            <a:r>
              <a:rPr lang="ru-RU" dirty="0"/>
              <a:t> приложениями: запускает их, следит за их состоянием, распределяет нагрузку и восстанавливает после сбоев.</a:t>
            </a:r>
          </a:p>
          <a:p>
            <a:pPr marL="0" indent="0">
              <a:buNone/>
            </a:pPr>
            <a:r>
              <a:rPr lang="ru-RU" dirty="0" err="1"/>
              <a:t>Kubernetes</a:t>
            </a:r>
            <a:r>
              <a:rPr lang="ru-RU" dirty="0"/>
              <a:t> управляет контейнерами, запущенными на нескольких серверах (узлах кластера), распределяет между ними нагрузку и поддерживает заданное количество работающих экземпляров приложения.</a:t>
            </a:r>
          </a:p>
          <a:p>
            <a:pPr marL="0" indent="0">
              <a:buNone/>
            </a:pPr>
            <a:r>
              <a:rPr lang="ru-RU" dirty="0"/>
              <a:t>Проект был создан в Google и сегодня развивается международным сообществом при участии многих компаний, включая Microsoft, Red Hat, IBM и </a:t>
            </a:r>
            <a:r>
              <a:rPr lang="ru-RU" dirty="0" err="1"/>
              <a:t>Docker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dirty="0"/>
              <a:t>Название </a:t>
            </a:r>
            <a:r>
              <a:rPr lang="ru-RU" b="1" dirty="0" err="1"/>
              <a:t>Kubernetes</a:t>
            </a:r>
            <a:r>
              <a:rPr lang="ru-RU" dirty="0"/>
              <a:t> происходит от греческого слова, означающего «рулевой» или «штурман», что отражает его роль в управлении </a:t>
            </a:r>
            <a:r>
              <a:rPr lang="ru-RU" dirty="0" err="1"/>
              <a:t>контейнеризированными</a:t>
            </a:r>
            <a:r>
              <a:rPr lang="ru-RU" dirty="0"/>
              <a:t> приложениями (см. логотип в верхней части экрана).</a:t>
            </a:r>
          </a:p>
        </p:txBody>
      </p:sp>
      <p:pic>
        <p:nvPicPr>
          <p:cNvPr id="4" name="Рисунок 3" descr="Kubernetes: шпаргалка для собеседования / Хабр">
            <a:extLst>
              <a:ext uri="{FF2B5EF4-FFF2-40B4-BE49-F238E27FC236}">
                <a16:creationId xmlns:a16="http://schemas.microsoft.com/office/drawing/2014/main" id="{F246B9F9-C373-7DB5-4891-2AF7724685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5792" b="95753" l="3000" r="95750">
                        <a14:foregroundMark x1="36875" y1="21622" x2="30875" y2="66924"/>
                        <a14:foregroundMark x1="30875" y1="66924" x2="76125" y2="47876"/>
                        <a14:foregroundMark x1="76125" y1="47876" x2="75000" y2="36422"/>
                        <a14:foregroundMark x1="73750" y1="32690" x2="72000" y2="28958"/>
                        <a14:foregroundMark x1="67875" y1="22265" x2="64875" y2="19176"/>
                        <a14:foregroundMark x1="61875" y1="19176" x2="36875" y2="25997"/>
                        <a14:foregroundMark x1="22000" y1="46718" x2="34750" y2="81725"/>
                        <a14:foregroundMark x1="34750" y1="81725" x2="73750" y2="56757"/>
                        <a14:foregroundMark x1="73750" y1="56757" x2="45375" y2="18275"/>
                        <a14:foregroundMark x1="45375" y1="18275" x2="13625" y2="48777"/>
                        <a14:foregroundMark x1="13625" y1="48777" x2="30375" y2="84685"/>
                        <a14:foregroundMark x1="30375" y1="84685" x2="72000" y2="74903"/>
                        <a14:foregroundMark x1="72000" y1="74903" x2="82125" y2="33977"/>
                        <a14:foregroundMark x1="82125" y1="33977" x2="78500" y2="28958"/>
                        <a14:foregroundMark x1="63625" y1="16088" x2="81000" y2="42728"/>
                        <a14:foregroundMark x1="81000" y1="42728" x2="83250" y2="73102"/>
                        <a14:foregroundMark x1="82750" y1="73102" x2="64875" y2="95753"/>
                        <a14:foregroundMark x1="30375" y1="95753" x2="56500" y2="92664"/>
                        <a14:foregroundMark x1="9500" y1="60875" x2="9500" y2="60875"/>
                        <a14:foregroundMark x1="7125" y1="63320" x2="7125" y2="60875"/>
                        <a14:foregroundMark x1="7125" y1="59073" x2="7750" y2="54698"/>
                        <a14:foregroundMark x1="36250" y1="11197" x2="42875" y2="8752"/>
                        <a14:foregroundMark x1="44000" y1="8237" x2="47625" y2="5792"/>
                        <a14:foregroundMark x1="50000" y1="5792" x2="55875" y2="12484"/>
                        <a14:foregroundMark x1="55875" y1="12484" x2="55875" y2="12484"/>
                        <a14:foregroundMark x1="95750" y1="65122" x2="95750" y2="65122"/>
                        <a14:foregroundMark x1="94625" y1="63320" x2="94000" y2="54698"/>
                        <a14:foregroundMark x1="93375" y1="53539" x2="93375" y2="53539"/>
                        <a14:foregroundMark x1="3000" y1="63320" x2="3000" y2="63320"/>
                        <a14:foregroundMark x1="67875" y1="35779" x2="37000" y2="50708"/>
                        <a14:foregroundMark x1="37000" y1="50708" x2="33375" y2="43758"/>
                        <a14:foregroundMark x1="33875" y1="42471" x2="28500" y2="70656"/>
                        <a14:foregroundMark x1="22625" y1="70656" x2="53500" y2="38867"/>
                        <a14:foregroundMark x1="54125" y1="37580" x2="54125" y2="57143"/>
                        <a14:foregroundMark x1="57750" y1="76834" x2="42875" y2="41828"/>
                        <a14:foregroundMark x1="41625" y1="30245" x2="40500" y2="62033"/>
                        <a14:foregroundMark x1="44625" y1="60875" x2="41625" y2="46718"/>
                        <a14:foregroundMark x1="52375" y1="44273" x2="44250" y2="77735"/>
                        <a14:foregroundMark x1="44250" y1="77735" x2="50000" y2="63320"/>
                        <a14:foregroundMark x1="60125" y1="63320" x2="51750" y2="44273"/>
                        <a14:foregroundMark x1="69000" y1="38224" x2="38500" y2="46203"/>
                        <a14:foregroundMark x1="38500" y1="46203" x2="73625" y2="25611"/>
                        <a14:foregroundMark x1="73625" y1="25611" x2="69000" y2="44273"/>
                        <a14:foregroundMark x1="40500" y1="49807" x2="42250" y2="35779"/>
                        <a14:foregroundMark x1="42875" y1="34492" x2="29125" y2="43115"/>
                        <a14:foregroundMark x1="29125" y1="42471" x2="21375" y2="38867"/>
                        <a14:foregroundMark x1="21375" y1="38224" x2="18500" y2="34492"/>
                        <a14:foregroundMark x1="17875" y1="34492" x2="50625" y2="33977"/>
                        <a14:foregroundMark x1="50625" y1="33977" x2="59750" y2="65766"/>
                        <a14:foregroundMark x1="59750" y1="65766" x2="33875" y2="65122"/>
                        <a14:foregroundMark x1="33875" y1="68211" x2="67250" y2="75933"/>
                        <a14:foregroundMark x1="67250" y1="75933" x2="59500" y2="64479"/>
                        <a14:foregroundMark x1="61250" y1="78636" x2="65500" y2="57143"/>
                        <a14:foregroundMark x1="66625" y1="52252" x2="73750" y2="60232"/>
                        <a14:foregroundMark x1="73750" y1="57786" x2="67875" y2="72458"/>
                        <a14:foregroundMark x1="70250" y1="52896" x2="67875" y2="67568"/>
                        <a14:foregroundMark x1="64875" y1="71943" x2="64875" y2="71300"/>
                        <a14:foregroundMark x1="64875" y1="68855" x2="64875" y2="66924"/>
                        <a14:foregroundMark x1="44625" y1="74903" x2="67250" y2="84170"/>
                        <a14:foregroundMark x1="67250" y1="74903" x2="64875" y2="79794"/>
                        <a14:foregroundMark x1="23750" y1="33333" x2="23750" y2="35135"/>
                        <a14:foregroundMark x1="39875" y1="22909" x2="45250" y2="19820"/>
                        <a14:foregroundMark x1="45875" y1="19820" x2="33875" y2="30245"/>
                        <a14:foregroundMark x1="20250" y1="40026" x2="41625" y2="17375"/>
                        <a14:foregroundMark x1="56500" y1="9395" x2="56500" y2="9395"/>
                        <a14:foregroundMark x1="55375" y1="18533" x2="25000" y2="30245"/>
                        <a14:foregroundMark x1="23250" y1="31403" x2="22000" y2="33333"/>
                        <a14:foregroundMark x1="22625" y1="36937" x2="57750" y2="11197"/>
                        <a14:foregroundMark x1="56500" y1="13127" x2="45875" y2="33333"/>
                        <a14:foregroundMark x1="39875" y1="62033" x2="39875" y2="6203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213782" y="197930"/>
            <a:ext cx="1536945" cy="1492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596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B643D9-83B6-4E4B-3C12-F0C8B83CE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Зачем нужен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k8s</a:t>
            </a:r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198DE9-19F5-1ADE-94A8-4B613A732C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76343"/>
          </a:xfrm>
        </p:spPr>
        <p:txBody>
          <a:bodyPr>
            <a:normAutofit fontScale="92500" lnSpcReduction="20000"/>
          </a:bodyPr>
          <a:lstStyle/>
          <a:p>
            <a:r>
              <a:rPr lang="ru-RU" sz="2000" b="1" dirty="0"/>
              <a:t>Мониторинг сервисов и распределение нагрузки</a:t>
            </a:r>
            <a:r>
              <a:rPr lang="en-US" sz="2000" b="1" dirty="0"/>
              <a:t> – </a:t>
            </a:r>
            <a:r>
              <a:rPr lang="ru-RU" sz="2000" dirty="0" err="1"/>
              <a:t>Kubernetes</a:t>
            </a:r>
            <a:r>
              <a:rPr lang="ru-RU" sz="2000" dirty="0"/>
              <a:t> предоставляет приложениям постоянные адреса (DNS-имена) и автоматически распределяет входящий трафик между работающими экземплярами приложения. </a:t>
            </a:r>
            <a:r>
              <a:rPr lang="ru-RU" sz="2000" i="1" dirty="0">
                <a:solidFill>
                  <a:schemeClr val="accent1">
                    <a:lumMod val="75000"/>
                  </a:schemeClr>
                </a:solidFill>
              </a:rPr>
              <a:t>Поэтому</a:t>
            </a:r>
            <a:r>
              <a:rPr lang="en-US" sz="20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ru-RU" sz="2000" i="1" dirty="0">
                <a:solidFill>
                  <a:schemeClr val="accent1">
                    <a:lumMod val="75000"/>
                  </a:schemeClr>
                </a:solidFill>
              </a:rPr>
              <a:t>нет резона обращаться к </a:t>
            </a:r>
            <a:r>
              <a:rPr lang="ru-RU" sz="2000" i="1" dirty="0" err="1">
                <a:solidFill>
                  <a:schemeClr val="accent1">
                    <a:lumMod val="75000"/>
                  </a:schemeClr>
                </a:solidFill>
              </a:rPr>
              <a:t>Pod</a:t>
            </a:r>
            <a:r>
              <a:rPr lang="ru-RU" sz="2000" i="1" dirty="0">
                <a:solidFill>
                  <a:schemeClr val="accent1">
                    <a:lumMod val="75000"/>
                  </a:schemeClr>
                </a:solidFill>
              </a:rPr>
              <a:t> по его IP.</a:t>
            </a:r>
          </a:p>
          <a:p>
            <a:r>
              <a:rPr lang="ru-RU" sz="2000" b="1" dirty="0"/>
              <a:t>Работа с хранилищем</a:t>
            </a:r>
            <a:r>
              <a:rPr lang="en-US" sz="2000" b="1" dirty="0"/>
              <a:t> – </a:t>
            </a:r>
            <a:r>
              <a:rPr lang="ru-RU" sz="2000" dirty="0"/>
              <a:t>Позволяет автоматически подключать постоянные хранилища данных к приложениям независимо от того, на каком узле они запущены.</a:t>
            </a:r>
          </a:p>
          <a:p>
            <a:r>
              <a:rPr lang="ru-RU" sz="2000" b="1" dirty="0"/>
              <a:t>Автоматическое развертывание и откаты</a:t>
            </a:r>
            <a:r>
              <a:rPr lang="en-US" sz="2000" b="1" dirty="0"/>
              <a:t> – </a:t>
            </a:r>
            <a:r>
              <a:rPr lang="ru-RU" sz="2000" dirty="0"/>
              <a:t>Поддерживает декларативный подход: вы описываете желаемое состояние приложения, а </a:t>
            </a:r>
            <a:r>
              <a:rPr lang="ru-RU" sz="2000" dirty="0" err="1"/>
              <a:t>Kubernetes</a:t>
            </a:r>
            <a:r>
              <a:rPr lang="ru-RU" sz="2000" dirty="0"/>
              <a:t> приводит кластер к этому состоянию. При необходимости можно выполнить откат на предыдущую версию. </a:t>
            </a:r>
            <a:r>
              <a:rPr lang="ru-RU" sz="2000" i="1" dirty="0">
                <a:solidFill>
                  <a:schemeClr val="accent1">
                    <a:lumMod val="75000"/>
                  </a:schemeClr>
                </a:solidFill>
              </a:rPr>
              <a:t>После релиза некоторое время могут существовать старые и новые </a:t>
            </a:r>
            <a:r>
              <a:rPr lang="ru-RU" sz="2000" i="1" dirty="0" err="1">
                <a:solidFill>
                  <a:schemeClr val="accent1">
                    <a:lumMod val="75000"/>
                  </a:schemeClr>
                </a:solidFill>
              </a:rPr>
              <a:t>Pod</a:t>
            </a:r>
            <a:r>
              <a:rPr lang="ru-RU" sz="2000" i="1" dirty="0">
                <a:solidFill>
                  <a:schemeClr val="accent1">
                    <a:lumMod val="75000"/>
                  </a:schemeClr>
                </a:solidFill>
              </a:rPr>
              <a:t> одновременно.</a:t>
            </a:r>
          </a:p>
          <a:p>
            <a:r>
              <a:rPr lang="ru-RU" sz="2000" b="1" dirty="0"/>
              <a:t>Оптимальное размещение контейнеров</a:t>
            </a:r>
            <a:r>
              <a:rPr lang="en-US" sz="2000" b="1" dirty="0"/>
              <a:t> – </a:t>
            </a:r>
            <a:r>
              <a:rPr lang="ru-RU" sz="2000" dirty="0"/>
              <a:t>Автоматически выбирает, на каких узлах кластера запускать контейнеры, чтобы эффективно использовать доступные ресурсы (CPU и память).</a:t>
            </a:r>
          </a:p>
          <a:p>
            <a:r>
              <a:rPr lang="ru-RU" sz="2000" b="1" dirty="0"/>
              <a:t>Самовосстановление (Self-</a:t>
            </a:r>
            <a:r>
              <a:rPr lang="ru-RU" sz="2000" b="1" dirty="0" err="1"/>
              <a:t>healing</a:t>
            </a:r>
            <a:r>
              <a:rPr lang="ru-RU" sz="2000" b="1" dirty="0"/>
              <a:t>)</a:t>
            </a:r>
            <a:r>
              <a:rPr lang="en-US" sz="2000" b="1" dirty="0"/>
              <a:t> – </a:t>
            </a:r>
            <a:r>
              <a:rPr lang="ru-RU" sz="2000" dirty="0"/>
              <a:t>Следит за состоянием приложений: перезапускает контейнеры при сбоях, заменяет отказавшие </a:t>
            </a:r>
            <a:r>
              <a:rPr lang="ru-RU" sz="2000" dirty="0" err="1"/>
              <a:t>Pod'ы</a:t>
            </a:r>
            <a:r>
              <a:rPr lang="ru-RU" sz="2000" dirty="0"/>
              <a:t> и не направляет трафик на приложение, пока оно не будет готово принимать запросы.</a:t>
            </a:r>
            <a:r>
              <a:rPr lang="en-US" sz="2000" dirty="0"/>
              <a:t> </a:t>
            </a:r>
            <a:r>
              <a:rPr lang="ru-RU" sz="2100" i="1" dirty="0">
                <a:solidFill>
                  <a:schemeClr val="accent1">
                    <a:lumMod val="75000"/>
                  </a:schemeClr>
                </a:solidFill>
              </a:rPr>
              <a:t>Поэтому удаление </a:t>
            </a:r>
            <a:r>
              <a:rPr lang="ru-RU" sz="2100" i="1" dirty="0" err="1">
                <a:solidFill>
                  <a:schemeClr val="accent1">
                    <a:lumMod val="75000"/>
                  </a:schemeClr>
                </a:solidFill>
              </a:rPr>
              <a:t>Pod</a:t>
            </a:r>
            <a:r>
              <a:rPr lang="ru-RU" sz="2100" i="1" dirty="0">
                <a:solidFill>
                  <a:schemeClr val="accent1">
                    <a:lumMod val="75000"/>
                  </a:schemeClr>
                </a:solidFill>
              </a:rPr>
              <a:t> обычно не приводит к падению приложения.</a:t>
            </a:r>
          </a:p>
          <a:p>
            <a:r>
              <a:rPr lang="ru-RU" sz="2000" b="1" dirty="0"/>
              <a:t>Управление конфигурацией и секретами</a:t>
            </a:r>
            <a:r>
              <a:rPr lang="en-US" sz="2000" b="1" dirty="0"/>
              <a:t> – </a:t>
            </a:r>
            <a:r>
              <a:rPr lang="ru-RU" sz="2000" dirty="0"/>
              <a:t>Позволяет хранить настройки приложения (</a:t>
            </a:r>
            <a:r>
              <a:rPr lang="ru-RU" sz="2000" dirty="0" err="1"/>
              <a:t>ConfigMap</a:t>
            </a:r>
            <a:r>
              <a:rPr lang="ru-RU" sz="2000" dirty="0"/>
              <a:t>) и конфиденциальные данные (Secret), такие как пароли, токены и ключи. </a:t>
            </a:r>
            <a:r>
              <a:rPr lang="ru-RU" sz="2100" i="1" dirty="0">
                <a:solidFill>
                  <a:schemeClr val="accent1">
                    <a:lumMod val="75000"/>
                  </a:schemeClr>
                </a:solidFill>
              </a:rPr>
              <a:t>Изменение </a:t>
            </a:r>
            <a:r>
              <a:rPr lang="ru-RU" sz="2100" i="1" dirty="0" err="1">
                <a:solidFill>
                  <a:schemeClr val="accent1">
                    <a:lumMod val="75000"/>
                  </a:schemeClr>
                </a:solidFill>
              </a:rPr>
              <a:t>ConfigMap</a:t>
            </a:r>
            <a:r>
              <a:rPr lang="ru-RU" sz="2100" i="1" dirty="0">
                <a:solidFill>
                  <a:schemeClr val="accent1">
                    <a:lumMod val="75000"/>
                  </a:schemeClr>
                </a:solidFill>
              </a:rPr>
              <a:t> не всегда сразу влияет на приложение.</a:t>
            </a:r>
          </a:p>
        </p:txBody>
      </p:sp>
    </p:spTree>
    <p:extLst>
      <p:ext uri="{BB962C8B-B14F-4D97-AF65-F5344CB8AC3E}">
        <p14:creationId xmlns:p14="http://schemas.microsoft.com/office/powerpoint/2010/main" val="1722765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769D75-625A-FEB6-3919-018D8914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Основные компоненты</a:t>
            </a:r>
          </a:p>
        </p:txBody>
      </p:sp>
      <p:pic>
        <p:nvPicPr>
          <p:cNvPr id="15" name="Объект 14">
            <a:extLst>
              <a:ext uri="{FF2B5EF4-FFF2-40B4-BE49-F238E27FC236}">
                <a16:creationId xmlns:a16="http://schemas.microsoft.com/office/drawing/2014/main" id="{49A7AEEA-8BF6-46FE-18A9-CCC3005046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7391"/>
          <a:stretch>
            <a:fillRect/>
          </a:stretch>
        </p:blipFill>
        <p:spPr>
          <a:xfrm>
            <a:off x="1048512" y="1929385"/>
            <a:ext cx="9546089" cy="3900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885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9D8B6C-550C-AA2B-CC25-B1EAD96BC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Основные компоненты.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Control Plane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CF3A014-B51F-6221-10C5-E5B01B616D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b="1" dirty="0"/>
              <a:t>API Server</a:t>
            </a:r>
            <a:r>
              <a:rPr lang="ru-RU" dirty="0"/>
              <a:t> – единственная точка входа в </a:t>
            </a:r>
            <a:r>
              <a:rPr lang="ru-RU" dirty="0" err="1"/>
              <a:t>Kubernetes</a:t>
            </a:r>
            <a:r>
              <a:rPr lang="ru-RU" dirty="0"/>
              <a:t>. Все команды </a:t>
            </a:r>
            <a:r>
              <a:rPr lang="ru-RU" dirty="0" err="1"/>
              <a:t>kubectl</a:t>
            </a:r>
            <a:r>
              <a:rPr lang="ru-RU" dirty="0"/>
              <a:t>, </a:t>
            </a:r>
            <a:r>
              <a:rPr lang="ru-RU" dirty="0" err="1"/>
              <a:t>Lens</a:t>
            </a:r>
            <a:r>
              <a:rPr lang="ru-RU" dirty="0"/>
              <a:t>, CI/CD и другие инструменты взаимодействуют с кластером через API Server.</a:t>
            </a:r>
          </a:p>
          <a:p>
            <a:pPr marL="0" indent="0">
              <a:buNone/>
            </a:pPr>
            <a:r>
              <a:rPr lang="ru-RU" b="1" dirty="0" err="1"/>
              <a:t>Scheduler</a:t>
            </a:r>
            <a:r>
              <a:rPr lang="ru-RU" dirty="0"/>
              <a:t> решает, на каком узле запускать новый под, учитывая доступные ресурсы (CPU, память и другие ограничения). </a:t>
            </a:r>
          </a:p>
          <a:p>
            <a:pPr marL="0" indent="0">
              <a:buNone/>
            </a:pPr>
            <a:r>
              <a:rPr lang="ru-RU" b="1" dirty="0" err="1"/>
              <a:t>Controller</a:t>
            </a:r>
            <a:r>
              <a:rPr lang="ru-RU" b="1" dirty="0"/>
              <a:t> Manager</a:t>
            </a:r>
            <a:r>
              <a:rPr lang="ru-RU" dirty="0"/>
              <a:t> следит, чтобы фактическое состояние кластера соответствовало описанному в конфигурации. Например, поддерживает нужное количество </a:t>
            </a:r>
            <a:r>
              <a:rPr lang="ru-RU" dirty="0" err="1"/>
              <a:t>Pod'ов</a:t>
            </a:r>
            <a:r>
              <a:rPr lang="ru-RU" dirty="0"/>
              <a:t>, восстанавливает их после сбоев и управляет другими контроллерами. Здесь: </a:t>
            </a:r>
            <a:r>
              <a:rPr lang="ru-RU" dirty="0" err="1"/>
              <a:t>ReplicaSet</a:t>
            </a:r>
            <a:r>
              <a:rPr lang="ru-RU" dirty="0"/>
              <a:t> </a:t>
            </a:r>
            <a:r>
              <a:rPr lang="ru-RU" dirty="0" err="1"/>
              <a:t>Controller</a:t>
            </a:r>
            <a:r>
              <a:rPr lang="ru-RU" dirty="0"/>
              <a:t>, </a:t>
            </a:r>
            <a:r>
              <a:rPr lang="ru-RU" dirty="0" err="1"/>
              <a:t>Deployment</a:t>
            </a:r>
            <a:r>
              <a:rPr lang="ru-RU" dirty="0"/>
              <a:t> </a:t>
            </a:r>
            <a:r>
              <a:rPr lang="ru-RU" dirty="0" err="1"/>
              <a:t>Controller</a:t>
            </a:r>
            <a:r>
              <a:rPr lang="ru-RU" dirty="0"/>
              <a:t>, </a:t>
            </a:r>
            <a:r>
              <a:rPr lang="ru-RU" dirty="0" err="1"/>
              <a:t>Node</a:t>
            </a:r>
            <a:r>
              <a:rPr lang="ru-RU" dirty="0"/>
              <a:t> </a:t>
            </a:r>
            <a:r>
              <a:rPr lang="ru-RU" dirty="0" err="1"/>
              <a:t>Controller</a:t>
            </a:r>
            <a:r>
              <a:rPr lang="ru-RU" dirty="0"/>
              <a:t> и др.</a:t>
            </a:r>
          </a:p>
          <a:p>
            <a:pPr marL="0" indent="0">
              <a:buNone/>
            </a:pPr>
            <a:r>
              <a:rPr lang="ru-RU" b="1" dirty="0" err="1"/>
              <a:t>etcd</a:t>
            </a:r>
            <a:r>
              <a:rPr lang="ru-RU" dirty="0"/>
              <a:t>  – база данных </a:t>
            </a:r>
            <a:r>
              <a:rPr lang="ru-RU" dirty="0" err="1"/>
              <a:t>Kubernetes</a:t>
            </a:r>
            <a:r>
              <a:rPr lang="ru-RU" dirty="0"/>
              <a:t> (</a:t>
            </a:r>
            <a:r>
              <a:rPr lang="ru-RU" dirty="0" err="1"/>
              <a:t>key-value</a:t>
            </a:r>
            <a:r>
              <a:rPr lang="ru-RU" dirty="0"/>
              <a:t> хранилище), в которой хранится всё состояние кластера. Потеряете </a:t>
            </a:r>
            <a:r>
              <a:rPr lang="ru-RU" dirty="0" err="1"/>
              <a:t>etcd</a:t>
            </a:r>
            <a:r>
              <a:rPr lang="ru-RU" dirty="0"/>
              <a:t> без бэкапа — потеряете кластер.</a:t>
            </a:r>
          </a:p>
          <a:p>
            <a:pPr marL="0" indent="0">
              <a:buNone/>
            </a:pPr>
            <a:r>
              <a:rPr lang="ru-RU" b="1" dirty="0" err="1"/>
              <a:t>kubectl</a:t>
            </a:r>
            <a:r>
              <a:rPr lang="ru-RU" b="1" dirty="0"/>
              <a:t> </a:t>
            </a:r>
            <a:r>
              <a:rPr lang="ru-RU" dirty="0"/>
              <a:t>➜ </a:t>
            </a:r>
            <a:r>
              <a:rPr lang="ru-RU" b="1" dirty="0"/>
              <a:t>API Server </a:t>
            </a:r>
            <a:r>
              <a:rPr lang="ru-RU" dirty="0"/>
              <a:t>➜ </a:t>
            </a:r>
            <a:r>
              <a:rPr lang="ru-RU" b="1" dirty="0" err="1"/>
              <a:t>Controller</a:t>
            </a:r>
            <a:r>
              <a:rPr lang="ru-RU" b="1" dirty="0"/>
              <a:t> Manager / </a:t>
            </a:r>
            <a:r>
              <a:rPr lang="ru-RU" b="1" dirty="0" err="1"/>
              <a:t>Scheduler</a:t>
            </a:r>
            <a:r>
              <a:rPr lang="ru-RU" b="1" dirty="0"/>
              <a:t> </a:t>
            </a:r>
            <a:r>
              <a:rPr lang="ru-RU" dirty="0"/>
              <a:t>➜ </a:t>
            </a:r>
            <a:r>
              <a:rPr lang="ru-RU" b="1" dirty="0" err="1"/>
              <a:t>Worker</a:t>
            </a:r>
            <a:r>
              <a:rPr lang="ru-RU" b="1" dirty="0"/>
              <a:t> </a:t>
            </a:r>
            <a:r>
              <a:rPr lang="ru-RU" b="1" dirty="0" err="1"/>
              <a:t>Node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71388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0C3DF3-456D-AFA7-A0A8-BF08BE9AD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Основные компоненты.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Worker node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7B83D57-FCCA-3914-F846-2D98B5D2B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b="1" dirty="0" err="1"/>
              <a:t>Pod</a:t>
            </a:r>
            <a:r>
              <a:rPr lang="ru-RU" dirty="0"/>
              <a:t> – минимальная единица развертывания в </a:t>
            </a:r>
            <a:r>
              <a:rPr lang="ru-RU" dirty="0" err="1"/>
              <a:t>Kubernetes</a:t>
            </a:r>
            <a:r>
              <a:rPr lang="ru-RU" dirty="0"/>
              <a:t>. Обычно содержит один или несколько контейнеров приложения, которые совместно используют сеть и хранилище.</a:t>
            </a:r>
          </a:p>
          <a:p>
            <a:pPr marL="0" indent="0">
              <a:buNone/>
            </a:pPr>
            <a:r>
              <a:rPr lang="ru-RU" b="1" dirty="0" err="1"/>
              <a:t>kubelet</a:t>
            </a:r>
            <a:r>
              <a:rPr lang="ru-RU" dirty="0"/>
              <a:t> – агент, работающий на каждой </a:t>
            </a:r>
            <a:r>
              <a:rPr lang="ru-RU" dirty="0" err="1"/>
              <a:t>Worker</a:t>
            </a:r>
            <a:r>
              <a:rPr lang="ru-RU" dirty="0"/>
              <a:t> </a:t>
            </a:r>
            <a:r>
              <a:rPr lang="ru-RU" dirty="0" err="1"/>
              <a:t>Node</a:t>
            </a:r>
            <a:r>
              <a:rPr lang="ru-RU" dirty="0"/>
              <a:t>. Получает информацию от API Server (</a:t>
            </a:r>
            <a:r>
              <a:rPr lang="ru-RU" dirty="0" err="1"/>
              <a:t>podSpec</a:t>
            </a:r>
            <a:r>
              <a:rPr lang="ru-RU" dirty="0"/>
              <a:t>), следит за состоянием </a:t>
            </a:r>
            <a:r>
              <a:rPr lang="ru-RU" dirty="0" err="1"/>
              <a:t>Pod'ов</a:t>
            </a:r>
            <a:r>
              <a:rPr lang="ru-RU" dirty="0"/>
              <a:t> и обеспечивает их запуск и работу. Если контейнер завершился с ошибкой, </a:t>
            </a:r>
            <a:r>
              <a:rPr lang="ru-RU" dirty="0" err="1"/>
              <a:t>kubelet</a:t>
            </a:r>
            <a:r>
              <a:rPr lang="ru-RU" dirty="0"/>
              <a:t> запустит его заново. </a:t>
            </a:r>
            <a:br>
              <a:rPr lang="ru-RU" dirty="0"/>
            </a:b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Если контейнер неожиданно перезапустился, это не всегда означает, что его кто-то вручную перезапустил – это мог сделать </a:t>
            </a:r>
            <a:r>
              <a:rPr lang="ru-RU" i="1" dirty="0" err="1">
                <a:solidFill>
                  <a:schemeClr val="accent1">
                    <a:lumMod val="75000"/>
                  </a:schemeClr>
                </a:solidFill>
              </a:rPr>
              <a:t>kubelet</a:t>
            </a: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 по решению </a:t>
            </a:r>
            <a:r>
              <a:rPr lang="ru-RU" i="1" dirty="0" err="1">
                <a:solidFill>
                  <a:schemeClr val="accent1">
                    <a:lumMod val="75000"/>
                  </a:schemeClr>
                </a:solidFill>
              </a:rPr>
              <a:t>Kubernetes</a:t>
            </a: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.</a:t>
            </a:r>
          </a:p>
          <a:p>
            <a:pPr marL="0" indent="0">
              <a:buNone/>
            </a:pPr>
            <a:r>
              <a:rPr lang="ru-RU" b="1" dirty="0" err="1"/>
              <a:t>kube-proxy</a:t>
            </a:r>
            <a:r>
              <a:rPr lang="ru-RU" dirty="0"/>
              <a:t> – отвечает за сетевое взаимодействие внутри кластера. Обеспечивает работу Service и маршрутизацию трафика к нужным </a:t>
            </a:r>
            <a:r>
              <a:rPr lang="ru-RU" dirty="0" err="1"/>
              <a:t>Pod'ам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b="1" dirty="0" err="1"/>
              <a:t>Container</a:t>
            </a:r>
            <a:r>
              <a:rPr lang="ru-RU" b="1" dirty="0"/>
              <a:t> </a:t>
            </a:r>
            <a:r>
              <a:rPr lang="ru-RU" b="1" dirty="0" err="1"/>
              <a:t>Runtime</a:t>
            </a:r>
            <a:r>
              <a:rPr lang="ru-RU" dirty="0"/>
              <a:t> – компонент, который непосредственно запускает и останавливает контейнеры. Например, </a:t>
            </a:r>
            <a:r>
              <a:rPr lang="ru-RU" dirty="0" err="1"/>
              <a:t>containerd</a:t>
            </a:r>
            <a:r>
              <a:rPr lang="ru-RU" dirty="0"/>
              <a:t> или CRI-O.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568888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BF3C5-91B5-F0EA-BC3C-D17A68205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F56575-C2E2-68DC-55C8-009D6A00F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Основные компоненты.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Context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1558E23-AA87-17DB-60CD-F40114D959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9593"/>
            <a:ext cx="10515600" cy="4351338"/>
          </a:xfrm>
        </p:spPr>
        <p:txBody>
          <a:bodyPr>
            <a:noAutofit/>
          </a:bodyPr>
          <a:lstStyle/>
          <a:p>
            <a:pPr marL="0" indent="0" latinLnBrk="1">
              <a:spcBef>
                <a:spcPts val="600"/>
              </a:spcBef>
              <a:buNone/>
            </a:pPr>
            <a:r>
              <a:rPr lang="ru-RU" sz="2000" dirty="0" err="1"/>
              <a:t>Context</a:t>
            </a:r>
            <a:r>
              <a:rPr lang="ru-RU" sz="2000" dirty="0"/>
              <a:t> определяет, с каким кластером и от имени какого пользователя будет работать </a:t>
            </a:r>
            <a:r>
              <a:rPr lang="ru-RU" sz="2000" dirty="0" err="1"/>
              <a:t>kubectl</a:t>
            </a:r>
            <a:r>
              <a:rPr lang="ru-RU" sz="2000" dirty="0"/>
              <a:t>.</a:t>
            </a:r>
          </a:p>
          <a:p>
            <a:pPr latinLnBrk="1">
              <a:spcBef>
                <a:spcPts val="600"/>
              </a:spcBef>
            </a:pPr>
            <a:r>
              <a:rPr lang="ru-RU" sz="2000" dirty="0" err="1"/>
              <a:t>Kubernetes</a:t>
            </a:r>
            <a:r>
              <a:rPr lang="ru-RU" sz="2000" dirty="0"/>
              <a:t>-кластер; </a:t>
            </a:r>
          </a:p>
          <a:p>
            <a:pPr latinLnBrk="1">
              <a:spcBef>
                <a:spcPts val="600"/>
              </a:spcBef>
            </a:pPr>
            <a:r>
              <a:rPr lang="ru-RU" sz="2000" dirty="0"/>
              <a:t>пользователь; </a:t>
            </a:r>
          </a:p>
          <a:p>
            <a:pPr latinLnBrk="1">
              <a:spcBef>
                <a:spcPts val="600"/>
              </a:spcBef>
            </a:pPr>
            <a:r>
              <a:rPr lang="ru-RU" sz="2000" dirty="0" err="1"/>
              <a:t>namespace</a:t>
            </a:r>
            <a:r>
              <a:rPr lang="ru-RU" sz="2000" dirty="0"/>
              <a:t> по умолчанию.</a:t>
            </a:r>
          </a:p>
          <a:p>
            <a:pPr marL="0" indent="0" latinLnBrk="1">
              <a:spcBef>
                <a:spcPts val="600"/>
              </a:spcBef>
              <a:buNone/>
            </a:pPr>
            <a:r>
              <a:rPr lang="ru-RU" sz="2000" dirty="0"/>
              <a:t>Полезные команды:</a:t>
            </a:r>
            <a:endParaRPr lang="en-US" sz="2000" dirty="0"/>
          </a:p>
          <a:p>
            <a:pPr latinLnBrk="1">
              <a:spcBef>
                <a:spcPts val="600"/>
              </a:spcBef>
            </a:pPr>
            <a:r>
              <a:rPr lang="en-US" sz="2000" dirty="0" err="1"/>
              <a:t>kubectl</a:t>
            </a:r>
            <a:r>
              <a:rPr lang="en-US" sz="2000" dirty="0"/>
              <a:t> config current-context</a:t>
            </a:r>
          </a:p>
          <a:p>
            <a:pPr latinLnBrk="1">
              <a:spcBef>
                <a:spcPts val="600"/>
              </a:spcBef>
            </a:pPr>
            <a:r>
              <a:rPr lang="en-US" sz="2000" dirty="0" err="1"/>
              <a:t>kubectl</a:t>
            </a:r>
            <a:r>
              <a:rPr lang="en-US" sz="2000" dirty="0"/>
              <a:t> config get-contexts</a:t>
            </a:r>
            <a:endParaRPr lang="ru-RU" sz="2000" dirty="0"/>
          </a:p>
          <a:p>
            <a:pPr marL="0" indent="0" latinLnBrk="1">
              <a:spcBef>
                <a:spcPts val="600"/>
              </a:spcBef>
              <a:buNone/>
            </a:pPr>
            <a:endParaRPr lang="ru-RU" sz="2000" dirty="0"/>
          </a:p>
          <a:p>
            <a:pPr marL="0" indent="0" latinLnBrk="1">
              <a:spcBef>
                <a:spcPts val="600"/>
              </a:spcBef>
              <a:buNone/>
            </a:pPr>
            <a:r>
              <a:rPr lang="ru-RU" sz="2000" dirty="0"/>
              <a:t>Перед выполнением любых команд всегда проверяйте </a:t>
            </a:r>
            <a:br>
              <a:rPr lang="ru-RU" sz="2000" dirty="0"/>
            </a:br>
            <a:r>
              <a:rPr lang="ru-RU" sz="2000" dirty="0"/>
              <a:t>текущий </a:t>
            </a:r>
            <a:r>
              <a:rPr lang="ru-RU" sz="2000" dirty="0" err="1"/>
              <a:t>Context</a:t>
            </a:r>
            <a:r>
              <a:rPr lang="ru-RU" sz="2000" dirty="0"/>
              <a:t>. </a:t>
            </a:r>
          </a:p>
          <a:p>
            <a:pPr marL="0" indent="0" latinLnBrk="1">
              <a:spcBef>
                <a:spcPts val="600"/>
              </a:spcBef>
              <a:buNone/>
            </a:pPr>
            <a:endParaRPr lang="ru-RU" sz="2000" b="1" dirty="0"/>
          </a:p>
          <a:p>
            <a:pPr marL="0" indent="0" latinLnBrk="1">
              <a:spcBef>
                <a:spcPts val="600"/>
              </a:spcBef>
              <a:buNone/>
            </a:pPr>
            <a:r>
              <a:rPr lang="ru-RU" sz="2000" b="1" dirty="0"/>
              <a:t>В </a:t>
            </a:r>
            <a:r>
              <a:rPr lang="ru-RU" sz="2000" b="1" dirty="0" err="1"/>
              <a:t>Lens</a:t>
            </a:r>
            <a:r>
              <a:rPr lang="ru-RU" sz="2000" dirty="0"/>
              <a:t>: текущий кластер отображается в левой части окна.</a:t>
            </a:r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0B3F88-0558-C470-2C27-56340041EA8F}"/>
              </a:ext>
            </a:extLst>
          </p:cNvPr>
          <p:cNvSpPr txBox="1"/>
          <p:nvPr/>
        </p:nvSpPr>
        <p:spPr>
          <a:xfrm>
            <a:off x="587406" y="4580521"/>
            <a:ext cx="3513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>
                <a:solidFill>
                  <a:srgbClr val="FF0000"/>
                </a:solidFill>
              </a:rPr>
              <a:t>!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CD21345-5270-3C70-001B-E9671A877C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4" y="2698555"/>
            <a:ext cx="4413504" cy="2093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519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EC3E8-2F13-47F1-1224-9AA6DF6F9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2CBD5D-99BD-1E92-EEF2-42390B57F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Основные компоненты.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Namespace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654B324-8BE0-A70B-9F23-B23620126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1953"/>
            <a:ext cx="10515600" cy="4351338"/>
          </a:xfrm>
        </p:spPr>
        <p:txBody>
          <a:bodyPr>
            <a:noAutofit/>
          </a:bodyPr>
          <a:lstStyle/>
          <a:p>
            <a:pPr marL="0" indent="0" latinLnBrk="1">
              <a:spcBef>
                <a:spcPts val="600"/>
              </a:spcBef>
              <a:buNone/>
            </a:pPr>
            <a:r>
              <a:rPr lang="ru-RU" sz="1800" dirty="0"/>
              <a:t>В K8s ресурсы группируются в </a:t>
            </a:r>
            <a:r>
              <a:rPr lang="ru-RU" sz="1800" dirty="0" err="1"/>
              <a:t>namespace</a:t>
            </a:r>
            <a:r>
              <a:rPr lang="ru-RU" sz="1800" dirty="0"/>
              <a:t> (это логическое разделение ресурсов внутри одного </a:t>
            </a:r>
            <a:r>
              <a:rPr lang="ru-RU" sz="1800" dirty="0" err="1"/>
              <a:t>Kubernetes</a:t>
            </a:r>
            <a:r>
              <a:rPr lang="ru-RU" sz="1800" dirty="0"/>
              <a:t>-кластера)</a:t>
            </a:r>
          </a:p>
          <a:p>
            <a:pPr marL="0" indent="0" latinLnBrk="1">
              <a:spcBef>
                <a:spcPts val="600"/>
              </a:spcBef>
              <a:buNone/>
            </a:pPr>
            <a:r>
              <a:rPr lang="ru-RU" sz="1800" dirty="0"/>
              <a:t>По умолчанию используется </a:t>
            </a:r>
            <a:r>
              <a:rPr lang="ru-RU" sz="1800" dirty="0" err="1"/>
              <a:t>namespace</a:t>
            </a:r>
            <a:r>
              <a:rPr lang="ru-RU" sz="1800" dirty="0"/>
              <a:t> </a:t>
            </a:r>
            <a:r>
              <a:rPr lang="ru-RU" sz="1800" dirty="0" err="1"/>
              <a:t>default</a:t>
            </a:r>
            <a:r>
              <a:rPr lang="ru-RU" sz="1800" dirty="0"/>
              <a:t>.</a:t>
            </a:r>
          </a:p>
          <a:p>
            <a:pPr marL="0" indent="0" latinLnBrk="1">
              <a:spcBef>
                <a:spcPts val="1200"/>
              </a:spcBef>
              <a:buNone/>
            </a:pPr>
            <a:r>
              <a:rPr lang="ru-RU" sz="1800" dirty="0" err="1"/>
              <a:t>kubectl</a:t>
            </a:r>
            <a:r>
              <a:rPr lang="ru-RU" sz="1800" dirty="0"/>
              <a:t> </a:t>
            </a:r>
            <a:r>
              <a:rPr lang="ru-RU" sz="1800" dirty="0" err="1"/>
              <a:t>get</a:t>
            </a:r>
            <a:r>
              <a:rPr lang="ru-RU" sz="1800" dirty="0"/>
              <a:t> </a:t>
            </a:r>
            <a:r>
              <a:rPr lang="ru-RU" sz="1800" dirty="0" err="1"/>
              <a:t>pods</a:t>
            </a:r>
            <a:r>
              <a:rPr lang="ru-RU" sz="1800" dirty="0"/>
              <a:t> - показывает только </a:t>
            </a:r>
            <a:r>
              <a:rPr lang="ru-RU" sz="1800" dirty="0" err="1"/>
              <a:t>Pod'ы</a:t>
            </a:r>
            <a:r>
              <a:rPr lang="ru-RU" sz="1800" dirty="0"/>
              <a:t> </a:t>
            </a:r>
            <a:r>
              <a:rPr lang="ru-RU" sz="1800" b="1" dirty="0"/>
              <a:t>текущего </a:t>
            </a:r>
            <a:r>
              <a:rPr lang="ru-RU" sz="1800" b="1" dirty="0" err="1"/>
              <a:t>namespace</a:t>
            </a:r>
            <a:r>
              <a:rPr lang="ru-RU" sz="1800" dirty="0"/>
              <a:t>. </a:t>
            </a:r>
            <a:br>
              <a:rPr lang="ru-RU" sz="1800" dirty="0"/>
            </a:br>
            <a:r>
              <a:rPr lang="ru-RU" sz="1800" dirty="0"/>
              <a:t>Если ничего нет, проверьте, не выбран ли другой </a:t>
            </a:r>
            <a:r>
              <a:rPr lang="ru-RU" sz="1800" dirty="0" err="1"/>
              <a:t>namespace</a:t>
            </a:r>
            <a:endParaRPr lang="ru-RU" sz="1800" dirty="0"/>
          </a:p>
          <a:p>
            <a:pPr marL="0" indent="0" latinLnBrk="1">
              <a:spcBef>
                <a:spcPts val="1200"/>
              </a:spcBef>
              <a:buNone/>
            </a:pPr>
            <a:r>
              <a:rPr lang="ru-RU" sz="1800" dirty="0"/>
              <a:t>Полезные команды:</a:t>
            </a:r>
          </a:p>
          <a:p>
            <a:pPr latinLnBrk="1">
              <a:spcBef>
                <a:spcPts val="600"/>
              </a:spcBef>
            </a:pPr>
            <a:r>
              <a:rPr lang="ru-RU" sz="1800" dirty="0" err="1"/>
              <a:t>kubectl</a:t>
            </a:r>
            <a:r>
              <a:rPr lang="ru-RU" sz="1800" dirty="0"/>
              <a:t> </a:t>
            </a:r>
            <a:r>
              <a:rPr lang="ru-RU" sz="1800" dirty="0" err="1"/>
              <a:t>get</a:t>
            </a:r>
            <a:r>
              <a:rPr lang="ru-RU" sz="1800" dirty="0"/>
              <a:t> </a:t>
            </a:r>
            <a:r>
              <a:rPr lang="ru-RU" sz="1800" dirty="0" err="1"/>
              <a:t>ns</a:t>
            </a:r>
            <a:r>
              <a:rPr lang="ru-RU" sz="1800" dirty="0"/>
              <a:t> </a:t>
            </a:r>
            <a:r>
              <a:rPr lang="en-US" sz="1800" dirty="0"/>
              <a:t>-</a:t>
            </a:r>
            <a:r>
              <a:rPr lang="ru-RU" sz="1800" dirty="0"/>
              <a:t> список всех </a:t>
            </a:r>
            <a:r>
              <a:rPr lang="ru-RU" sz="1800" dirty="0" err="1"/>
              <a:t>namespace</a:t>
            </a:r>
            <a:endParaRPr lang="en-US" sz="1800" dirty="0"/>
          </a:p>
          <a:p>
            <a:pPr latinLnBrk="1">
              <a:spcBef>
                <a:spcPts val="600"/>
              </a:spcBef>
            </a:pPr>
            <a:r>
              <a:rPr lang="ru-RU" sz="1800" dirty="0" err="1"/>
              <a:t>kubectl</a:t>
            </a:r>
            <a:r>
              <a:rPr lang="ru-RU" sz="1800" dirty="0"/>
              <a:t> </a:t>
            </a:r>
            <a:r>
              <a:rPr lang="ru-RU" sz="1800" dirty="0" err="1"/>
              <a:t>get</a:t>
            </a:r>
            <a:r>
              <a:rPr lang="ru-RU" sz="1800" dirty="0"/>
              <a:t> </a:t>
            </a:r>
            <a:r>
              <a:rPr lang="ru-RU" sz="1800" dirty="0" err="1"/>
              <a:t>pods</a:t>
            </a:r>
            <a:r>
              <a:rPr lang="ru-RU" sz="1800" dirty="0"/>
              <a:t> -n </a:t>
            </a:r>
            <a:r>
              <a:rPr lang="en-US" sz="1800" dirty="0"/>
              <a:t>&lt;name&gt; - </a:t>
            </a:r>
            <a:r>
              <a:rPr lang="ru-RU" sz="1800" dirty="0"/>
              <a:t>поды в конкретном </a:t>
            </a:r>
            <a:r>
              <a:rPr lang="ru-RU" sz="1800" dirty="0" err="1"/>
              <a:t>namespace</a:t>
            </a:r>
            <a:endParaRPr lang="ru-RU" sz="1800" dirty="0"/>
          </a:p>
          <a:p>
            <a:pPr latinLnBrk="1">
              <a:spcBef>
                <a:spcPts val="600"/>
              </a:spcBef>
            </a:pPr>
            <a:r>
              <a:rPr lang="ru-RU" sz="1800" dirty="0" err="1"/>
              <a:t>kubectl</a:t>
            </a:r>
            <a:r>
              <a:rPr lang="ru-RU" sz="1800" dirty="0"/>
              <a:t> </a:t>
            </a:r>
            <a:r>
              <a:rPr lang="ru-RU" sz="1800" dirty="0" err="1"/>
              <a:t>get</a:t>
            </a:r>
            <a:r>
              <a:rPr lang="ru-RU" sz="1800" dirty="0"/>
              <a:t> </a:t>
            </a:r>
            <a:r>
              <a:rPr lang="ru-RU" sz="1800" dirty="0" err="1"/>
              <a:t>pods</a:t>
            </a:r>
            <a:r>
              <a:rPr lang="ru-RU" sz="1800" dirty="0"/>
              <a:t> -A - посмотреть все поды везде</a:t>
            </a:r>
          </a:p>
          <a:p>
            <a:pPr marL="0" indent="0" latinLnBrk="1">
              <a:spcBef>
                <a:spcPts val="1200"/>
              </a:spcBef>
              <a:spcAft>
                <a:spcPts val="600"/>
              </a:spcAft>
              <a:buNone/>
            </a:pPr>
            <a:r>
              <a:rPr lang="ru-RU" sz="1800" dirty="0" err="1"/>
              <a:t>Context</a:t>
            </a:r>
            <a:r>
              <a:rPr lang="ru-RU" sz="1800" dirty="0"/>
              <a:t> отвечает на вопрос "</a:t>
            </a:r>
            <a:r>
              <a:rPr lang="ru-RU" sz="1800" b="1" dirty="0"/>
              <a:t>куда я подключен</a:t>
            </a:r>
            <a:r>
              <a:rPr lang="ru-RU" sz="1800" dirty="0"/>
              <a:t>?", </a:t>
            </a:r>
            <a:br>
              <a:rPr lang="en-US" sz="1800" dirty="0"/>
            </a:br>
            <a:r>
              <a:rPr lang="ru-RU" sz="1800" dirty="0"/>
              <a:t>а </a:t>
            </a:r>
            <a:r>
              <a:rPr lang="ru-RU" sz="1800" dirty="0" err="1"/>
              <a:t>Namespace</a:t>
            </a:r>
            <a:r>
              <a:rPr lang="ru-RU" sz="1800" dirty="0"/>
              <a:t> – "</a:t>
            </a:r>
            <a:r>
              <a:rPr lang="ru-RU" sz="1800" b="1" dirty="0"/>
              <a:t>в какой части этого кластера</a:t>
            </a:r>
            <a:r>
              <a:rPr lang="ru-RU" sz="1800" dirty="0"/>
              <a:t> я работаю?".</a:t>
            </a:r>
          </a:p>
          <a:p>
            <a:pPr marL="0" indent="0" latinLnBrk="1">
              <a:spcBef>
                <a:spcPts val="600"/>
              </a:spcBef>
              <a:buNone/>
            </a:pPr>
            <a:r>
              <a:rPr lang="ru-RU" sz="1800" dirty="0"/>
              <a:t>В реальных проектах:   </a:t>
            </a:r>
          </a:p>
          <a:p>
            <a:pPr latinLnBrk="1">
              <a:spcBef>
                <a:spcPts val="600"/>
              </a:spcBef>
            </a:pPr>
            <a:r>
              <a:rPr lang="ru-RU" sz="1800" dirty="0"/>
              <a:t>для разных окружений (</a:t>
            </a:r>
            <a:r>
              <a:rPr lang="ru-RU" sz="1800" dirty="0" err="1"/>
              <a:t>dev</a:t>
            </a:r>
            <a:r>
              <a:rPr lang="ru-RU" sz="1800" dirty="0"/>
              <a:t>, </a:t>
            </a:r>
            <a:r>
              <a:rPr lang="ru-RU" sz="1800" dirty="0" err="1"/>
              <a:t>stage</a:t>
            </a:r>
            <a:r>
              <a:rPr lang="ru-RU" sz="1800" dirty="0"/>
              <a:t>, </a:t>
            </a:r>
            <a:r>
              <a:rPr lang="ru-RU" sz="1800" dirty="0" err="1"/>
              <a:t>prod</a:t>
            </a:r>
            <a:r>
              <a:rPr lang="ru-RU" sz="1800" dirty="0"/>
              <a:t>);</a:t>
            </a:r>
          </a:p>
          <a:p>
            <a:pPr latinLnBrk="1">
              <a:spcBef>
                <a:spcPts val="600"/>
              </a:spcBef>
            </a:pPr>
            <a:r>
              <a:rPr lang="ru-RU" sz="1800" dirty="0"/>
              <a:t>для разделения приложений или команд;</a:t>
            </a:r>
          </a:p>
          <a:p>
            <a:pPr latinLnBrk="1">
              <a:spcBef>
                <a:spcPts val="600"/>
              </a:spcBef>
            </a:pPr>
            <a:r>
              <a:rPr lang="ru-RU" sz="1800" dirty="0"/>
              <a:t>для системных компонентов </a:t>
            </a:r>
            <a:r>
              <a:rPr lang="ru-RU" sz="1800" dirty="0" err="1"/>
              <a:t>Kubernetes</a:t>
            </a:r>
            <a:r>
              <a:rPr lang="ru-RU" sz="1800" dirty="0"/>
              <a:t> (</a:t>
            </a:r>
            <a:r>
              <a:rPr lang="ru-RU" sz="1800" dirty="0" err="1"/>
              <a:t>kube-system</a:t>
            </a:r>
            <a:r>
              <a:rPr lang="ru-RU" sz="1800" dirty="0"/>
              <a:t>).</a:t>
            </a:r>
          </a:p>
          <a:p>
            <a:pPr marL="0" indent="0" latinLnBrk="1">
              <a:spcBef>
                <a:spcPts val="600"/>
              </a:spcBef>
              <a:buNone/>
            </a:pPr>
            <a:endParaRPr lang="ru-RU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5C9552-1F2A-6AE6-803D-8D4DECBAAA94}"/>
              </a:ext>
            </a:extLst>
          </p:cNvPr>
          <p:cNvSpPr txBox="1"/>
          <p:nvPr/>
        </p:nvSpPr>
        <p:spPr>
          <a:xfrm>
            <a:off x="596550" y="2243454"/>
            <a:ext cx="3513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>
                <a:solidFill>
                  <a:srgbClr val="FF0000"/>
                </a:solidFill>
              </a:rPr>
              <a:t>!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CF8F5BB-7998-228D-54B8-43C9F88CB8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1691" y="2737516"/>
            <a:ext cx="2572109" cy="22196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6628EE-3DB8-E9E0-4C5D-8C88EF7FBD7F}"/>
              </a:ext>
            </a:extLst>
          </p:cNvPr>
          <p:cNvSpPr txBox="1"/>
          <p:nvPr/>
        </p:nvSpPr>
        <p:spPr>
          <a:xfrm>
            <a:off x="8413824" y="5037055"/>
            <a:ext cx="36288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latinLnBrk="1">
              <a:spcBef>
                <a:spcPts val="600"/>
              </a:spcBef>
              <a:buNone/>
            </a:pPr>
            <a:r>
              <a:rPr lang="ru-RU" sz="1800" b="1" dirty="0"/>
              <a:t>В </a:t>
            </a:r>
            <a:r>
              <a:rPr lang="ru-RU" sz="1800" b="1" dirty="0" err="1"/>
              <a:t>Lens</a:t>
            </a:r>
            <a:r>
              <a:rPr lang="ru-RU" sz="1800" dirty="0"/>
              <a:t>: переключатель </a:t>
            </a:r>
            <a:r>
              <a:rPr lang="ru-RU" sz="1800" dirty="0" err="1"/>
              <a:t>namespace</a:t>
            </a:r>
            <a:r>
              <a:rPr lang="ru-RU" sz="1800" dirty="0"/>
              <a:t> в левом верхнем углу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9909603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386F3E-33B6-B325-824C-CEA585C0A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концепции. Декларативный подход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478D3C6F-29A7-A52E-078D-EEE85DC99C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655808" cy="4351338"/>
          </a:xfrm>
        </p:spPr>
        <p:txBody>
          <a:bodyPr/>
          <a:lstStyle/>
          <a:p>
            <a:pPr marL="0" indent="0">
              <a:buNone/>
            </a:pPr>
            <a:r>
              <a:rPr lang="ru-RU" b="1" dirty="0"/>
              <a:t>Декларативный подход</a:t>
            </a:r>
            <a:r>
              <a:rPr lang="ru-RU" dirty="0"/>
              <a:t> – в YAML-файле мы описываем </a:t>
            </a:r>
            <a:r>
              <a:rPr lang="ru-RU" b="1" dirty="0"/>
              <a:t>желаемое состояние</a:t>
            </a:r>
            <a:r>
              <a:rPr lang="ru-RU" dirty="0"/>
              <a:t> (</a:t>
            </a:r>
            <a:r>
              <a:rPr lang="ru-RU" dirty="0" err="1"/>
              <a:t>Desired</a:t>
            </a:r>
            <a:r>
              <a:rPr lang="ru-RU" dirty="0"/>
              <a:t> State) системы.</a:t>
            </a:r>
            <a:br>
              <a:rPr lang="ru-RU" dirty="0"/>
            </a:br>
            <a:r>
              <a:rPr lang="ru-RU" dirty="0" err="1"/>
              <a:t>Kubernetes</a:t>
            </a:r>
            <a:r>
              <a:rPr lang="ru-RU" dirty="0"/>
              <a:t> постоянно сравнивает </a:t>
            </a:r>
            <a:r>
              <a:rPr lang="ru-RU" b="1" dirty="0"/>
              <a:t>текущее состояние</a:t>
            </a:r>
            <a:r>
              <a:rPr lang="ru-RU" dirty="0"/>
              <a:t> (</a:t>
            </a:r>
            <a:r>
              <a:rPr lang="ru-RU" dirty="0" err="1"/>
              <a:t>Actual</a:t>
            </a:r>
            <a:r>
              <a:rPr lang="ru-RU" dirty="0"/>
              <a:t> State) с желаемым и, если они отличаются, приводит систему к описанному состоянию.</a:t>
            </a:r>
          </a:p>
          <a:p>
            <a:pPr marL="0" indent="0">
              <a:buNone/>
            </a:pPr>
            <a:r>
              <a:rPr lang="ru-RU" dirty="0"/>
              <a:t>Этот непрерывный процесс называется </a:t>
            </a:r>
            <a:r>
              <a:rPr lang="ru-RU" b="1" dirty="0" err="1"/>
              <a:t>Reconciliation</a:t>
            </a:r>
            <a:r>
              <a:rPr lang="ru-RU" b="1" dirty="0"/>
              <a:t> </a:t>
            </a:r>
            <a:r>
              <a:rPr lang="ru-RU" b="1" dirty="0" err="1"/>
              <a:t>Loop</a:t>
            </a:r>
            <a:r>
              <a:rPr lang="ru-RU" b="1" dirty="0"/>
              <a:t> (цикл согласования)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b="1" i="1" dirty="0">
                <a:solidFill>
                  <a:schemeClr val="accent1">
                    <a:lumMod val="75000"/>
                  </a:schemeClr>
                </a:solidFill>
              </a:rPr>
              <a:t>Именно поэтому</a:t>
            </a: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ru-RU" i="1" dirty="0" err="1">
                <a:solidFill>
                  <a:schemeClr val="accent1">
                    <a:lumMod val="75000"/>
                  </a:schemeClr>
                </a:solidFill>
              </a:rPr>
              <a:t>Kubernetes</a:t>
            </a: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 самостоятельно восстанавливает количество </a:t>
            </a:r>
            <a:r>
              <a:rPr lang="ru-RU" i="1" dirty="0" err="1">
                <a:solidFill>
                  <a:schemeClr val="accent1">
                    <a:lumMod val="75000"/>
                  </a:schemeClr>
                </a:solidFill>
              </a:rPr>
              <a:t>Pod'ов</a:t>
            </a: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 после сбоев.</a:t>
            </a:r>
          </a:p>
        </p:txBody>
      </p:sp>
    </p:spTree>
    <p:extLst>
      <p:ext uri="{BB962C8B-B14F-4D97-AF65-F5344CB8AC3E}">
        <p14:creationId xmlns:p14="http://schemas.microsoft.com/office/powerpoint/2010/main" val="242604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9F98186-F2EF-D0E6-E30E-8FB291A30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. </a:t>
            </a:r>
            <a:r>
              <a:rPr lang="en-US" b="1" dirty="0" err="1">
                <a:solidFill>
                  <a:schemeClr val="accent1">
                    <a:lumMod val="75000"/>
                  </a:schemeClr>
                </a:solidFill>
              </a:rPr>
              <a:t>ReplicaSet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1D63E3ED-09C3-EA2E-31C8-A9E96069F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b="1" dirty="0" err="1"/>
              <a:t>ReplicaSet</a:t>
            </a:r>
            <a:r>
              <a:rPr lang="ru-RU" dirty="0"/>
              <a:t> – низкоуровневый контроллер </a:t>
            </a:r>
            <a:r>
              <a:rPr lang="ru-RU" dirty="0" err="1"/>
              <a:t>Kubernetes</a:t>
            </a:r>
            <a:r>
              <a:rPr lang="ru-RU" dirty="0"/>
              <a:t>, задача которого — постоянно поддерживать заданное количество одинаковых </a:t>
            </a:r>
            <a:r>
              <a:rPr lang="ru-RU" dirty="0" err="1"/>
              <a:t>Pod'ов</a:t>
            </a:r>
            <a:r>
              <a:rPr lang="ru-RU" dirty="0"/>
              <a:t> (реплик).</a:t>
            </a:r>
          </a:p>
          <a:p>
            <a:pPr marL="0" indent="0">
              <a:buNone/>
            </a:pPr>
            <a:r>
              <a:rPr lang="ru-RU" b="1" dirty="0"/>
              <a:t>Как </a:t>
            </a:r>
            <a:r>
              <a:rPr lang="ru-RU" b="1" dirty="0" err="1"/>
              <a:t>ReplicaSet</a:t>
            </a:r>
            <a:r>
              <a:rPr lang="ru-RU" b="1" dirty="0"/>
              <a:t> понимает, какими </a:t>
            </a:r>
            <a:r>
              <a:rPr lang="ru-RU" b="1" dirty="0" err="1"/>
              <a:t>Pod'ами</a:t>
            </a:r>
            <a:r>
              <a:rPr lang="ru-RU" b="1" dirty="0"/>
              <a:t> управлять?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Через </a:t>
            </a:r>
            <a:r>
              <a:rPr lang="ru-RU" b="1" dirty="0" err="1"/>
              <a:t>Labels</a:t>
            </a:r>
            <a:r>
              <a:rPr lang="ru-RU" dirty="0"/>
              <a:t> и </a:t>
            </a:r>
            <a:r>
              <a:rPr lang="ru-RU" b="1" dirty="0" err="1"/>
              <a:t>Selectors</a:t>
            </a:r>
            <a:r>
              <a:rPr lang="ru-RU" dirty="0"/>
              <a:t>. В манифесте </a:t>
            </a:r>
            <a:r>
              <a:rPr lang="ru-RU" dirty="0" err="1"/>
              <a:t>ReplicaSet</a:t>
            </a:r>
            <a:r>
              <a:rPr lang="ru-RU" dirty="0"/>
              <a:t> указан селектор (например, </a:t>
            </a:r>
            <a:r>
              <a:rPr lang="ru-RU" dirty="0" err="1"/>
              <a:t>app</a:t>
            </a:r>
            <a:r>
              <a:rPr lang="ru-RU" dirty="0"/>
              <a:t>: </a:t>
            </a:r>
            <a:r>
              <a:rPr lang="ru-RU" dirty="0" err="1"/>
              <a:t>web-backend</a:t>
            </a:r>
            <a:r>
              <a:rPr lang="ru-RU" dirty="0"/>
              <a:t>). </a:t>
            </a:r>
            <a:r>
              <a:rPr lang="ru-RU" dirty="0" err="1"/>
              <a:t>ReplicaSet</a:t>
            </a:r>
            <a:r>
              <a:rPr lang="ru-RU" dirty="0"/>
              <a:t> находит все </a:t>
            </a:r>
            <a:r>
              <a:rPr lang="ru-RU" dirty="0" err="1"/>
              <a:t>Pod'ы</a:t>
            </a:r>
            <a:r>
              <a:rPr lang="ru-RU" dirty="0"/>
              <a:t> с этой меткой и считает их.</a:t>
            </a:r>
          </a:p>
          <a:p>
            <a:pPr marL="0" indent="0">
              <a:buNone/>
            </a:pPr>
            <a:r>
              <a:rPr lang="ru-RU" dirty="0"/>
              <a:t>Если в конфигурации указано </a:t>
            </a:r>
            <a:r>
              <a:rPr lang="ru-RU" dirty="0" err="1"/>
              <a:t>replicas</a:t>
            </a:r>
            <a:r>
              <a:rPr lang="ru-RU" dirty="0"/>
              <a:t>: 3, а в кластере найдено только два подходящих </a:t>
            </a:r>
            <a:r>
              <a:rPr lang="ru-RU" dirty="0" err="1"/>
              <a:t>Pod'а</a:t>
            </a:r>
            <a:r>
              <a:rPr lang="ru-RU" dirty="0"/>
              <a:t>, </a:t>
            </a:r>
            <a:r>
              <a:rPr lang="ru-RU" dirty="0" err="1"/>
              <a:t>ReplicaSet</a:t>
            </a:r>
            <a:r>
              <a:rPr lang="ru-RU" dirty="0"/>
              <a:t> через API Server запрашивает создание еще одного </a:t>
            </a:r>
            <a:r>
              <a:rPr lang="ru-RU" dirty="0" err="1"/>
              <a:t>Pod</a:t>
            </a:r>
            <a:r>
              <a:rPr lang="ru-RU" dirty="0"/>
              <a:t> по шаблону (</a:t>
            </a:r>
            <a:r>
              <a:rPr lang="ru-RU" dirty="0" err="1"/>
              <a:t>template</a:t>
            </a:r>
            <a:r>
              <a:rPr lang="ru-RU" dirty="0"/>
              <a:t>).</a:t>
            </a:r>
          </a:p>
          <a:p>
            <a:pPr marL="0" indent="0">
              <a:buNone/>
            </a:pPr>
            <a:r>
              <a:rPr lang="ru-RU" dirty="0"/>
              <a:t>Конфигурация </a:t>
            </a:r>
            <a:r>
              <a:rPr lang="ru-RU" dirty="0" err="1"/>
              <a:t>ReplicaSet</a:t>
            </a:r>
            <a:r>
              <a:rPr lang="ru-RU" dirty="0"/>
              <a:t> (количество реплик, селекторы, шаблон </a:t>
            </a:r>
            <a:r>
              <a:rPr lang="ru-RU" dirty="0" err="1"/>
              <a:t>Pod</a:t>
            </a:r>
            <a:r>
              <a:rPr lang="ru-RU" dirty="0"/>
              <a:t> и другие настройки) хранится в </a:t>
            </a:r>
            <a:r>
              <a:rPr lang="ru-RU" b="1" dirty="0" err="1"/>
              <a:t>etcd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dirty="0"/>
              <a:t>В современных проектах </a:t>
            </a:r>
            <a:r>
              <a:rPr lang="ru-RU" dirty="0" err="1"/>
              <a:t>ReplicaSet</a:t>
            </a:r>
            <a:r>
              <a:rPr lang="ru-RU" dirty="0"/>
              <a:t> почти никогда не создают вручную. Обычно им управляет </a:t>
            </a:r>
            <a:r>
              <a:rPr lang="ru-RU" b="1" dirty="0" err="1"/>
              <a:t>Deployment</a:t>
            </a:r>
            <a:r>
              <a:rPr lang="ru-RU" dirty="0"/>
              <a:t>, который автоматически создает и обновляет </a:t>
            </a:r>
            <a:r>
              <a:rPr lang="ru-RU" dirty="0" err="1"/>
              <a:t>ReplicaSet</a:t>
            </a:r>
            <a:r>
              <a:rPr lang="ru-RU" dirty="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11DD1D-B8DD-D48C-1819-5B4430F2A840}"/>
              </a:ext>
            </a:extLst>
          </p:cNvPr>
          <p:cNvSpPr txBox="1"/>
          <p:nvPr/>
        </p:nvSpPr>
        <p:spPr>
          <a:xfrm>
            <a:off x="486822" y="5114670"/>
            <a:ext cx="3513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>
                <a:solidFill>
                  <a:srgbClr val="FF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30753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DD0D5-F9FD-69AB-8F9E-806D5EA56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2CA55C28-8B80-D9DA-7913-B5D09CE93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. Deployment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377AF691-8FB2-BC6F-9BD0-0872CEAFE3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 err="1"/>
              <a:t>Deployment</a:t>
            </a:r>
            <a:r>
              <a:rPr lang="ru-RU" dirty="0"/>
              <a:t> – это высокоуровневый объект (контроллер), который управляет </a:t>
            </a:r>
            <a:r>
              <a:rPr lang="ru-RU" dirty="0" err="1"/>
              <a:t>ReplicaSet</a:t>
            </a:r>
            <a:r>
              <a:rPr lang="ru-RU" dirty="0"/>
              <a:t> и жизненным циклом приложения.</a:t>
            </a:r>
            <a:br>
              <a:rPr lang="ru-RU" dirty="0"/>
            </a:br>
            <a:r>
              <a:rPr lang="ru-RU" dirty="0"/>
              <a:t>Когда разработчик выпускает новую версию приложения (например, меняет тег </a:t>
            </a:r>
            <a:r>
              <a:rPr lang="ru-RU" dirty="0" err="1"/>
              <a:t>Docker</a:t>
            </a:r>
            <a:r>
              <a:rPr lang="ru-RU" dirty="0"/>
              <a:t>-образа), изменения вносятся именно в </a:t>
            </a:r>
            <a:r>
              <a:rPr lang="ru-RU" dirty="0" err="1"/>
              <a:t>Deployment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dirty="0" err="1"/>
              <a:t>Deployment</a:t>
            </a:r>
            <a:r>
              <a:rPr lang="ru-RU" dirty="0"/>
              <a:t> автоматически создает и обновляет </a:t>
            </a:r>
            <a:r>
              <a:rPr lang="ru-RU" dirty="0" err="1"/>
              <a:t>ReplicaSet</a:t>
            </a:r>
            <a:r>
              <a:rPr lang="ru-RU" dirty="0"/>
              <a:t>, поэтому напрямую с </a:t>
            </a:r>
            <a:r>
              <a:rPr lang="ru-RU" dirty="0" err="1"/>
              <a:t>ReplicaSet</a:t>
            </a:r>
            <a:r>
              <a:rPr lang="ru-RU" dirty="0"/>
              <a:t> обычно не работают.</a:t>
            </a:r>
          </a:p>
        </p:txBody>
      </p:sp>
    </p:spTree>
    <p:extLst>
      <p:ext uri="{BB962C8B-B14F-4D97-AF65-F5344CB8AC3E}">
        <p14:creationId xmlns:p14="http://schemas.microsoft.com/office/powerpoint/2010/main" val="3821378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98CAE5-F001-5BE9-E1AD-92417D10B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концепции.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Deployment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688061-BFB9-5223-112C-1ACBA916EB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8"/>
            <a:ext cx="5782056" cy="4486275"/>
          </a:xfrm>
        </p:spPr>
        <p:txBody>
          <a:bodyPr>
            <a:normAutofit/>
          </a:bodyPr>
          <a:lstStyle/>
          <a:p>
            <a:r>
              <a:rPr lang="ru-RU" sz="1800" dirty="0"/>
              <a:t>Разработчик обновил </a:t>
            </a:r>
            <a:r>
              <a:rPr lang="ru-RU" sz="1800" dirty="0" err="1"/>
              <a:t>Deployment</a:t>
            </a:r>
            <a:r>
              <a:rPr lang="ru-RU" sz="1800" dirty="0"/>
              <a:t> (например, изменил тег </a:t>
            </a:r>
            <a:r>
              <a:rPr lang="ru-RU" sz="1800" dirty="0" err="1"/>
              <a:t>Docker</a:t>
            </a:r>
            <a:r>
              <a:rPr lang="ru-RU" sz="1800" dirty="0"/>
              <a:t>-образа). </a:t>
            </a:r>
            <a:r>
              <a:rPr lang="ru-RU" sz="1800" dirty="0" err="1"/>
              <a:t>Deployment</a:t>
            </a:r>
            <a:r>
              <a:rPr lang="ru-RU" sz="1800" dirty="0"/>
              <a:t> </a:t>
            </a:r>
            <a:r>
              <a:rPr lang="ru-RU" sz="1800" dirty="0" err="1"/>
              <a:t>Controller</a:t>
            </a:r>
            <a:r>
              <a:rPr lang="ru-RU" sz="1800" dirty="0"/>
              <a:t> обнаружил изменение и создал новый </a:t>
            </a:r>
            <a:r>
              <a:rPr lang="ru-RU" sz="1800" dirty="0" err="1"/>
              <a:t>ReplicaSet</a:t>
            </a:r>
            <a:r>
              <a:rPr lang="ru-RU" sz="1800" dirty="0"/>
              <a:t>.</a:t>
            </a:r>
          </a:p>
          <a:p>
            <a:r>
              <a:rPr lang="ru-RU" sz="1800" dirty="0"/>
              <a:t>Новый </a:t>
            </a:r>
            <a:r>
              <a:rPr lang="ru-RU" sz="1800" dirty="0" err="1"/>
              <a:t>ReplicaSet</a:t>
            </a:r>
            <a:r>
              <a:rPr lang="ru-RU" sz="1800" dirty="0"/>
              <a:t> был сохранен в </a:t>
            </a:r>
            <a:r>
              <a:rPr lang="ru-RU" sz="1800" dirty="0" err="1"/>
              <a:t>etcd</a:t>
            </a:r>
            <a:r>
              <a:rPr lang="ru-RU" sz="1800" dirty="0"/>
              <a:t>.</a:t>
            </a:r>
          </a:p>
          <a:p>
            <a:r>
              <a:rPr lang="ru-RU" sz="1800" dirty="0" err="1"/>
              <a:t>ReplicaSet</a:t>
            </a:r>
            <a:r>
              <a:rPr lang="ru-RU" sz="1800" dirty="0"/>
              <a:t> </a:t>
            </a:r>
            <a:r>
              <a:rPr lang="ru-RU" sz="1800" dirty="0" err="1"/>
              <a:t>Controller</a:t>
            </a:r>
            <a:r>
              <a:rPr lang="ru-RU" sz="1800" dirty="0"/>
              <a:t> обнаружил новый </a:t>
            </a:r>
            <a:r>
              <a:rPr lang="ru-RU" sz="1800" dirty="0" err="1"/>
              <a:t>ReplicaSet</a:t>
            </a:r>
            <a:r>
              <a:rPr lang="ru-RU" sz="1800" dirty="0"/>
              <a:t> и отправил запрос в API Server на создание трех </a:t>
            </a:r>
            <a:r>
              <a:rPr lang="ru-RU" sz="1800" dirty="0" err="1"/>
              <a:t>Pod'ов</a:t>
            </a:r>
            <a:r>
              <a:rPr lang="ru-RU" sz="1800" dirty="0"/>
              <a:t>.</a:t>
            </a:r>
          </a:p>
          <a:p>
            <a:r>
              <a:rPr lang="ru-RU" sz="1800" dirty="0" err="1"/>
              <a:t>Scheduler</a:t>
            </a:r>
            <a:r>
              <a:rPr lang="ru-RU" sz="1800" dirty="0"/>
              <a:t> выбрал </a:t>
            </a:r>
            <a:r>
              <a:rPr lang="ru-RU" sz="1800" dirty="0" err="1"/>
              <a:t>Worker</a:t>
            </a:r>
            <a:r>
              <a:rPr lang="ru-RU" sz="1800" dirty="0"/>
              <a:t> </a:t>
            </a:r>
            <a:r>
              <a:rPr lang="ru-RU" sz="1800" dirty="0" err="1"/>
              <a:t>Node</a:t>
            </a:r>
            <a:r>
              <a:rPr lang="ru-RU" sz="1800" dirty="0"/>
              <a:t> для каждого </a:t>
            </a:r>
            <a:r>
              <a:rPr lang="ru-RU" sz="1800" dirty="0" err="1"/>
              <a:t>Pod</a:t>
            </a:r>
            <a:r>
              <a:rPr lang="ru-RU" sz="1800" dirty="0"/>
              <a:t> с учетом доступных ресурсов.</a:t>
            </a:r>
          </a:p>
          <a:p>
            <a:r>
              <a:rPr lang="ru-RU" sz="1800" dirty="0" err="1"/>
              <a:t>kubelet</a:t>
            </a:r>
            <a:r>
              <a:rPr lang="ru-RU" sz="1800" dirty="0"/>
              <a:t> на выбранной </a:t>
            </a:r>
            <a:r>
              <a:rPr lang="ru-RU" sz="1800" dirty="0" err="1"/>
              <a:t>Worker</a:t>
            </a:r>
            <a:r>
              <a:rPr lang="ru-RU" sz="1800" dirty="0"/>
              <a:t> </a:t>
            </a:r>
            <a:r>
              <a:rPr lang="ru-RU" sz="1800" dirty="0" err="1"/>
              <a:t>Node</a:t>
            </a:r>
            <a:r>
              <a:rPr lang="ru-RU" sz="1800" dirty="0"/>
              <a:t> получил описание </a:t>
            </a:r>
            <a:r>
              <a:rPr lang="ru-RU" sz="1800" dirty="0" err="1"/>
              <a:t>Pod</a:t>
            </a:r>
            <a:r>
              <a:rPr lang="ru-RU" sz="1800" dirty="0"/>
              <a:t> и поручил </a:t>
            </a:r>
            <a:r>
              <a:rPr lang="ru-RU" sz="1800" dirty="0" err="1"/>
              <a:t>Container</a:t>
            </a:r>
            <a:r>
              <a:rPr lang="ru-RU" sz="1800" dirty="0"/>
              <a:t> </a:t>
            </a:r>
            <a:r>
              <a:rPr lang="ru-RU" sz="1800" dirty="0" err="1"/>
              <a:t>Runtime</a:t>
            </a:r>
            <a:r>
              <a:rPr lang="ru-RU" sz="1800" dirty="0"/>
              <a:t> (например, </a:t>
            </a:r>
            <a:r>
              <a:rPr lang="ru-RU" sz="1800" dirty="0" err="1"/>
              <a:t>containerd</a:t>
            </a:r>
            <a:r>
              <a:rPr lang="ru-RU" sz="1800" dirty="0"/>
              <a:t>) запустить контейнеры.</a:t>
            </a:r>
          </a:p>
          <a:p>
            <a:r>
              <a:rPr lang="ru-RU" sz="1800" dirty="0"/>
              <a:t>После запуска </a:t>
            </a:r>
            <a:r>
              <a:rPr lang="ru-RU" sz="1800" dirty="0" err="1"/>
              <a:t>Pod</a:t>
            </a:r>
            <a:r>
              <a:rPr lang="ru-RU" sz="1800" dirty="0"/>
              <a:t> </a:t>
            </a:r>
            <a:r>
              <a:rPr lang="ru-RU" sz="1800" dirty="0" err="1"/>
              <a:t>Kubernetes</a:t>
            </a:r>
            <a:r>
              <a:rPr lang="ru-RU" sz="1800" dirty="0"/>
              <a:t> продолжает следить за его состоянием. </a:t>
            </a:r>
          </a:p>
        </p:txBody>
      </p:sp>
      <p:pic>
        <p:nvPicPr>
          <p:cNvPr id="9" name="Объект 3" descr="Kubernetes ReplicaSets: Definition, Examples, and Best Practices">
            <a:extLst>
              <a:ext uri="{FF2B5EF4-FFF2-40B4-BE49-F238E27FC236}">
                <a16:creationId xmlns:a16="http://schemas.microsoft.com/office/drawing/2014/main" id="{EC266A39-4E5B-A32F-ED6D-C761C49F3C3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620256" y="2150522"/>
            <a:ext cx="4713734" cy="301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7456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3F3190-6D9B-5DD1-8FA4-8410CFF59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*</a:t>
            </a:r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Процесс внесения изменений в состояние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937B3169-02DF-5EA1-4191-95CFE60B47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40863" y="1405032"/>
            <a:ext cx="7463751" cy="516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813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CE3650-BA7D-6ECA-F87E-98F45F32A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концепции. Kubernetes Service</a:t>
            </a:r>
          </a:p>
        </p:txBody>
      </p:sp>
      <p:sp>
        <p:nvSpPr>
          <p:cNvPr id="9" name="Объект 8">
            <a:extLst>
              <a:ext uri="{FF2B5EF4-FFF2-40B4-BE49-F238E27FC236}">
                <a16:creationId xmlns:a16="http://schemas.microsoft.com/office/drawing/2014/main" id="{558582B8-12A0-A893-9EDA-3EB51976AB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ru-RU" dirty="0" err="1"/>
              <a:t>Pods</a:t>
            </a:r>
            <a:r>
              <a:rPr lang="ru-RU" dirty="0"/>
              <a:t> – это «расходный материал». Они могут завершаться, пересоздаваться или масштабироваться, поэтому при каждом создании получают новый IP-адрес. Из-за этого обращаться к </a:t>
            </a:r>
            <a:r>
              <a:rPr lang="ru-RU" dirty="0" err="1"/>
              <a:t>Pod</a:t>
            </a:r>
            <a:r>
              <a:rPr lang="ru-RU" dirty="0"/>
              <a:t> напрямую нельзя.</a:t>
            </a:r>
          </a:p>
          <a:p>
            <a:pPr marL="0" indent="0">
              <a:buNone/>
            </a:pPr>
            <a:r>
              <a:rPr lang="ru-RU" dirty="0"/>
              <a:t>Для решения этой проблемы используется </a:t>
            </a:r>
            <a:r>
              <a:rPr lang="ru-RU" b="1" dirty="0"/>
              <a:t>Service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b="1" dirty="0"/>
              <a:t>Service</a:t>
            </a:r>
            <a:r>
              <a:rPr lang="ru-RU" dirty="0"/>
              <a:t> – это объект </a:t>
            </a:r>
            <a:r>
              <a:rPr lang="ru-RU" dirty="0" err="1"/>
              <a:t>Kubernetes</a:t>
            </a:r>
            <a:r>
              <a:rPr lang="ru-RU" dirty="0"/>
              <a:t>, который предоставляет группе </a:t>
            </a:r>
            <a:r>
              <a:rPr lang="ru-RU" dirty="0" err="1"/>
              <a:t>Pod'ов</a:t>
            </a:r>
            <a:r>
              <a:rPr lang="ru-RU" dirty="0"/>
              <a:t> один постоянный внутренний IP-адрес и DNS-имя. Клиенты обращаются к Service, а </a:t>
            </a:r>
            <a:r>
              <a:rPr lang="ru-RU" dirty="0" err="1"/>
              <a:t>Kubernetes</a:t>
            </a:r>
            <a:r>
              <a:rPr lang="ru-RU" dirty="0"/>
              <a:t> автоматически перенаправляет запрос на один из подходящих </a:t>
            </a:r>
            <a:r>
              <a:rPr lang="ru-RU" dirty="0" err="1"/>
              <a:t>Pod'ов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b="1" dirty="0"/>
              <a:t>Как Service находит нужные </a:t>
            </a:r>
            <a:r>
              <a:rPr lang="ru-RU" b="1" dirty="0" err="1"/>
              <a:t>Pod'ы</a:t>
            </a:r>
            <a:r>
              <a:rPr lang="ru-RU" b="1" dirty="0"/>
              <a:t>?</a:t>
            </a:r>
            <a:endParaRPr lang="ru-RU" dirty="0"/>
          </a:p>
          <a:p>
            <a:r>
              <a:rPr lang="ru-RU" b="1" dirty="0" err="1"/>
              <a:t>Labels</a:t>
            </a:r>
            <a:r>
              <a:rPr lang="ru-RU" b="1" dirty="0"/>
              <a:t> (метки)</a:t>
            </a:r>
            <a:r>
              <a:rPr lang="ru-RU" dirty="0"/>
              <a:t> – назначаются </a:t>
            </a:r>
            <a:r>
              <a:rPr lang="ru-RU" dirty="0" err="1"/>
              <a:t>Pod'ам</a:t>
            </a:r>
            <a:r>
              <a:rPr lang="ru-RU" dirty="0"/>
              <a:t> (например, </a:t>
            </a:r>
            <a:r>
              <a:rPr lang="ru-RU" dirty="0" err="1"/>
              <a:t>app</a:t>
            </a:r>
            <a:r>
              <a:rPr lang="ru-RU" dirty="0"/>
              <a:t>: </a:t>
            </a:r>
            <a:r>
              <a:rPr lang="ru-RU" dirty="0" err="1"/>
              <a:t>payment-gateway</a:t>
            </a:r>
            <a:r>
              <a:rPr lang="ru-RU" dirty="0"/>
              <a:t>).</a:t>
            </a:r>
          </a:p>
          <a:p>
            <a:r>
              <a:rPr lang="ru-RU" b="1" dirty="0" err="1"/>
              <a:t>Selector</a:t>
            </a:r>
            <a:r>
              <a:rPr lang="ru-RU" b="1" dirty="0"/>
              <a:t> (селектор)</a:t>
            </a:r>
            <a:r>
              <a:rPr lang="ru-RU" dirty="0"/>
              <a:t> – указывается в Service и определяет, какие </a:t>
            </a:r>
            <a:r>
              <a:rPr lang="ru-RU" dirty="0" err="1"/>
              <a:t>Pod'ы</a:t>
            </a:r>
            <a:r>
              <a:rPr lang="ru-RU" dirty="0"/>
              <a:t> должны обслуживать запросы.</a:t>
            </a:r>
          </a:p>
          <a:p>
            <a:r>
              <a:rPr lang="ru-RU" b="1" dirty="0" err="1"/>
              <a:t>Endpoints</a:t>
            </a:r>
            <a:r>
              <a:rPr lang="ru-RU" b="1" dirty="0"/>
              <a:t> (конечные точки)</a:t>
            </a:r>
            <a:r>
              <a:rPr lang="ru-RU" dirty="0"/>
              <a:t> – </a:t>
            </a:r>
            <a:r>
              <a:rPr lang="ru-RU" dirty="0" err="1"/>
              <a:t>Kubernetes</a:t>
            </a:r>
            <a:r>
              <a:rPr lang="ru-RU" dirty="0"/>
              <a:t> автоматически формирует список IP-адресов всех </a:t>
            </a:r>
            <a:r>
              <a:rPr lang="ru-RU" b="1" dirty="0"/>
              <a:t>готовых</a:t>
            </a:r>
            <a:r>
              <a:rPr lang="ru-RU" dirty="0"/>
              <a:t> </a:t>
            </a:r>
            <a:r>
              <a:rPr lang="ru-RU" dirty="0" err="1"/>
              <a:t>Pod'ов</a:t>
            </a:r>
            <a:r>
              <a:rPr lang="ru-RU" dirty="0"/>
              <a:t>, подходящих под селектор. Именно на них Service распределяет входящий трафик.</a:t>
            </a:r>
            <a:br>
              <a:rPr lang="ru-RU" dirty="0"/>
            </a:b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Если подходящих </a:t>
            </a:r>
            <a:r>
              <a:rPr lang="ru-RU" i="1" dirty="0" err="1">
                <a:solidFill>
                  <a:schemeClr val="accent1">
                    <a:lumMod val="75000"/>
                  </a:schemeClr>
                </a:solidFill>
              </a:rPr>
              <a:t>Pod'ов</a:t>
            </a: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 нет или они не готовы (</a:t>
            </a:r>
            <a:r>
              <a:rPr lang="ru-RU" b="1" i="1" dirty="0">
                <a:solidFill>
                  <a:schemeClr val="accent1">
                    <a:lumMod val="75000"/>
                  </a:schemeClr>
                </a:solidFill>
              </a:rPr>
              <a:t>Ready</a:t>
            </a: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), список </a:t>
            </a:r>
            <a:r>
              <a:rPr lang="ru-RU" i="1" dirty="0" err="1">
                <a:solidFill>
                  <a:schemeClr val="accent1">
                    <a:lumMod val="75000"/>
                  </a:schemeClr>
                </a:solidFill>
              </a:rPr>
              <a:t>Endpoints</a:t>
            </a:r>
            <a:r>
              <a:rPr lang="ru-RU" i="1" dirty="0">
                <a:solidFill>
                  <a:schemeClr val="accent1">
                    <a:lumMod val="75000"/>
                  </a:schemeClr>
                </a:solidFill>
              </a:rPr>
              <a:t> будет пустым, и Service не сможет направить трафик.</a:t>
            </a:r>
          </a:p>
        </p:txBody>
      </p:sp>
    </p:spTree>
    <p:extLst>
      <p:ext uri="{BB962C8B-B14F-4D97-AF65-F5344CB8AC3E}">
        <p14:creationId xmlns:p14="http://schemas.microsoft.com/office/powerpoint/2010/main" val="1745220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09B51-9C5E-1357-791A-BC27FFF5C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0A09AE-B91A-70D9-B063-A608C416C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концепции. Kubernetes Service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000DAB2A-A107-63BA-A797-77EFBABA5F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099" y="1616425"/>
            <a:ext cx="7825913" cy="435133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D0FB58B-02E4-85EC-738B-8D943ACD9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4164" y="1311753"/>
            <a:ext cx="3751209" cy="4960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713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C44C6-CD8F-BD3B-5ED8-1E1D52CFE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0AD5A7-4A2C-5CEE-4231-E14D89AD0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концепции. Kubernetes Service</a:t>
            </a:r>
          </a:p>
        </p:txBody>
      </p:sp>
      <p:sp>
        <p:nvSpPr>
          <p:cNvPr id="9" name="Объект 8">
            <a:extLst>
              <a:ext uri="{FF2B5EF4-FFF2-40B4-BE49-F238E27FC236}">
                <a16:creationId xmlns:a16="http://schemas.microsoft.com/office/drawing/2014/main" id="{C703E674-D54B-CDCB-A63F-2906CD71C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При баге «Не отвечает бэкенд»:</a:t>
            </a:r>
            <a:endParaRPr lang="ru-RU" dirty="0"/>
          </a:p>
          <a:p>
            <a:r>
              <a:rPr lang="ru-RU" dirty="0"/>
              <a:t>Проверить, совпадают ли </a:t>
            </a:r>
            <a:r>
              <a:rPr lang="ru-RU" dirty="0" err="1"/>
              <a:t>selector</a:t>
            </a:r>
            <a:r>
              <a:rPr lang="ru-RU" dirty="0"/>
              <a:t> в Service и </a:t>
            </a:r>
            <a:r>
              <a:rPr lang="ru-RU" dirty="0" err="1"/>
              <a:t>labels</a:t>
            </a:r>
            <a:r>
              <a:rPr lang="ru-RU" dirty="0"/>
              <a:t> в </a:t>
            </a:r>
            <a:r>
              <a:rPr lang="ru-RU" dirty="0" err="1"/>
              <a:t>Pod</a:t>
            </a:r>
            <a:r>
              <a:rPr lang="ru-RU" dirty="0"/>
              <a:t>. Опечатка в одну букву — и сервис будет слать трафик «в пустоту».</a:t>
            </a:r>
          </a:p>
          <a:p>
            <a:r>
              <a:rPr lang="ru-RU" dirty="0"/>
              <a:t>Выполнить команду </a:t>
            </a:r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get</a:t>
            </a:r>
            <a:r>
              <a:rPr lang="ru-RU" dirty="0"/>
              <a:t> </a:t>
            </a:r>
            <a:r>
              <a:rPr lang="ru-RU" dirty="0" err="1"/>
              <a:t>endpoints</a:t>
            </a:r>
            <a:r>
              <a:rPr lang="ru-RU" dirty="0"/>
              <a:t> &lt;</a:t>
            </a:r>
            <a:r>
              <a:rPr lang="ru-RU" dirty="0" err="1"/>
              <a:t>имя_сервиса</a:t>
            </a:r>
            <a:r>
              <a:rPr lang="ru-RU" dirty="0"/>
              <a:t>&gt; — если список IP пуст, значит, сервис не видит поды.</a:t>
            </a:r>
          </a:p>
        </p:txBody>
      </p:sp>
    </p:spTree>
    <p:extLst>
      <p:ext uri="{BB962C8B-B14F-4D97-AF65-F5344CB8AC3E}">
        <p14:creationId xmlns:p14="http://schemas.microsoft.com/office/powerpoint/2010/main" val="3684028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FB8F97-2CAC-A7BF-A09B-13624AEB2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концепции.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Ingress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A7C5647-63FE-964E-9782-CF0CD55D7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3872"/>
            <a:ext cx="10515600" cy="4867783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1" dirty="0" err="1"/>
              <a:t>Ingress</a:t>
            </a:r>
            <a:r>
              <a:rPr lang="ru-RU" dirty="0"/>
              <a:t> – объект </a:t>
            </a:r>
            <a:r>
              <a:rPr lang="ru-RU" dirty="0" err="1"/>
              <a:t>Kubernetes</a:t>
            </a:r>
            <a:r>
              <a:rPr lang="ru-RU" dirty="0"/>
              <a:t>, который предоставляет внешнюю точку входа в кластер и направляет входящие HTTP/HTTPS-запросы к нужным Service. Маршрутизация определяется правилами </a:t>
            </a:r>
            <a:r>
              <a:rPr lang="ru-RU" dirty="0" err="1"/>
              <a:t>Ingress</a:t>
            </a:r>
            <a:r>
              <a:rPr lang="ru-RU" dirty="0"/>
              <a:t>: по доменному имени, URL-пути и другим условиям.</a:t>
            </a:r>
          </a:p>
          <a:p>
            <a:pPr marL="0" indent="0">
              <a:buNone/>
            </a:pPr>
            <a:r>
              <a:rPr lang="ru-RU" dirty="0"/>
              <a:t>Для QA-инженеров ключевыми зонами проверки являются:</a:t>
            </a:r>
          </a:p>
          <a:p>
            <a:r>
              <a:rPr lang="ru-RU" dirty="0"/>
              <a:t>корректность URL-путей и маршрутизации;</a:t>
            </a:r>
          </a:p>
          <a:p>
            <a:r>
              <a:rPr lang="ru-RU" dirty="0"/>
              <a:t>настройки тайм-аутов;</a:t>
            </a:r>
          </a:p>
          <a:p>
            <a:r>
              <a:rPr lang="ru-RU" dirty="0"/>
              <a:t>ограничения на размер запросов (например, при загрузке файлов);</a:t>
            </a:r>
          </a:p>
          <a:p>
            <a:r>
              <a:rPr lang="ru-RU" dirty="0"/>
              <a:t>корректность </a:t>
            </a:r>
            <a:r>
              <a:rPr lang="ru-RU" dirty="0" err="1"/>
              <a:t>перенаправлений</a:t>
            </a:r>
            <a:r>
              <a:rPr lang="ru-RU" dirty="0"/>
              <a:t> и кодов ответа.</a:t>
            </a:r>
          </a:p>
          <a:p>
            <a:pPr marL="0" indent="0">
              <a:buNone/>
            </a:pPr>
            <a:r>
              <a:rPr lang="ru-RU" b="1" dirty="0" err="1"/>
              <a:t>Ingress</a:t>
            </a:r>
            <a:r>
              <a:rPr lang="ru-RU" dirty="0"/>
              <a:t> отвечает на вопрос </a:t>
            </a:r>
            <a:r>
              <a:rPr lang="ru-RU" b="1" dirty="0"/>
              <a:t>ЧТО</a:t>
            </a:r>
            <a:r>
              <a:rPr lang="ru-RU" dirty="0"/>
              <a:t> запрашивают (домен, URL-путь), а </a:t>
            </a:r>
            <a:r>
              <a:rPr lang="ru-RU" b="1" dirty="0"/>
              <a:t>Service</a:t>
            </a:r>
            <a:r>
              <a:rPr lang="ru-RU" dirty="0"/>
              <a:t> — </a:t>
            </a:r>
            <a:r>
              <a:rPr lang="ru-RU" b="1" dirty="0"/>
              <a:t>КУДА</a:t>
            </a:r>
            <a:r>
              <a:rPr lang="ru-RU" dirty="0"/>
              <a:t> перенаправить (на какие поды)»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F53FDD-8B93-EF29-A546-7374B08A701E}"/>
              </a:ext>
            </a:extLst>
          </p:cNvPr>
          <p:cNvSpPr txBox="1"/>
          <p:nvPr/>
        </p:nvSpPr>
        <p:spPr>
          <a:xfrm>
            <a:off x="486822" y="5370109"/>
            <a:ext cx="3513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>
                <a:solidFill>
                  <a:srgbClr val="FF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3457625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308FF-FDB2-BA24-029C-C631578FE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F84094-F0D9-C447-A625-8B6F8E4BC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accent1">
                    <a:lumMod val="75000"/>
                  </a:schemeClr>
                </a:solidFill>
              </a:rPr>
              <a:t>Общие концепции.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Ingress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D638B2F1-9E00-2E68-0493-5440C3862F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18004"/>
            <a:ext cx="10515600" cy="3966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3120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78D6A-D563-06A4-478F-4C666A15E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F5121B-7CAA-E5A6-B7BF-334161B3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300" b="1" dirty="0">
                <a:solidFill>
                  <a:schemeClr val="accent1">
                    <a:lumMod val="75000"/>
                  </a:schemeClr>
                </a:solidFill>
              </a:rPr>
              <a:t>Поиск ошибок в цепочке </a:t>
            </a:r>
            <a:r>
              <a:rPr lang="en-US" sz="4300" b="1" dirty="0">
                <a:solidFill>
                  <a:schemeClr val="accent1">
                    <a:lumMod val="75000"/>
                  </a:schemeClr>
                </a:solidFill>
              </a:rPr>
              <a:t>Ingress-Service-Pod</a:t>
            </a:r>
            <a:endParaRPr lang="ru-RU" sz="43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D1AF8C7-1835-4CB8-4FB4-03C670C5D48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600" b="1" dirty="0"/>
              <a:t>QA (</a:t>
            </a:r>
            <a:r>
              <a:rPr lang="ru-RU" sz="2600" b="1" dirty="0" err="1"/>
              <a:t>Postman</a:t>
            </a:r>
            <a:r>
              <a:rPr lang="ru-RU" sz="2600" b="1" dirty="0"/>
              <a:t>/Браузер)</a:t>
            </a:r>
            <a:r>
              <a:rPr lang="ru-RU" sz="2600" dirty="0"/>
              <a:t> </a:t>
            </a:r>
            <a:endParaRPr lang="en-US" sz="2600" dirty="0"/>
          </a:p>
          <a:p>
            <a:pPr marL="0" indent="0">
              <a:buNone/>
            </a:pPr>
            <a:endParaRPr lang="ru-RU" sz="2600" dirty="0"/>
          </a:p>
          <a:p>
            <a:pPr marL="0" indent="0">
              <a:buNone/>
            </a:pPr>
            <a:r>
              <a:rPr lang="ru-RU" sz="2600" b="1" dirty="0" err="1"/>
              <a:t>Ingress</a:t>
            </a:r>
            <a:r>
              <a:rPr lang="ru-RU" sz="2600" dirty="0"/>
              <a:t> (разобрал URL</a:t>
            </a:r>
            <a:r>
              <a:rPr lang="en-US" sz="2600" dirty="0"/>
              <a:t> </a:t>
            </a:r>
            <a:r>
              <a:rPr lang="ru-RU" sz="2600" dirty="0"/>
              <a:t>«/</a:t>
            </a:r>
            <a:r>
              <a:rPr lang="ru-RU" sz="2600" dirty="0" err="1"/>
              <a:t>api</a:t>
            </a:r>
            <a:r>
              <a:rPr lang="ru-RU" sz="2600" dirty="0"/>
              <a:t>/</a:t>
            </a:r>
            <a:r>
              <a:rPr lang="ru-RU" sz="2600" dirty="0" err="1"/>
              <a:t>users</a:t>
            </a:r>
            <a:r>
              <a:rPr lang="ru-RU" sz="2600" dirty="0"/>
              <a:t>») </a:t>
            </a:r>
            <a:endParaRPr lang="en-US" sz="2600" dirty="0"/>
          </a:p>
          <a:p>
            <a:pPr marL="0" indent="0">
              <a:buNone/>
            </a:pPr>
            <a:endParaRPr lang="ru-RU" sz="2600" dirty="0"/>
          </a:p>
          <a:p>
            <a:pPr marL="0" indent="0">
              <a:buNone/>
            </a:pPr>
            <a:r>
              <a:rPr lang="ru-RU" sz="2600" b="1" dirty="0"/>
              <a:t>Service</a:t>
            </a:r>
            <a:r>
              <a:rPr lang="ru-RU" sz="2600" dirty="0"/>
              <a:t> (выбрал живой под по меткам, </a:t>
            </a:r>
            <a:r>
              <a:rPr lang="en-US" sz="2600" dirty="0"/>
              <a:t>users-backend-service</a:t>
            </a:r>
            <a:r>
              <a:rPr lang="ru-RU" sz="2600" dirty="0"/>
              <a:t>)</a:t>
            </a:r>
            <a:r>
              <a:rPr lang="en-US" sz="2600" dirty="0"/>
              <a:t> </a:t>
            </a:r>
          </a:p>
          <a:p>
            <a:pPr marL="0" indent="0">
              <a:buNone/>
            </a:pPr>
            <a:endParaRPr lang="ru-RU" sz="2600" dirty="0"/>
          </a:p>
          <a:p>
            <a:pPr marL="0" indent="0">
              <a:buNone/>
            </a:pPr>
            <a:r>
              <a:rPr lang="ru-RU" sz="2600" b="1" dirty="0" err="1"/>
              <a:t>Pod</a:t>
            </a:r>
            <a:r>
              <a:rPr lang="ru-RU" sz="2600" dirty="0"/>
              <a:t> (обработал код и вернул</a:t>
            </a:r>
            <a:r>
              <a:rPr lang="en-US" sz="2600" dirty="0"/>
              <a:t> </a:t>
            </a:r>
            <a:r>
              <a:rPr lang="ru-RU" sz="2600" dirty="0"/>
              <a:t>ответ).</a:t>
            </a:r>
          </a:p>
        </p:txBody>
      </p:sp>
      <p:pic>
        <p:nvPicPr>
          <p:cNvPr id="7" name="Объект 6" descr="How to debug Kubernetes? (Deployments, Services &amp; Ingress)">
            <a:extLst>
              <a:ext uri="{FF2B5EF4-FFF2-40B4-BE49-F238E27FC236}">
                <a16:creationId xmlns:a16="http://schemas.microsoft.com/office/drawing/2014/main" id="{A76ECB88-FAC2-7B4E-3244-AD1D1750E58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2545056"/>
            <a:ext cx="5181600" cy="2912476"/>
          </a:xfrm>
          <a:prstGeom prst="rect">
            <a:avLst/>
          </a:prstGeom>
        </p:spPr>
      </p:pic>
      <p:sp>
        <p:nvSpPr>
          <p:cNvPr id="8" name="Стрелка: вниз 7">
            <a:extLst>
              <a:ext uri="{FF2B5EF4-FFF2-40B4-BE49-F238E27FC236}">
                <a16:creationId xmlns:a16="http://schemas.microsoft.com/office/drawing/2014/main" id="{75C451B3-4EF9-680F-CF20-7F094C9912D3}"/>
              </a:ext>
            </a:extLst>
          </p:cNvPr>
          <p:cNvSpPr/>
          <p:nvPr/>
        </p:nvSpPr>
        <p:spPr>
          <a:xfrm>
            <a:off x="1844040" y="4672584"/>
            <a:ext cx="521208" cy="3931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: вниз 9">
            <a:extLst>
              <a:ext uri="{FF2B5EF4-FFF2-40B4-BE49-F238E27FC236}">
                <a16:creationId xmlns:a16="http://schemas.microsoft.com/office/drawing/2014/main" id="{72CF5F67-6F99-70DD-556D-6327469B6570}"/>
              </a:ext>
            </a:extLst>
          </p:cNvPr>
          <p:cNvSpPr/>
          <p:nvPr/>
        </p:nvSpPr>
        <p:spPr>
          <a:xfrm>
            <a:off x="1844040" y="3328225"/>
            <a:ext cx="521208" cy="3931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трелка: вниз 11">
            <a:extLst>
              <a:ext uri="{FF2B5EF4-FFF2-40B4-BE49-F238E27FC236}">
                <a16:creationId xmlns:a16="http://schemas.microsoft.com/office/drawing/2014/main" id="{01D8A0F1-7187-70EC-5E60-F19B0ED9AED6}"/>
              </a:ext>
            </a:extLst>
          </p:cNvPr>
          <p:cNvSpPr/>
          <p:nvPr/>
        </p:nvSpPr>
        <p:spPr>
          <a:xfrm>
            <a:off x="1845564" y="2348460"/>
            <a:ext cx="521208" cy="3931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47022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B0A25-FFD1-3231-983A-22778D4CC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B9B90E-1406-1474-2118-4FFC68ABD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300" b="1" dirty="0">
                <a:solidFill>
                  <a:schemeClr val="accent1">
                    <a:lumMod val="75000"/>
                  </a:schemeClr>
                </a:solidFill>
              </a:rPr>
              <a:t>Поиск ошибок в цепочке </a:t>
            </a:r>
            <a:r>
              <a:rPr lang="en-US" sz="4300" b="1" dirty="0">
                <a:solidFill>
                  <a:schemeClr val="accent1">
                    <a:lumMod val="75000"/>
                  </a:schemeClr>
                </a:solidFill>
              </a:rPr>
              <a:t>Ingress-Service-Pod</a:t>
            </a:r>
            <a:endParaRPr lang="ru-RU" sz="43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59DCEC-47D7-E93B-79D6-94C67E897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5240"/>
            <a:ext cx="10515600" cy="4673536"/>
          </a:xfrm>
        </p:spPr>
        <p:txBody>
          <a:bodyPr>
            <a:no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600" b="1" dirty="0"/>
              <a:t>1. Ingress</a:t>
            </a:r>
            <a:endParaRPr lang="ru-RU" sz="1600" b="1" dirty="0"/>
          </a:p>
          <a:p>
            <a:pPr>
              <a:lnSpc>
                <a:spcPct val="120000"/>
              </a:lnSpc>
              <a:spcBef>
                <a:spcPts val="0"/>
              </a:spcBef>
              <a:buFont typeface="Wingdings" panose="05000000000000000000" pitchFamily="2" charset="2"/>
              <a:buChar char="ü"/>
            </a:pPr>
            <a:r>
              <a:rPr lang="ru-RU" sz="1600" dirty="0"/>
              <a:t>Ошибки маршрутизации, проблемы с SSL, тайм-ауты, лимиты на размер файлов (413 </a:t>
            </a:r>
            <a:r>
              <a:rPr lang="ru-RU" sz="1600" dirty="0" err="1"/>
              <a:t>Request</a:t>
            </a:r>
            <a:r>
              <a:rPr lang="ru-RU" sz="1600" dirty="0"/>
              <a:t> </a:t>
            </a:r>
            <a:r>
              <a:rPr lang="ru-RU" sz="1600" dirty="0" err="1"/>
              <a:t>Entity</a:t>
            </a:r>
            <a:r>
              <a:rPr lang="ru-RU" sz="1600" dirty="0"/>
              <a:t> </a:t>
            </a:r>
            <a:r>
              <a:rPr lang="ru-RU" sz="1600" dirty="0" err="1"/>
              <a:t>Too</a:t>
            </a:r>
            <a:r>
              <a:rPr lang="ru-RU" sz="1600" dirty="0"/>
              <a:t> </a:t>
            </a:r>
            <a:r>
              <a:rPr lang="ru-RU" sz="1600" dirty="0" err="1"/>
              <a:t>Large</a:t>
            </a:r>
            <a:r>
              <a:rPr lang="ru-RU" sz="1600" dirty="0"/>
              <a:t>). Пример: Если файл размером 10МБ не загружается и падает с 413 — это лимит в </a:t>
            </a:r>
            <a:r>
              <a:rPr lang="ru-RU" sz="1600" dirty="0" err="1"/>
              <a:t>Ingress</a:t>
            </a:r>
            <a:r>
              <a:rPr lang="ru-RU" sz="1600" dirty="0"/>
              <a:t>, а не баг бэкенда.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dirty="0"/>
              <a:t>Логи самого </a:t>
            </a:r>
            <a:r>
              <a:rPr lang="en-US" sz="1600" dirty="0"/>
              <a:t>Ingress </a:t>
            </a:r>
            <a:r>
              <a:rPr lang="ru-RU" sz="1600" dirty="0"/>
              <a:t>находятся в системном поде контроллера (обычно это </a:t>
            </a:r>
            <a:r>
              <a:rPr lang="en-US" sz="1600" dirty="0"/>
              <a:t>Nginx): </a:t>
            </a:r>
            <a:r>
              <a:rPr lang="en-US" sz="1600" dirty="0" err="1"/>
              <a:t>kubectl</a:t>
            </a:r>
            <a:r>
              <a:rPr lang="en-US" sz="1600" dirty="0"/>
              <a:t> logs -n ingress-nginx deployment/ingress-nginx-controller</a:t>
            </a:r>
            <a:endParaRPr lang="ru-RU" sz="16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dirty="0"/>
              <a:t>Либо в </a:t>
            </a:r>
            <a:r>
              <a:rPr lang="en-US" sz="1600" dirty="0"/>
              <a:t>GUI </a:t>
            </a:r>
            <a:r>
              <a:rPr lang="ru-RU" sz="1600" dirty="0"/>
              <a:t>(</a:t>
            </a:r>
            <a:r>
              <a:rPr lang="en-US" sz="1600" dirty="0"/>
              <a:t>Lens</a:t>
            </a:r>
            <a:r>
              <a:rPr lang="ru-RU" sz="1600" dirty="0"/>
              <a:t>)</a:t>
            </a:r>
            <a:r>
              <a:rPr lang="en-US" sz="1600" dirty="0"/>
              <a:t> – </a:t>
            </a:r>
            <a:r>
              <a:rPr lang="ru-RU" sz="1600" dirty="0"/>
              <a:t>логи соответствующего пода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600" b="1" dirty="0"/>
              <a:t>2.</a:t>
            </a:r>
            <a:r>
              <a:rPr lang="ru-RU" sz="1600" b="1" dirty="0"/>
              <a:t> </a:t>
            </a:r>
            <a:r>
              <a:rPr lang="en-US" sz="1600" b="1" dirty="0"/>
              <a:t>Service</a:t>
            </a:r>
            <a:endParaRPr lang="ru-RU" sz="1600" b="1" dirty="0"/>
          </a:p>
          <a:p>
            <a:pPr>
              <a:lnSpc>
                <a:spcPct val="120000"/>
              </a:lnSpc>
              <a:spcBef>
                <a:spcPts val="0"/>
              </a:spcBef>
              <a:buFont typeface="Wingdings" panose="05000000000000000000" pitchFamily="2" charset="2"/>
              <a:buChar char="ü"/>
            </a:pPr>
            <a:r>
              <a:rPr lang="ru-RU" sz="1600" dirty="0"/>
              <a:t>Ошибки 502 / 503. Проверяем, есть ли у Service </a:t>
            </a:r>
            <a:r>
              <a:rPr lang="ru-RU" sz="1600" dirty="0" err="1"/>
              <a:t>Endpoints</a:t>
            </a:r>
            <a:r>
              <a:rPr lang="ru-RU" sz="1600" dirty="0"/>
              <a:t> (не опечатались ли в метках </a:t>
            </a:r>
            <a:r>
              <a:rPr lang="ru-RU" sz="1600" dirty="0" err="1"/>
              <a:t>selector</a:t>
            </a:r>
            <a:r>
              <a:rPr lang="ru-RU" sz="1600" dirty="0"/>
              <a:t>).</a:t>
            </a:r>
            <a:endParaRPr lang="en-US" sz="16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dirty="0" err="1"/>
              <a:t>kubectl</a:t>
            </a:r>
            <a:r>
              <a:rPr lang="ru-RU" sz="1600" dirty="0"/>
              <a:t> </a:t>
            </a:r>
            <a:r>
              <a:rPr lang="ru-RU" sz="1600" dirty="0" err="1"/>
              <a:t>describe</a:t>
            </a:r>
            <a:r>
              <a:rPr lang="ru-RU" sz="1600" dirty="0"/>
              <a:t> </a:t>
            </a:r>
            <a:r>
              <a:rPr lang="ru-RU" sz="1600" dirty="0" err="1"/>
              <a:t>svc</a:t>
            </a:r>
            <a:r>
              <a:rPr lang="ru-RU" sz="1600" dirty="0"/>
              <a:t> имя-вашего-сервиса</a:t>
            </a:r>
            <a:endParaRPr lang="en-US" sz="16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dirty="0"/>
              <a:t>Либо в </a:t>
            </a:r>
            <a:r>
              <a:rPr lang="en-US" sz="1600" dirty="0"/>
              <a:t>GUI </a:t>
            </a:r>
            <a:r>
              <a:rPr lang="ru-RU" sz="1600" dirty="0"/>
              <a:t>(</a:t>
            </a:r>
            <a:r>
              <a:rPr lang="en-US" sz="1600" dirty="0"/>
              <a:t>Lens</a:t>
            </a:r>
            <a:r>
              <a:rPr lang="ru-RU" sz="1600" dirty="0"/>
              <a:t>)</a:t>
            </a:r>
            <a:r>
              <a:rPr lang="en-US" sz="1600" dirty="0"/>
              <a:t> – </a:t>
            </a:r>
            <a:r>
              <a:rPr lang="ru-RU" sz="1600" dirty="0"/>
              <a:t>Network </a:t>
            </a:r>
            <a:r>
              <a:rPr lang="en-US" sz="1600" dirty="0"/>
              <a:t>–&gt;</a:t>
            </a:r>
            <a:r>
              <a:rPr lang="ru-RU" sz="1600" dirty="0"/>
              <a:t> Services</a:t>
            </a:r>
            <a:r>
              <a:rPr lang="en-US" sz="1600" dirty="0"/>
              <a:t> -&gt; Endpoints (</a:t>
            </a:r>
            <a:r>
              <a:rPr lang="ru-RU" sz="1600" dirty="0"/>
              <a:t>может быть пусто)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b="1" dirty="0"/>
              <a:t>3. </a:t>
            </a:r>
            <a:r>
              <a:rPr lang="en-US" sz="1600" b="1" dirty="0"/>
              <a:t>Pod</a:t>
            </a:r>
          </a:p>
          <a:p>
            <a:pPr>
              <a:lnSpc>
                <a:spcPct val="120000"/>
              </a:lnSpc>
              <a:spcBef>
                <a:spcPts val="0"/>
              </a:spcBef>
              <a:buFont typeface="Wingdings" panose="05000000000000000000" pitchFamily="2" charset="2"/>
              <a:buChar char="ü"/>
            </a:pPr>
            <a:r>
              <a:rPr lang="ru-RU" sz="1600" dirty="0"/>
              <a:t>Ошибки 500, падение базы данных, падение самого контейнера (</a:t>
            </a:r>
            <a:r>
              <a:rPr lang="ru-RU" sz="1600" dirty="0" err="1"/>
              <a:t>CrashLoopBackOff</a:t>
            </a:r>
            <a:r>
              <a:rPr lang="ru-RU" sz="1600" dirty="0"/>
              <a:t>). </a:t>
            </a:r>
            <a:br>
              <a:rPr lang="ru-RU" sz="1600" dirty="0"/>
            </a:br>
            <a:r>
              <a:rPr lang="ru-RU" sz="1600" dirty="0"/>
              <a:t>Пример: Если в </a:t>
            </a:r>
            <a:r>
              <a:rPr lang="ru-RU" sz="1600" dirty="0" err="1"/>
              <a:t>Postman</a:t>
            </a:r>
            <a:r>
              <a:rPr lang="ru-RU" sz="1600" dirty="0"/>
              <a:t> прилетает чистый JSON с ошибкой 500 </a:t>
            </a:r>
            <a:r>
              <a:rPr lang="en-US" sz="1600" dirty="0"/>
              <a:t>– </a:t>
            </a:r>
            <a:r>
              <a:rPr lang="ru-RU" sz="1600" dirty="0"/>
              <a:t>Чаще всего причина уже внутри приложения.</a:t>
            </a:r>
            <a:endParaRPr lang="en-US" sz="16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dirty="0" err="1"/>
              <a:t>kubectl</a:t>
            </a:r>
            <a:r>
              <a:rPr lang="ru-RU" sz="1600" dirty="0"/>
              <a:t> </a:t>
            </a:r>
            <a:r>
              <a:rPr lang="ru-RU" sz="1600" dirty="0" err="1"/>
              <a:t>logs</a:t>
            </a:r>
            <a:r>
              <a:rPr lang="ru-RU" sz="1600" dirty="0"/>
              <a:t> имя-пода --</a:t>
            </a:r>
            <a:r>
              <a:rPr lang="ru-RU" sz="1600" dirty="0" err="1"/>
              <a:t>tail</a:t>
            </a:r>
            <a:r>
              <a:rPr lang="ru-RU" sz="1600" dirty="0"/>
              <a:t>=100 –f</a:t>
            </a:r>
            <a:endParaRPr lang="en-US" sz="16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dirty="0"/>
              <a:t>Либо в </a:t>
            </a:r>
            <a:r>
              <a:rPr lang="en-US" sz="1600" dirty="0"/>
              <a:t>GUI </a:t>
            </a:r>
            <a:r>
              <a:rPr lang="ru-RU" sz="1600" dirty="0"/>
              <a:t>(</a:t>
            </a:r>
            <a:r>
              <a:rPr lang="en-US" sz="1600" dirty="0"/>
              <a:t>Lens</a:t>
            </a:r>
            <a:r>
              <a:rPr lang="ru-RU" sz="1600" dirty="0"/>
              <a:t>)</a:t>
            </a:r>
            <a:r>
              <a:rPr lang="en-US" sz="1600" dirty="0"/>
              <a:t> – </a:t>
            </a:r>
            <a:r>
              <a:rPr lang="ru-RU" sz="1600" dirty="0"/>
              <a:t>логи соответствующего пода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1600" dirty="0"/>
              <a:t>Важно убедиться, что запрос вообще дошел до приложения.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1EA662-04F4-EAA9-0885-7CA2FE465B34}"/>
              </a:ext>
            </a:extLst>
          </p:cNvPr>
          <p:cNvSpPr txBox="1"/>
          <p:nvPr/>
        </p:nvSpPr>
        <p:spPr>
          <a:xfrm>
            <a:off x="600456" y="5895647"/>
            <a:ext cx="2346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rgbClr val="FF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6361619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A9F4D-96BC-2466-2222-92062216B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09676A-912F-BF52-4CD3-2BF5424D6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Конфигурация стендов (</a:t>
            </a:r>
            <a:r>
              <a:rPr lang="ru-RU" sz="4000" b="1" dirty="0" err="1">
                <a:solidFill>
                  <a:schemeClr val="accent1">
                    <a:lumMod val="75000"/>
                  </a:schemeClr>
                </a:solidFill>
              </a:rPr>
              <a:t>ConfigMaps</a:t>
            </a:r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 и </a:t>
            </a:r>
            <a:r>
              <a:rPr lang="ru-RU" sz="4000" b="1" dirty="0" err="1">
                <a:solidFill>
                  <a:schemeClr val="accent1">
                    <a:lumMod val="75000"/>
                  </a:schemeClr>
                </a:solidFill>
              </a:rPr>
              <a:t>Secrets</a:t>
            </a:r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)</a:t>
            </a:r>
            <a:endParaRPr lang="ru-RU" sz="43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5031F19-9774-2C2B-E01A-F07500DDA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5512"/>
            <a:ext cx="10600944" cy="4957000"/>
          </a:xfrm>
        </p:spPr>
        <p:txBody>
          <a:bodyPr>
            <a:no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2200" b="1" dirty="0"/>
              <a:t>Источники конфигов в </a:t>
            </a:r>
            <a:r>
              <a:rPr lang="en-US" sz="2200" b="1" dirty="0"/>
              <a:t>K8s:</a:t>
            </a:r>
            <a:endParaRPr lang="ru-RU" sz="2200" b="1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200" b="1" dirty="0" err="1"/>
              <a:t>ConfigMap</a:t>
            </a:r>
            <a:r>
              <a:rPr lang="ru-RU" sz="2200" b="1" dirty="0"/>
              <a:t>:</a:t>
            </a:r>
            <a:r>
              <a:rPr lang="ru-RU" sz="2200" dirty="0"/>
              <a:t> Хранит настройки приложения: параметры конфигурации, </a:t>
            </a:r>
            <a:br>
              <a:rPr lang="ru-RU" sz="2200" dirty="0"/>
            </a:br>
            <a:r>
              <a:rPr lang="ru-RU" sz="2200" dirty="0"/>
              <a:t>URL-адреса сервисов, текстовые файлы, YAML и JSON.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200" b="1" dirty="0"/>
              <a:t>Secret:</a:t>
            </a:r>
            <a:r>
              <a:rPr lang="ru-RU" sz="2200" dirty="0"/>
              <a:t> Хранит конфиденциальные данные (пароли, токены, сертификаты и т.д.). В </a:t>
            </a:r>
            <a:r>
              <a:rPr lang="ru-RU" sz="2200" dirty="0" err="1"/>
              <a:t>Kubernetes</a:t>
            </a:r>
            <a:r>
              <a:rPr lang="ru-RU" sz="2200" dirty="0"/>
              <a:t> они обычно хранятся в кодировке Base64 (это не шифрование).</a:t>
            </a:r>
            <a:endParaRPr lang="en-US" sz="22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2200" dirty="0"/>
              <a:t>Потенциальная проблема (пример): после развертывания </a:t>
            </a:r>
            <a:br>
              <a:rPr lang="ru-RU" sz="2200" dirty="0"/>
            </a:br>
            <a:r>
              <a:rPr lang="ru-RU" sz="2200" dirty="0"/>
              <a:t>на тестовом стенде приложение обращается к API другого </a:t>
            </a:r>
            <a:br>
              <a:rPr lang="ru-RU" sz="2200" dirty="0"/>
            </a:br>
            <a:r>
              <a:rPr lang="ru-RU" sz="2200" dirty="0"/>
              <a:t>окружения, потому что в </a:t>
            </a:r>
            <a:r>
              <a:rPr lang="ru-RU" sz="2200" dirty="0" err="1"/>
              <a:t>ConfigMap</a:t>
            </a:r>
            <a:r>
              <a:rPr lang="ru-RU" sz="2200" dirty="0"/>
              <a:t> остался неправильный URL.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2200" dirty="0"/>
              <a:t>В </a:t>
            </a:r>
            <a:r>
              <a:rPr lang="ru-RU" sz="2200" b="1" dirty="0" err="1"/>
              <a:t>Lens</a:t>
            </a:r>
            <a:r>
              <a:rPr lang="ru-RU" sz="2200" b="1" dirty="0"/>
              <a:t>: </a:t>
            </a:r>
            <a:r>
              <a:rPr lang="ru-RU" sz="2200" dirty="0"/>
              <a:t>При наличии необходимых прав можно открыть </a:t>
            </a:r>
            <a:r>
              <a:rPr lang="ru-RU" sz="2200" b="1" dirty="0"/>
              <a:t>Secret</a:t>
            </a:r>
            <a:r>
              <a:rPr lang="ru-RU" sz="2200" dirty="0"/>
              <a:t> </a:t>
            </a:r>
            <a:br>
              <a:rPr lang="ru-RU" sz="2200" dirty="0"/>
            </a:br>
            <a:r>
              <a:rPr lang="ru-RU" sz="2200" dirty="0"/>
              <a:t>и посмотреть его содержимое в декодированном виде (иконка «глаз»).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sz="2200" dirty="0"/>
              <a:t>После изменения </a:t>
            </a:r>
            <a:r>
              <a:rPr lang="ru-RU" sz="2200" dirty="0" err="1"/>
              <a:t>ConfigMap</a:t>
            </a:r>
            <a:r>
              <a:rPr lang="ru-RU" sz="2200" dirty="0"/>
              <a:t> или Secret приложение не всегда сразу начинает использовать новые значения. Часто требуется перезапуск </a:t>
            </a:r>
            <a:r>
              <a:rPr lang="ru-RU" sz="2200" dirty="0" err="1"/>
              <a:t>Pod</a:t>
            </a:r>
            <a:r>
              <a:rPr lang="ru-RU" sz="2200" dirty="0"/>
              <a:t> или </a:t>
            </a:r>
            <a:r>
              <a:rPr lang="ru-RU" sz="2200" dirty="0" err="1"/>
              <a:t>rollout</a:t>
            </a:r>
            <a:r>
              <a:rPr lang="ru-RU" sz="2200" dirty="0"/>
              <a:t> </a:t>
            </a:r>
            <a:r>
              <a:rPr lang="ru-RU" sz="2200" dirty="0" err="1"/>
              <a:t>Deployment</a:t>
            </a:r>
            <a:r>
              <a:rPr lang="ru-RU" sz="2200" dirty="0"/>
              <a:t>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ru-RU" sz="22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382CAEF-A830-EB7E-C164-0DD7296B7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3842" y="3606161"/>
            <a:ext cx="1615886" cy="18263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928384-470B-E162-707D-69856CB5FF48}"/>
              </a:ext>
            </a:extLst>
          </p:cNvPr>
          <p:cNvSpPr txBox="1"/>
          <p:nvPr/>
        </p:nvSpPr>
        <p:spPr>
          <a:xfrm>
            <a:off x="603504" y="5529887"/>
            <a:ext cx="2346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FF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7380328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3E0E4-F8D6-76D4-3E13-DFDC66E62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7422E2-DA9C-1135-E202-C6CD932CB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Конфигурация стендов (</a:t>
            </a:r>
            <a:r>
              <a:rPr lang="ru-RU" sz="4000" b="1" dirty="0" err="1">
                <a:solidFill>
                  <a:schemeClr val="accent1">
                    <a:lumMod val="75000"/>
                  </a:schemeClr>
                </a:solidFill>
              </a:rPr>
              <a:t>ConfigMaps</a:t>
            </a:r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 и </a:t>
            </a:r>
            <a:r>
              <a:rPr lang="ru-RU" sz="4000" b="1" dirty="0" err="1">
                <a:solidFill>
                  <a:schemeClr val="accent1">
                    <a:lumMod val="75000"/>
                  </a:schemeClr>
                </a:solidFill>
              </a:rPr>
              <a:t>Secrets</a:t>
            </a:r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)</a:t>
            </a:r>
            <a:endParaRPr lang="ru-RU" sz="43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1" name="Объект 10">
            <a:extLst>
              <a:ext uri="{FF2B5EF4-FFF2-40B4-BE49-F238E27FC236}">
                <a16:creationId xmlns:a16="http://schemas.microsoft.com/office/drawing/2014/main" id="{615DBB26-4974-AFF9-FE4F-2FDC394492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98341" y="1471232"/>
            <a:ext cx="8995317" cy="467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4325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5B1E2-71E5-04D9-6873-F6995BD26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1D0A95-2214-4456-D31D-DE15F3FB8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Типичные статусы </a:t>
            </a:r>
            <a:r>
              <a:rPr lang="ru-RU" sz="4000" b="1" dirty="0" err="1">
                <a:solidFill>
                  <a:schemeClr val="accent1">
                    <a:lumMod val="75000"/>
                  </a:schemeClr>
                </a:solidFill>
              </a:rPr>
              <a:t>Pod</a:t>
            </a:r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 и их диагностика</a:t>
            </a:r>
            <a:endParaRPr lang="ru-RU" sz="43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5EC6FC83-94C9-B4DA-A1E2-4289BB2BB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9704"/>
            <a:ext cx="10515600" cy="491852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sz="2400" dirty="0"/>
              <a:t>🟢 </a:t>
            </a:r>
            <a:r>
              <a:rPr lang="ru-RU" sz="2400" b="1" dirty="0" err="1"/>
              <a:t>Running</a:t>
            </a:r>
            <a:r>
              <a:rPr lang="ru-RU" sz="2400" dirty="0"/>
              <a:t> </a:t>
            </a:r>
            <a:r>
              <a:rPr lang="en-US" sz="2400" dirty="0"/>
              <a:t>–</a:t>
            </a:r>
            <a:r>
              <a:rPr lang="ru-RU" sz="2400" dirty="0"/>
              <a:t> контейнер запущен. Если </a:t>
            </a:r>
            <a:r>
              <a:rPr lang="ru-RU" sz="2400" dirty="0" err="1"/>
              <a:t>Pod</a:t>
            </a:r>
            <a:r>
              <a:rPr lang="ru-RU" sz="2400" dirty="0"/>
              <a:t> также находится в состоянии </a:t>
            </a:r>
            <a:r>
              <a:rPr lang="ru-RU" sz="2400" b="1" dirty="0"/>
              <a:t>Ready</a:t>
            </a:r>
            <a:r>
              <a:rPr lang="ru-RU" sz="2400" dirty="0"/>
              <a:t>, приложение готово принимать запросы.</a:t>
            </a:r>
          </a:p>
          <a:p>
            <a:pPr marL="0" indent="0">
              <a:buNone/>
            </a:pPr>
            <a:r>
              <a:rPr lang="ru-RU" sz="2400" dirty="0"/>
              <a:t>🟡 </a:t>
            </a:r>
            <a:r>
              <a:rPr lang="ru-RU" sz="2400" b="1" dirty="0" err="1"/>
              <a:t>Pending</a:t>
            </a:r>
            <a:r>
              <a:rPr lang="ru-RU" sz="2400" dirty="0"/>
              <a:t> </a:t>
            </a:r>
            <a:r>
              <a:rPr lang="en-US" sz="2400" dirty="0"/>
              <a:t>–</a:t>
            </a:r>
            <a:r>
              <a:rPr lang="ru-RU" sz="2400" dirty="0"/>
              <a:t> </a:t>
            </a:r>
            <a:r>
              <a:rPr lang="ru-RU" sz="2400" dirty="0" err="1"/>
              <a:t>Kubernetes</a:t>
            </a:r>
            <a:r>
              <a:rPr lang="ru-RU" sz="2400" dirty="0"/>
              <a:t> пока не может запустить </a:t>
            </a:r>
            <a:r>
              <a:rPr lang="ru-RU" sz="2400" dirty="0" err="1"/>
              <a:t>Pod</a:t>
            </a:r>
            <a:r>
              <a:rPr lang="ru-RU" sz="2400" dirty="0"/>
              <a:t>. Чаще всего не хватает ресурсов (CPU/RAM) или нет подходящей </a:t>
            </a:r>
            <a:r>
              <a:rPr lang="ru-RU" sz="2400" dirty="0" err="1"/>
              <a:t>Worker</a:t>
            </a:r>
            <a:r>
              <a:rPr lang="ru-RU" sz="2400" dirty="0"/>
              <a:t> </a:t>
            </a:r>
            <a:r>
              <a:rPr lang="ru-RU" sz="2400" dirty="0" err="1"/>
              <a:t>Node</a:t>
            </a:r>
            <a:r>
              <a:rPr lang="ru-RU" sz="2400" dirty="0"/>
              <a:t>.</a:t>
            </a:r>
          </a:p>
          <a:p>
            <a:pPr marL="0" indent="0">
              <a:buNone/>
            </a:pPr>
            <a:r>
              <a:rPr lang="ru-RU" sz="2400" dirty="0"/>
              <a:t>🔴 </a:t>
            </a:r>
            <a:r>
              <a:rPr lang="ru-RU" sz="2400" b="1" dirty="0" err="1"/>
              <a:t>ImagePullBackOff</a:t>
            </a:r>
            <a:r>
              <a:rPr lang="ru-RU" sz="2400" dirty="0"/>
              <a:t> </a:t>
            </a:r>
            <a:r>
              <a:rPr lang="en-US" sz="2400" dirty="0"/>
              <a:t>–</a:t>
            </a:r>
            <a:r>
              <a:rPr lang="ru-RU" sz="2400" dirty="0"/>
              <a:t> неверное имя или тег образа; образ отсутствует в </a:t>
            </a:r>
            <a:r>
              <a:rPr lang="ru-RU" sz="2400" dirty="0" err="1"/>
              <a:t>registry</a:t>
            </a:r>
            <a:r>
              <a:rPr lang="ru-RU" sz="2400" dirty="0"/>
              <a:t>; нет доступа к </a:t>
            </a:r>
            <a:r>
              <a:rPr lang="ru-RU" sz="2400" dirty="0" err="1"/>
              <a:t>registry</a:t>
            </a:r>
            <a:r>
              <a:rPr lang="ru-RU" sz="2400" dirty="0"/>
              <a:t>.</a:t>
            </a:r>
            <a:r>
              <a:rPr lang="en-US" sz="2400" dirty="0"/>
              <a:t> </a:t>
            </a:r>
            <a:r>
              <a:rPr lang="ru-RU" sz="2400" dirty="0"/>
              <a:t>K8s не может скачать его из реестра. </a:t>
            </a:r>
          </a:p>
          <a:p>
            <a:pPr marL="0" indent="0">
              <a:buNone/>
            </a:pPr>
            <a:r>
              <a:rPr lang="ru-RU" sz="2400" dirty="0"/>
              <a:t>🔴 </a:t>
            </a:r>
            <a:r>
              <a:rPr lang="ru-RU" sz="2400" b="1" dirty="0" err="1"/>
              <a:t>CrashLoopBackOff</a:t>
            </a:r>
            <a:r>
              <a:rPr lang="ru-RU" sz="2400" dirty="0"/>
              <a:t> </a:t>
            </a:r>
            <a:r>
              <a:rPr lang="en-US" sz="2400" dirty="0"/>
              <a:t>–</a:t>
            </a:r>
            <a:r>
              <a:rPr lang="ru-RU" sz="2400" dirty="0"/>
              <a:t> приложение запускается, завершается с ошибкой и </a:t>
            </a:r>
            <a:r>
              <a:rPr lang="ru-RU" sz="2400" dirty="0" err="1"/>
              <a:t>Kubernetes</a:t>
            </a:r>
            <a:r>
              <a:rPr lang="ru-RU" sz="2400" dirty="0"/>
              <a:t> постоянно пытается перезапустить его.</a:t>
            </a:r>
          </a:p>
          <a:p>
            <a:r>
              <a:rPr lang="en-US" sz="2400" dirty="0" err="1"/>
              <a:t>kubectl</a:t>
            </a:r>
            <a:r>
              <a:rPr lang="en-US" sz="2400" dirty="0"/>
              <a:t> logs &lt;pod&gt; (</a:t>
            </a:r>
            <a:r>
              <a:rPr lang="ru-RU" sz="2400" dirty="0"/>
              <a:t>смотрим, что сломалось сейчас).</a:t>
            </a:r>
          </a:p>
          <a:p>
            <a:r>
              <a:rPr lang="en-US" sz="2400" dirty="0" err="1"/>
              <a:t>kubectl</a:t>
            </a:r>
            <a:r>
              <a:rPr lang="en-US" sz="2400" dirty="0"/>
              <a:t> logs &lt;pod&gt; --previous (</a:t>
            </a:r>
            <a:r>
              <a:rPr lang="ru-RU" sz="2400" dirty="0"/>
              <a:t>смотрим, что сломалось ДО перезапуска, часто там настоящая ошибка).</a:t>
            </a:r>
          </a:p>
          <a:p>
            <a:r>
              <a:rPr lang="en-US" sz="2400" dirty="0" err="1"/>
              <a:t>kubectl</a:t>
            </a:r>
            <a:r>
              <a:rPr lang="en-US" sz="2400" dirty="0"/>
              <a:t> describe pod &lt;pod&gt; (</a:t>
            </a:r>
            <a:r>
              <a:rPr lang="ru-RU" sz="2400" dirty="0"/>
              <a:t>смотрим события - почему </a:t>
            </a:r>
            <a:r>
              <a:rPr lang="en-US" sz="2400" dirty="0"/>
              <a:t>K8s </a:t>
            </a:r>
            <a:r>
              <a:rPr lang="ru-RU" sz="2400" dirty="0"/>
              <a:t>его убил: </a:t>
            </a:r>
            <a:r>
              <a:rPr lang="en-US" sz="2400" dirty="0" err="1"/>
              <a:t>OOMKilled</a:t>
            </a:r>
            <a:r>
              <a:rPr lang="en-US" sz="2400" dirty="0"/>
              <a:t>, Liveness probe failed).</a:t>
            </a:r>
            <a:endParaRPr lang="ru-RU" sz="2400" dirty="0"/>
          </a:p>
          <a:p>
            <a:pPr marL="0" indent="0">
              <a:buNone/>
            </a:pPr>
            <a:r>
              <a:rPr lang="ru-RU" sz="2400" dirty="0"/>
              <a:t>Обращайте внимание не только на статус </a:t>
            </a:r>
            <a:r>
              <a:rPr lang="ru-RU" sz="2400" dirty="0" err="1"/>
              <a:t>Pod</a:t>
            </a:r>
            <a:r>
              <a:rPr lang="ru-RU" sz="2400" dirty="0"/>
              <a:t>, но и на колонку </a:t>
            </a:r>
            <a:r>
              <a:rPr lang="ru-RU" sz="2400" b="1" dirty="0"/>
              <a:t>READY</a:t>
            </a:r>
            <a:r>
              <a:rPr lang="ru-RU" sz="2400" dirty="0"/>
              <a:t>. </a:t>
            </a:r>
            <a:r>
              <a:rPr lang="ru-RU" sz="2400" dirty="0" err="1"/>
              <a:t>Pod</a:t>
            </a:r>
            <a:r>
              <a:rPr lang="ru-RU" sz="2400" dirty="0"/>
              <a:t> может быть </a:t>
            </a:r>
            <a:r>
              <a:rPr lang="ru-RU" sz="2400" b="1" dirty="0" err="1"/>
              <a:t>Running</a:t>
            </a:r>
            <a:r>
              <a:rPr lang="ru-RU" sz="2400" dirty="0"/>
              <a:t>, но еще не готов принимать трафик.</a:t>
            </a:r>
          </a:p>
          <a:p>
            <a:pPr marL="0" indent="0">
              <a:buNone/>
            </a:pPr>
            <a:endParaRPr lang="ru-RU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0D3F48-6CCC-C80E-591D-B7F3E59773A7}"/>
              </a:ext>
            </a:extLst>
          </p:cNvPr>
          <p:cNvSpPr txBox="1"/>
          <p:nvPr/>
        </p:nvSpPr>
        <p:spPr>
          <a:xfrm>
            <a:off x="603504" y="5348296"/>
            <a:ext cx="2346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FF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3950149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D6E93-0DD5-DC9B-0B95-C102614F6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C50159-B316-5DA7-23A8-3AC299F65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solidFill>
                  <a:schemeClr val="accent1">
                    <a:lumMod val="75000"/>
                  </a:schemeClr>
                </a:solidFill>
              </a:rPr>
              <a:t>Readiness </a:t>
            </a:r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и 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</a:rPr>
              <a:t>Liveness</a:t>
            </a:r>
            <a:endParaRPr lang="ru-RU" sz="43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BCD9C00A-8E5C-A5CF-335F-189B544F4F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970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 err="1"/>
              <a:t>Kubernetes</a:t>
            </a:r>
            <a:r>
              <a:rPr lang="ru-RU" sz="2400" dirty="0"/>
              <a:t> проверяет контейнер двумя видами проверок:</a:t>
            </a:r>
          </a:p>
          <a:p>
            <a:r>
              <a:rPr lang="en-US" sz="2400" dirty="0"/>
              <a:t>Readiness Probe</a:t>
            </a:r>
            <a:r>
              <a:rPr lang="ru-RU" sz="2400" dirty="0"/>
              <a:t> – «Можно ли уже отправлять в </a:t>
            </a:r>
            <a:r>
              <a:rPr lang="ru-RU" sz="2400" dirty="0" err="1"/>
              <a:t>Pod</a:t>
            </a:r>
            <a:r>
              <a:rPr lang="ru-RU" sz="2400" dirty="0"/>
              <a:t> пользовательские запросы?». Проверка не прошла: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ru-RU" sz="2000" dirty="0" err="1"/>
              <a:t>Pod</a:t>
            </a:r>
            <a:r>
              <a:rPr lang="ru-RU" sz="2000" dirty="0"/>
              <a:t> продолжает работать </a:t>
            </a:r>
          </a:p>
          <a:p>
            <a:pPr lvl="1">
              <a:buFont typeface="Calibri" panose="020F0502020204030204" pitchFamily="34" charset="0"/>
              <a:buChar char="×"/>
            </a:pPr>
            <a:r>
              <a:rPr lang="ru-RU" sz="2000" dirty="0"/>
              <a:t>Service </a:t>
            </a:r>
            <a:r>
              <a:rPr lang="ru-RU" sz="2000" b="1" dirty="0"/>
              <a:t>не направляет</a:t>
            </a:r>
            <a:r>
              <a:rPr lang="ru-RU" sz="2000" dirty="0"/>
              <a:t> на него трафик</a:t>
            </a:r>
          </a:p>
          <a:p>
            <a:r>
              <a:rPr lang="en-US" sz="2400" dirty="0"/>
              <a:t>Liveness Probe</a:t>
            </a:r>
            <a:r>
              <a:rPr lang="ru-RU" sz="2400" dirty="0"/>
              <a:t> – «Живо ли приложение?». Проверка не прошла:</a:t>
            </a:r>
          </a:p>
          <a:p>
            <a:pPr lvl="1"/>
            <a:r>
              <a:rPr lang="ru-RU" sz="2000" dirty="0" err="1"/>
              <a:t>Kubernetes</a:t>
            </a:r>
            <a:r>
              <a:rPr lang="ru-RU" sz="2000" dirty="0"/>
              <a:t> перезапускает контейнер.</a:t>
            </a:r>
          </a:p>
          <a:p>
            <a:pPr marL="0" lvl="1" indent="0">
              <a:buNone/>
            </a:pPr>
            <a:r>
              <a:rPr lang="ru-RU" dirty="0"/>
              <a:t>Service</a:t>
            </a:r>
            <a:r>
              <a:rPr lang="ru-RU" sz="2000" dirty="0"/>
              <a:t> отправляет запросы только в </a:t>
            </a:r>
            <a:r>
              <a:rPr lang="ru-RU" sz="2000" dirty="0" err="1"/>
              <a:t>Pod</a:t>
            </a:r>
            <a:r>
              <a:rPr lang="ru-RU" sz="2000" dirty="0"/>
              <a:t>, прошедшие </a:t>
            </a:r>
            <a:r>
              <a:rPr lang="ru-RU" sz="2000" dirty="0" err="1"/>
              <a:t>Readiness</a:t>
            </a:r>
            <a:r>
              <a:rPr lang="ru-RU" sz="2000" dirty="0"/>
              <a:t>.</a:t>
            </a:r>
          </a:p>
          <a:p>
            <a:pPr lvl="1"/>
            <a:endParaRPr lang="ru-RU" sz="2000" dirty="0"/>
          </a:p>
          <a:p>
            <a:pPr lvl="1"/>
            <a:endParaRPr lang="ru-RU" sz="2000" dirty="0"/>
          </a:p>
          <a:p>
            <a:pPr marL="457200" lvl="1" indent="0">
              <a:buNone/>
            </a:pPr>
            <a:endParaRPr lang="ru-RU" sz="2000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17D77DD7-BF0D-4C5B-AD4E-A887B8E6C3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9147090"/>
              </p:ext>
            </p:extLst>
          </p:nvPr>
        </p:nvGraphicFramePr>
        <p:xfrm>
          <a:off x="2256536" y="4689912"/>
          <a:ext cx="7678928" cy="16749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4712">
                  <a:extLst>
                    <a:ext uri="{9D8B030D-6E8A-4147-A177-3AD203B41FA5}">
                      <a16:colId xmlns:a16="http://schemas.microsoft.com/office/drawing/2014/main" val="1801789573"/>
                    </a:ext>
                  </a:extLst>
                </a:gridCol>
                <a:gridCol w="4014216">
                  <a:extLst>
                    <a:ext uri="{9D8B030D-6E8A-4147-A177-3AD203B41FA5}">
                      <a16:colId xmlns:a16="http://schemas.microsoft.com/office/drawing/2014/main" val="130156948"/>
                    </a:ext>
                  </a:extLst>
                </a:gridCol>
              </a:tblGrid>
              <a:tr h="394787">
                <a:tc>
                  <a:txBody>
                    <a:bodyPr/>
                    <a:lstStyle/>
                    <a:p>
                      <a:r>
                        <a:rPr lang="ru-RU" dirty="0"/>
                        <a:t>Симптом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Возможная причина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132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err="1"/>
                        <a:t>Pod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Running</a:t>
                      </a:r>
                      <a:r>
                        <a:rPr lang="ru-RU" dirty="0"/>
                        <a:t>, но приложение недоступно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Readiness</a:t>
                      </a:r>
                      <a:r>
                        <a:rPr lang="ru-RU" dirty="0"/>
                        <a:t> не проходит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496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Контейнер постоянно перезапускается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Liveness</a:t>
                      </a:r>
                      <a:r>
                        <a:rPr lang="ru-RU" dirty="0"/>
                        <a:t> не проходит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4095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46367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9C301-43F9-4B41-1C91-3758DE63A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824129-7D87-1090-2B4D-E21FB89DC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solidFill>
                  <a:schemeClr val="accent1">
                    <a:lumMod val="75000"/>
                  </a:schemeClr>
                </a:solidFill>
              </a:rPr>
              <a:t>Readiness </a:t>
            </a:r>
            <a:r>
              <a:rPr lang="ru-RU" sz="4000" b="1" dirty="0">
                <a:solidFill>
                  <a:schemeClr val="accent1">
                    <a:lumMod val="75000"/>
                  </a:schemeClr>
                </a:solidFill>
              </a:rPr>
              <a:t>и 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</a:rPr>
              <a:t>Liveness</a:t>
            </a:r>
            <a:endParaRPr lang="ru-RU" sz="43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1B3F58A2-0BD9-BB93-553B-7E4CCFD589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9705"/>
            <a:ext cx="10515600" cy="4351338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endParaRPr lang="ru-RU" sz="2000" dirty="0"/>
          </a:p>
          <a:p>
            <a:pPr lvl="1"/>
            <a:endParaRPr lang="ru-RU" sz="2000" dirty="0"/>
          </a:p>
          <a:p>
            <a:pPr marL="457200" lvl="1" indent="0">
              <a:buNone/>
            </a:pPr>
            <a:endParaRPr lang="ru-RU" sz="2000" dirty="0"/>
          </a:p>
        </p:txBody>
      </p:sp>
      <p:pic>
        <p:nvPicPr>
          <p:cNvPr id="6" name="Рисунок 5" descr="Keeping Kubernetes Healthy: Liveness and Readiness Probe Explained | by  Sachinadi | Medium">
            <a:extLst>
              <a:ext uri="{FF2B5EF4-FFF2-40B4-BE49-F238E27FC236}">
                <a16:creationId xmlns:a16="http://schemas.microsoft.com/office/drawing/2014/main" id="{25698650-05AF-B60F-AD10-0701511F4B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171" y="1602693"/>
            <a:ext cx="9141714" cy="4512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5674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B2C69-6495-955C-3B8E-E21B1BC1A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839C62-5C80-DE94-B703-E98A26C4B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300" b="1" dirty="0">
                <a:solidFill>
                  <a:schemeClr val="accent1">
                    <a:lumMod val="75000"/>
                  </a:schemeClr>
                </a:solidFill>
              </a:rPr>
              <a:t>Практика с </a:t>
            </a:r>
            <a:r>
              <a:rPr lang="en-US" sz="4300" b="1" dirty="0" err="1">
                <a:solidFill>
                  <a:schemeClr val="accent1">
                    <a:lumMod val="75000"/>
                  </a:schemeClr>
                </a:solidFill>
              </a:rPr>
              <a:t>Minikube</a:t>
            </a:r>
            <a:endParaRPr lang="ru-RU" sz="43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109560A-1BC3-CD83-7F1C-32EF7082D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448"/>
            <a:ext cx="10515600" cy="472147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Для тех, кто хочет лучше разобраться в </a:t>
            </a:r>
            <a:r>
              <a:rPr lang="ru-RU" dirty="0" err="1"/>
              <a:t>Kubernetes</a:t>
            </a:r>
            <a:r>
              <a:rPr lang="ru-RU" dirty="0"/>
              <a:t>, рекомендуется самостоятельно развернуть локальный кластер </a:t>
            </a:r>
            <a:r>
              <a:rPr lang="ru-RU" b="1" dirty="0" err="1"/>
              <a:t>Minikube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b="1" dirty="0" err="1"/>
              <a:t>Minikube</a:t>
            </a:r>
            <a:r>
              <a:rPr lang="ru-RU" dirty="0"/>
              <a:t> позволяет запустить полноценный одноузловой </a:t>
            </a:r>
            <a:r>
              <a:rPr lang="ru-RU" dirty="0" err="1"/>
              <a:t>Kubernetes</a:t>
            </a:r>
            <a:r>
              <a:rPr lang="ru-RU" dirty="0"/>
              <a:t>-кластер на обычном компьютере (в виртуальной машине или контейнере) и безопасно экспериментировать с его настройкой.</a:t>
            </a:r>
          </a:p>
          <a:p>
            <a:pPr marL="0" indent="0">
              <a:buNone/>
            </a:pPr>
            <a:r>
              <a:rPr lang="ru-RU" dirty="0"/>
              <a:t>Он отлично подходит для изучения </a:t>
            </a:r>
            <a:r>
              <a:rPr lang="ru-RU" dirty="0" err="1"/>
              <a:t>Kubernetes</a:t>
            </a:r>
            <a:r>
              <a:rPr lang="ru-RU" dirty="0"/>
              <a:t>, проверки конфигураций и локальной разработки.</a:t>
            </a:r>
          </a:p>
          <a:p>
            <a:pPr marL="0" indent="0">
              <a:buNone/>
            </a:pPr>
            <a:r>
              <a:rPr lang="ru-RU" dirty="0"/>
              <a:t>На практической части мы развернем </a:t>
            </a:r>
            <a:r>
              <a:rPr lang="ru-RU" dirty="0" err="1"/>
              <a:t>Minikube</a:t>
            </a:r>
            <a:r>
              <a:rPr lang="ru-RU" dirty="0"/>
              <a:t>, создадим свое первое приложение – </a:t>
            </a:r>
            <a:r>
              <a:rPr lang="ru-RU" b="1" dirty="0"/>
              <a:t>«Банк котиков»</a:t>
            </a:r>
            <a:r>
              <a:rPr lang="ru-RU" dirty="0"/>
              <a:t> – и увидим, как работают </a:t>
            </a:r>
            <a:r>
              <a:rPr lang="ru-RU" dirty="0" err="1"/>
              <a:t>Pod</a:t>
            </a:r>
            <a:r>
              <a:rPr lang="ru-RU" dirty="0"/>
              <a:t>, </a:t>
            </a:r>
            <a:r>
              <a:rPr lang="ru-RU" dirty="0" err="1"/>
              <a:t>Deployment</a:t>
            </a:r>
            <a:r>
              <a:rPr lang="ru-RU" dirty="0"/>
              <a:t>, Service, </a:t>
            </a:r>
            <a:r>
              <a:rPr lang="ru-RU" dirty="0" err="1"/>
              <a:t>Ingress</a:t>
            </a:r>
            <a:r>
              <a:rPr lang="ru-RU" dirty="0"/>
              <a:t>, </a:t>
            </a:r>
            <a:r>
              <a:rPr lang="ru-RU" dirty="0" err="1"/>
              <a:t>ConfigMap</a:t>
            </a:r>
            <a:r>
              <a:rPr lang="ru-RU" dirty="0"/>
              <a:t> и другие компоненты </a:t>
            </a:r>
            <a:r>
              <a:rPr lang="ru-RU" dirty="0" err="1"/>
              <a:t>Kubernetes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dirty="0"/>
              <a:t>Главная цель практики — перестать бояться </a:t>
            </a:r>
            <a:r>
              <a:rPr lang="ru-RU" dirty="0" err="1"/>
              <a:t>Kubernetes</a:t>
            </a:r>
            <a:r>
              <a:rPr lang="ru-RU" dirty="0"/>
              <a:t> и научиться уверенно пользоваться им в повседневной работе QA.</a:t>
            </a:r>
          </a:p>
        </p:txBody>
      </p:sp>
    </p:spTree>
    <p:extLst>
      <p:ext uri="{BB962C8B-B14F-4D97-AF65-F5344CB8AC3E}">
        <p14:creationId xmlns:p14="http://schemas.microsoft.com/office/powerpoint/2010/main" val="216137088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9700</TotalTime>
  <Words>2195</Words>
  <Application>Microsoft Office PowerPoint</Application>
  <PresentationFormat>Широкоэкранный</PresentationFormat>
  <Paragraphs>165</Paragraphs>
  <Slides>26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31" baseType="lpstr">
      <vt:lpstr>Arial</vt:lpstr>
      <vt:lpstr>Calibri</vt:lpstr>
      <vt:lpstr>Calibri Light</vt:lpstr>
      <vt:lpstr>Wingdings</vt:lpstr>
      <vt:lpstr>Тема Office</vt:lpstr>
      <vt:lpstr>K8s взглядом специалиста по качеству</vt:lpstr>
      <vt:lpstr>Что это?</vt:lpstr>
      <vt:lpstr>Зачем нужен k8s?</vt:lpstr>
      <vt:lpstr>Основные компоненты</vt:lpstr>
      <vt:lpstr>Основные компоненты. Control Plane</vt:lpstr>
      <vt:lpstr>Основные компоненты. Worker node</vt:lpstr>
      <vt:lpstr>Основные компоненты. Context</vt:lpstr>
      <vt:lpstr>Основные компоненты. Namespace</vt:lpstr>
      <vt:lpstr>Общие концепции. Декларативный подход</vt:lpstr>
      <vt:lpstr>Общие концепции. ReplicaSet</vt:lpstr>
      <vt:lpstr>Общие концепции. Deployment</vt:lpstr>
      <vt:lpstr>Общие концепции. Deployment</vt:lpstr>
      <vt:lpstr>*Процесс внесения изменений в состояние</vt:lpstr>
      <vt:lpstr>Общие концепции. Kubernetes Service</vt:lpstr>
      <vt:lpstr>Общие концепции. Kubernetes Service</vt:lpstr>
      <vt:lpstr>Общие концепции. Kubernetes Service</vt:lpstr>
      <vt:lpstr>Общие концепции. Ingress</vt:lpstr>
      <vt:lpstr>Общие концепции. Ingress</vt:lpstr>
      <vt:lpstr>Поиск ошибок в цепочке Ingress-Service-Pod</vt:lpstr>
      <vt:lpstr>Поиск ошибок в цепочке Ingress-Service-Pod</vt:lpstr>
      <vt:lpstr>Конфигурация стендов (ConfigMaps и Secrets)</vt:lpstr>
      <vt:lpstr>Конфигурация стендов (ConfigMaps и Secrets)</vt:lpstr>
      <vt:lpstr>Типичные статусы Pod и их диагностика</vt:lpstr>
      <vt:lpstr>Readiness и Liveness</vt:lpstr>
      <vt:lpstr>Readiness и Liveness</vt:lpstr>
      <vt:lpstr>Практика с Minikube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Алена Собина</dc:creator>
  <cp:lastModifiedBy>Алена Собина</cp:lastModifiedBy>
  <cp:revision>90</cp:revision>
  <dcterms:created xsi:type="dcterms:W3CDTF">2026-07-03T04:37:23Z</dcterms:created>
  <dcterms:modified xsi:type="dcterms:W3CDTF">2026-07-15T17:22:51Z</dcterms:modified>
</cp:coreProperties>
</file>