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57" r:id="rId5"/>
    <p:sldId id="258" r:id="rId6"/>
    <p:sldId id="261" r:id="rId7"/>
    <p:sldId id="278" r:id="rId8"/>
    <p:sldId id="279" r:id="rId9"/>
    <p:sldId id="263" r:id="rId10"/>
    <p:sldId id="265" r:id="rId11"/>
    <p:sldId id="266" r:id="rId12"/>
    <p:sldId id="264" r:id="rId13"/>
    <p:sldId id="260" r:id="rId14"/>
    <p:sldId id="267" r:id="rId15"/>
    <p:sldId id="274" r:id="rId16"/>
    <p:sldId id="268" r:id="rId17"/>
    <p:sldId id="269" r:id="rId18"/>
    <p:sldId id="273" r:id="rId19"/>
    <p:sldId id="270" r:id="rId20"/>
    <p:sldId id="271" r:id="rId21"/>
    <p:sldId id="272" r:id="rId22"/>
    <p:sldId id="275" r:id="rId23"/>
    <p:sldId id="277" r:id="rId24"/>
    <p:sldId id="280" r:id="rId25"/>
    <p:sldId id="281" r:id="rId26"/>
    <p:sldId id="276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19ABB-629B-BE3D-0969-EFA02880A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43CBF-8275-0548-CC21-9D9D33C30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16748-57CC-1BE2-CB13-A137FE26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AE57A8-0FED-7B07-8726-4259B9B2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8A5708-92BD-7AAE-60A3-54707ADF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0A1F4-6006-6019-23B0-35D4735A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4F196-33C1-AF63-9F83-0F18E915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7FB51-E8EF-3484-03DC-1545C05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50F4DF-56AE-149A-9129-D1E22ACF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548275-C2FD-0D60-B204-60DEF5B5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65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7F08BC-B20E-4DF3-3247-8199E898D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58AC5-5816-E0AD-2F73-8337DA71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649311-0EE0-8D17-ADD9-DD3ED6E0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2F322-709B-F179-DCFE-AA1A8E0A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D4E44-AE15-1F54-97BC-1DB89B7C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DF857-35DC-6E89-2DB6-3AC1DF50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09A46-E308-F0B2-D7A1-30A22ED80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EE2410-9E67-E70F-0067-26B821CF9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F692C9-D0B3-46E0-7B72-B1D5077E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AEC304-54E5-7827-5842-29D57CC6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6E3C7-15AA-B7C0-0583-EF284EE2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75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E9381-FF0E-69E9-1542-09D08A4D8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C5D5D-CB5D-DD04-AA00-B26910E9F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780D45-AA96-3B15-C5CB-CAC399B7A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4A92ED-0F99-3AF6-C95D-9B0304CE3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0DCC5F-EA02-9CA3-7768-B8C822A35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1F9A82-997F-A589-7A55-6CCD0B7B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1B2454-A946-5284-6631-C5386EA6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E4A86B-9FCF-E824-B0DE-EC4B9BC1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5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4FC13-284D-AF04-2F3A-B504D70E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CF76A5-61C4-138C-8876-B20928B2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FAC579-D24F-F93E-2810-1106E753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DDDEB1-C227-93D0-B5B3-C682B10C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3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8A306D-FB60-76F3-E28B-FC4DFF2E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9C9E3D-A6C1-2FF6-C860-0442D01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DD2218-6844-3191-3C6D-5E4B6319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99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7AE2E-78C7-178E-9819-C7BC83E6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181171-EB53-3F8D-F683-35DCD4A07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D80245-1C01-0DEC-D202-2A2122131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8CF93F-3AAC-FDF6-8C2C-5D8B0AF2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64720-5242-4F30-ED86-845116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A9795A-2615-EB28-8C20-BFB48A52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32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FAA14-36F9-4182-98FA-24CC90ED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A1C291-6E9B-F5C3-300F-2A03CE6EF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62D865-0D24-48C3-97CC-DC0E3AA6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97DFF-01A6-0D53-91EC-89A4E378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275B6E-8538-F121-11E7-013A1F6F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5CDC21-16AE-51E7-7866-5C0E8A30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90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B3E7-E946-618A-B50C-8A24DDA9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0BA08E-F714-E7B6-C0A8-E234050B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A9CC2-824B-4777-81FF-C7FC1EFC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9BB28-E24D-1524-44B0-10E874E6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C8A964-2652-9D7B-94D6-A4F3FCCE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98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4DA4FE6-9FBE-DEAB-567C-F4B1EB7A7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4CA4EE-4EEF-3ABC-63C5-11658517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4502F-67D9-3AD2-3AEF-1EF870C91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9DB5D3-F04A-5378-8C87-42325A76E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8D0C39-176E-017F-5186-CEE7E79D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3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FDED0-2524-B405-858C-178A5550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C4CF30-EE6A-0358-B9A5-A0BB75B72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828358-8BDD-0DBF-128C-D6363C08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AEA6-88FC-4542-B3BF-F11A57CC5938}" type="datetimeFigureOut">
              <a:rPr lang="ru-RU" smtClean="0"/>
              <a:t>14.07.2026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C6891A-FD5C-E089-B882-8C0F2F3C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98368-1739-3D95-C1AA-7BECAEF4A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FDC9-673D-4E3D-B5C9-043B2826EF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859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3D78B-1A8E-39B9-88F7-50FC8ACD9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K8s </a:t>
            </a:r>
            <a:r>
              <a:rPr lang="ru-RU" b="1" dirty="0">
                <a:solidFill>
                  <a:srgbClr val="7030A0"/>
                </a:solidFill>
              </a:rPr>
              <a:t>взглядом специалиста по качеству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80E006-3C6F-16AF-B8CA-F5C4C4F49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Теоретическая часть</a:t>
            </a:r>
          </a:p>
        </p:txBody>
      </p:sp>
    </p:spTree>
    <p:extLst>
      <p:ext uri="{BB962C8B-B14F-4D97-AF65-F5344CB8AC3E}">
        <p14:creationId xmlns:p14="http://schemas.microsoft.com/office/powerpoint/2010/main" val="23317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3D0B8-DBC5-A67F-E8BD-BD389B3A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A2DCC9-D650-FA80-395E-BFD169E5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Kubernetes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это портативная расширяемая платформа с открытым исходным кодом для управления </a:t>
            </a:r>
            <a:r>
              <a:rPr lang="ru-RU" dirty="0" err="1"/>
              <a:t>контейнеризованными</a:t>
            </a:r>
            <a:r>
              <a:rPr lang="ru-RU" dirty="0"/>
              <a:t> рабочими нагрузками и сервисами, которая облегчает как декларативную настройку, так и автоматизацию. 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Kubernetes управляет и запускает контейнеры </a:t>
            </a:r>
            <a:r>
              <a:rPr lang="ru-RU" dirty="0" err="1"/>
              <a:t>Docker</a:t>
            </a:r>
            <a:r>
              <a:rPr lang="ru-RU" dirty="0"/>
              <a:t> на </a:t>
            </a:r>
            <a:r>
              <a:rPr lang="ru-RU" b="1" dirty="0"/>
              <a:t>большом количестве хостов</a:t>
            </a:r>
            <a:r>
              <a:rPr lang="ru-RU" dirty="0"/>
              <a:t>, а так же обеспечивает совместное размещение и репликацию </a:t>
            </a:r>
            <a:r>
              <a:rPr lang="ru-RU" b="1" dirty="0"/>
              <a:t>большого количества контейнеров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Проект был начат Google и теперь поддерживается многими компаниями, среди которых Microsoft, </a:t>
            </a:r>
            <a:r>
              <a:rPr lang="ru-RU" dirty="0" err="1"/>
              <a:t>RedHat</a:t>
            </a:r>
            <a:r>
              <a:rPr lang="ru-RU" dirty="0"/>
              <a:t>, IBM и </a:t>
            </a:r>
            <a:r>
              <a:rPr lang="ru-RU" dirty="0" err="1"/>
              <a:t>Docker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Название Kubernetes происходит от греческого, что означает рулевой или штурман. </a:t>
            </a:r>
          </a:p>
        </p:txBody>
      </p:sp>
      <p:pic>
        <p:nvPicPr>
          <p:cNvPr id="4" name="Рисунок 3" descr="Kubernetes: шпаргалка для собеседования / Хабр">
            <a:extLst>
              <a:ext uri="{FF2B5EF4-FFF2-40B4-BE49-F238E27FC236}">
                <a16:creationId xmlns:a16="http://schemas.microsoft.com/office/drawing/2014/main" id="{F246B9F9-C373-7DB5-4891-2AF772468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92" b="95753" l="3000" r="95750">
                        <a14:foregroundMark x1="36875" y1="21622" x2="30875" y2="66924"/>
                        <a14:foregroundMark x1="30875" y1="66924" x2="76125" y2="47876"/>
                        <a14:foregroundMark x1="76125" y1="47876" x2="75000" y2="36422"/>
                        <a14:foregroundMark x1="73750" y1="32690" x2="72000" y2="28958"/>
                        <a14:foregroundMark x1="67875" y1="22265" x2="64875" y2="19176"/>
                        <a14:foregroundMark x1="61875" y1="19176" x2="36875" y2="25997"/>
                        <a14:foregroundMark x1="22000" y1="46718" x2="34750" y2="81725"/>
                        <a14:foregroundMark x1="34750" y1="81725" x2="73750" y2="56757"/>
                        <a14:foregroundMark x1="73750" y1="56757" x2="45375" y2="18275"/>
                        <a14:foregroundMark x1="45375" y1="18275" x2="13625" y2="48777"/>
                        <a14:foregroundMark x1="13625" y1="48777" x2="30375" y2="84685"/>
                        <a14:foregroundMark x1="30375" y1="84685" x2="72000" y2="74903"/>
                        <a14:foregroundMark x1="72000" y1="74903" x2="82125" y2="33977"/>
                        <a14:foregroundMark x1="82125" y1="33977" x2="78500" y2="28958"/>
                        <a14:foregroundMark x1="63625" y1="16088" x2="81000" y2="42728"/>
                        <a14:foregroundMark x1="81000" y1="42728" x2="83250" y2="73102"/>
                        <a14:foregroundMark x1="82750" y1="73102" x2="64875" y2="95753"/>
                        <a14:foregroundMark x1="30375" y1="95753" x2="56500" y2="92664"/>
                        <a14:foregroundMark x1="9500" y1="60875" x2="9500" y2="60875"/>
                        <a14:foregroundMark x1="7125" y1="63320" x2="7125" y2="60875"/>
                        <a14:foregroundMark x1="7125" y1="59073" x2="7750" y2="54698"/>
                        <a14:foregroundMark x1="36250" y1="11197" x2="42875" y2="8752"/>
                        <a14:foregroundMark x1="44000" y1="8237" x2="47625" y2="5792"/>
                        <a14:foregroundMark x1="50000" y1="5792" x2="55875" y2="12484"/>
                        <a14:foregroundMark x1="55875" y1="12484" x2="55875" y2="12484"/>
                        <a14:foregroundMark x1="95750" y1="65122" x2="95750" y2="65122"/>
                        <a14:foregroundMark x1="94625" y1="63320" x2="94000" y2="54698"/>
                        <a14:foregroundMark x1="93375" y1="53539" x2="93375" y2="53539"/>
                        <a14:foregroundMark x1="3000" y1="63320" x2="3000" y2="63320"/>
                        <a14:foregroundMark x1="67875" y1="35779" x2="37000" y2="50708"/>
                        <a14:foregroundMark x1="37000" y1="50708" x2="33375" y2="43758"/>
                        <a14:foregroundMark x1="33875" y1="42471" x2="28500" y2="70656"/>
                        <a14:foregroundMark x1="22625" y1="70656" x2="53500" y2="38867"/>
                        <a14:foregroundMark x1="54125" y1="37580" x2="54125" y2="57143"/>
                        <a14:foregroundMark x1="57750" y1="76834" x2="42875" y2="41828"/>
                        <a14:foregroundMark x1="41625" y1="30245" x2="40500" y2="62033"/>
                        <a14:foregroundMark x1="44625" y1="60875" x2="41625" y2="46718"/>
                        <a14:foregroundMark x1="52375" y1="44273" x2="44250" y2="77735"/>
                        <a14:foregroundMark x1="44250" y1="77735" x2="50000" y2="63320"/>
                        <a14:foregroundMark x1="60125" y1="63320" x2="51750" y2="44273"/>
                        <a14:foregroundMark x1="69000" y1="38224" x2="38500" y2="46203"/>
                        <a14:foregroundMark x1="38500" y1="46203" x2="73625" y2="25611"/>
                        <a14:foregroundMark x1="73625" y1="25611" x2="69000" y2="44273"/>
                        <a14:foregroundMark x1="40500" y1="49807" x2="42250" y2="35779"/>
                        <a14:foregroundMark x1="42875" y1="34492" x2="29125" y2="43115"/>
                        <a14:foregroundMark x1="29125" y1="42471" x2="21375" y2="38867"/>
                        <a14:foregroundMark x1="21375" y1="38224" x2="18500" y2="34492"/>
                        <a14:foregroundMark x1="17875" y1="34492" x2="50625" y2="33977"/>
                        <a14:foregroundMark x1="50625" y1="33977" x2="59750" y2="65766"/>
                        <a14:foregroundMark x1="59750" y1="65766" x2="33875" y2="65122"/>
                        <a14:foregroundMark x1="33875" y1="68211" x2="67250" y2="75933"/>
                        <a14:foregroundMark x1="67250" y1="75933" x2="59500" y2="64479"/>
                        <a14:foregroundMark x1="61250" y1="78636" x2="65500" y2="57143"/>
                        <a14:foregroundMark x1="66625" y1="52252" x2="73750" y2="60232"/>
                        <a14:foregroundMark x1="73750" y1="57786" x2="67875" y2="72458"/>
                        <a14:foregroundMark x1="70250" y1="52896" x2="67875" y2="67568"/>
                        <a14:foregroundMark x1="64875" y1="71943" x2="64875" y2="71300"/>
                        <a14:foregroundMark x1="64875" y1="68855" x2="64875" y2="66924"/>
                        <a14:foregroundMark x1="44625" y1="74903" x2="67250" y2="84170"/>
                        <a14:foregroundMark x1="67250" y1="74903" x2="64875" y2="79794"/>
                        <a14:foregroundMark x1="23750" y1="33333" x2="23750" y2="35135"/>
                        <a14:foregroundMark x1="39875" y1="22909" x2="45250" y2="19820"/>
                        <a14:foregroundMark x1="45875" y1="19820" x2="33875" y2="30245"/>
                        <a14:foregroundMark x1="20250" y1="40026" x2="41625" y2="17375"/>
                        <a14:foregroundMark x1="56500" y1="9395" x2="56500" y2="9395"/>
                        <a14:foregroundMark x1="55375" y1="18533" x2="25000" y2="30245"/>
                        <a14:foregroundMark x1="23250" y1="31403" x2="22000" y2="33333"/>
                        <a14:foregroundMark x1="22625" y1="36937" x2="57750" y2="11197"/>
                        <a14:foregroundMark x1="56500" y1="13127" x2="45875" y2="33333"/>
                        <a14:foregroundMark x1="39875" y1="62033" x2="39875" y2="620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13782" y="197930"/>
            <a:ext cx="1536945" cy="14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9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643D9-83B6-4E4B-3C12-F0C8B83C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это?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198DE9-19F5-1ADE-94A8-4B613A73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000" b="1" dirty="0"/>
              <a:t>Мониторинг сервисов и распределение нагрузки</a:t>
            </a:r>
            <a:r>
              <a:rPr lang="ru-RU" sz="2000" dirty="0"/>
              <a:t> Может обнаружить контейнер, используя имя DNS или собственный IP-адрес. Если трафик в контейнере высокий, может сбалансировать нагрузку и распределить сетевой трафик, чтобы развертывание было стабильным.</a:t>
            </a:r>
          </a:p>
          <a:p>
            <a:r>
              <a:rPr lang="ru-RU" sz="2000" b="1" dirty="0" err="1"/>
              <a:t>Оркестрация</a:t>
            </a:r>
            <a:r>
              <a:rPr lang="ru-RU" sz="2000" b="1" dirty="0"/>
              <a:t> хранилища</a:t>
            </a:r>
            <a:r>
              <a:rPr lang="ru-RU" sz="2000" dirty="0"/>
              <a:t> Позволяет автоматически смонтировать систему хранения по выбору.</a:t>
            </a:r>
          </a:p>
          <a:p>
            <a:r>
              <a:rPr lang="ru-RU" sz="2000" b="1" dirty="0"/>
              <a:t>Автоматическое развертывание и откаты</a:t>
            </a:r>
            <a:r>
              <a:rPr lang="ru-RU" sz="2000" dirty="0"/>
              <a:t> Можно описать желаемое состояние развернутых контейнеров и изменить фактическое состояние на желаемое. </a:t>
            </a:r>
            <a:endParaRPr lang="en-US" sz="2000" dirty="0"/>
          </a:p>
          <a:p>
            <a:r>
              <a:rPr lang="ru-RU" sz="2000" b="1" dirty="0"/>
              <a:t>Автоматическое распределение нагрузки</a:t>
            </a:r>
            <a:r>
              <a:rPr lang="ru-RU" sz="2000" dirty="0"/>
              <a:t> Вы предоставляете Kubernetes кластер узлов, который он может использовать для запуска контейнерных задач. </a:t>
            </a:r>
            <a:r>
              <a:rPr lang="ru-RU" sz="2000" dirty="0" err="1"/>
              <a:t>Kubernetes</a:t>
            </a:r>
            <a:r>
              <a:rPr lang="ru-RU" sz="2000" dirty="0"/>
              <a:t> может разместить контейнеры на ваших узлах так, чтобы наиболее эффективно использовать ресурсы.</a:t>
            </a:r>
          </a:p>
          <a:p>
            <a:r>
              <a:rPr lang="ru-RU" sz="2000" b="1" dirty="0"/>
              <a:t>Самоконтроль</a:t>
            </a:r>
            <a:r>
              <a:rPr lang="ru-RU" sz="2000" dirty="0"/>
              <a:t> Перезапускает отказавшие контейнеры, заменяет и завершает работу контейнеров, которые не проходят определенную пользователем проверку работоспособности, и не показывает их клиентам, пока они не будут готовы к обслуживанию.</a:t>
            </a:r>
          </a:p>
          <a:p>
            <a:r>
              <a:rPr lang="ru-RU" sz="2000" b="1" dirty="0"/>
              <a:t>Управление конфиденциальной информацией и конфигурацией</a:t>
            </a:r>
            <a:r>
              <a:rPr lang="ru-RU" sz="2000" dirty="0"/>
              <a:t> Kubernetes может хранить и управлять конфиденциальной информацией, такой как пароли, </a:t>
            </a:r>
            <a:r>
              <a:rPr lang="ru-RU" sz="2000" dirty="0" err="1"/>
              <a:t>OAuth</a:t>
            </a:r>
            <a:r>
              <a:rPr lang="ru-RU" sz="2000" dirty="0"/>
              <a:t>-токены и ключи SSH. </a:t>
            </a:r>
          </a:p>
        </p:txBody>
      </p:sp>
    </p:spTree>
    <p:extLst>
      <p:ext uri="{BB962C8B-B14F-4D97-AF65-F5344CB8AC3E}">
        <p14:creationId xmlns:p14="http://schemas.microsoft.com/office/powerpoint/2010/main" val="172276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69D75-625A-FEB6-3919-018D8914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компоненты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49A7AEEA-8BF6-46FE-18A9-CCC300504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7391"/>
          <a:stretch>
            <a:fillRect/>
          </a:stretch>
        </p:blipFill>
        <p:spPr>
          <a:xfrm>
            <a:off x="1048512" y="1929385"/>
            <a:ext cx="9546089" cy="39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8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D8B6C-550C-AA2B-CC25-B1EAD96B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компоненты. </a:t>
            </a:r>
            <a:r>
              <a:rPr lang="en-US" dirty="0"/>
              <a:t>Control Plane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3A014-B51F-6221-10C5-E5B01B616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API Server</a:t>
            </a:r>
            <a:r>
              <a:rPr lang="ru-RU" dirty="0"/>
              <a:t> — единственная точка входа. Всё</a:t>
            </a:r>
            <a:r>
              <a:rPr lang="en-US" dirty="0"/>
              <a:t> </a:t>
            </a:r>
            <a:r>
              <a:rPr lang="ru-RU" dirty="0"/>
              <a:t>управление через </a:t>
            </a:r>
            <a:r>
              <a:rPr lang="ru-RU" dirty="0" err="1"/>
              <a:t>kubectl</a:t>
            </a:r>
            <a:r>
              <a:rPr lang="ru-RU" dirty="0"/>
              <a:t> (инструмент командной строки) или через CI/CD-</a:t>
            </a:r>
            <a:r>
              <a:rPr lang="ru-RU" dirty="0" err="1"/>
              <a:t>пайплайн</a:t>
            </a:r>
            <a:r>
              <a:rPr lang="ru-RU" dirty="0"/>
              <a:t>, проходит через него. </a:t>
            </a:r>
          </a:p>
          <a:p>
            <a:pPr marL="0" indent="0">
              <a:buNone/>
            </a:pPr>
            <a:r>
              <a:rPr lang="ru-RU" b="1" dirty="0" err="1"/>
              <a:t>Scheduler</a:t>
            </a:r>
            <a:r>
              <a:rPr lang="ru-RU" dirty="0"/>
              <a:t> решает, на каком узле запускать новый под, анализируя доступные ресурсы. </a:t>
            </a:r>
          </a:p>
          <a:p>
            <a:pPr marL="0" indent="0">
              <a:buNone/>
            </a:pPr>
            <a:r>
              <a:rPr lang="ru-RU" b="1" dirty="0" err="1"/>
              <a:t>Controller</a:t>
            </a:r>
            <a:r>
              <a:rPr lang="ru-RU" b="1" dirty="0"/>
              <a:t> Manager</a:t>
            </a:r>
            <a:r>
              <a:rPr lang="ru-RU" dirty="0"/>
              <a:t> — запускает процессы приведения текущего состояния кластера к желаемому (контроллеры: количество реплик, связь сервисов и подов, сбои нод и т.д.). Здесь: </a:t>
            </a:r>
            <a:r>
              <a:rPr lang="ru-RU" dirty="0" err="1"/>
              <a:t>ReplicaSet</a:t>
            </a:r>
            <a:r>
              <a:rPr lang="ru-RU" dirty="0"/>
              <a:t> </a:t>
            </a:r>
            <a:r>
              <a:rPr lang="ru-RU" dirty="0" err="1"/>
              <a:t>Controller</a:t>
            </a:r>
            <a:r>
              <a:rPr lang="ru-RU" dirty="0"/>
              <a:t>, 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Controller</a:t>
            </a:r>
            <a:r>
              <a:rPr lang="ru-RU" dirty="0"/>
              <a:t>, </a:t>
            </a:r>
            <a:r>
              <a:rPr lang="ru-RU" dirty="0" err="1"/>
              <a:t>Node</a:t>
            </a:r>
            <a:r>
              <a:rPr lang="ru-RU" dirty="0"/>
              <a:t> </a:t>
            </a:r>
            <a:r>
              <a:rPr lang="ru-RU" dirty="0" err="1"/>
              <a:t>Controller</a:t>
            </a:r>
            <a:r>
              <a:rPr lang="ru-RU" dirty="0"/>
              <a:t> и др.</a:t>
            </a:r>
          </a:p>
          <a:p>
            <a:pPr marL="0" indent="0">
              <a:buNone/>
            </a:pPr>
            <a:r>
              <a:rPr lang="ru-RU" b="1" dirty="0" err="1"/>
              <a:t>etcd</a:t>
            </a:r>
            <a:r>
              <a:rPr lang="ru-RU" dirty="0"/>
              <a:t> — распределённое </a:t>
            </a:r>
            <a:r>
              <a:rPr lang="ru-RU" dirty="0" err="1"/>
              <a:t>key-value</a:t>
            </a:r>
            <a:r>
              <a:rPr lang="ru-RU" dirty="0"/>
              <a:t> хранилище, где хранится </a:t>
            </a:r>
            <a:r>
              <a:rPr lang="ru-RU" b="1" dirty="0"/>
              <a:t>всё состояние кластера</a:t>
            </a:r>
            <a:r>
              <a:rPr lang="ru-RU" dirty="0"/>
              <a:t>. Потеряете </a:t>
            </a:r>
            <a:r>
              <a:rPr lang="ru-RU" dirty="0" err="1"/>
              <a:t>etcd</a:t>
            </a:r>
            <a:r>
              <a:rPr lang="ru-RU" dirty="0"/>
              <a:t> без бэкапа — потеряете кластер.</a:t>
            </a:r>
          </a:p>
        </p:txBody>
      </p:sp>
    </p:spTree>
    <p:extLst>
      <p:ext uri="{BB962C8B-B14F-4D97-AF65-F5344CB8AC3E}">
        <p14:creationId xmlns:p14="http://schemas.microsoft.com/office/powerpoint/2010/main" val="7138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C3DF3-456D-AFA7-A0A8-BF08BE9A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компоненты. </a:t>
            </a:r>
            <a:r>
              <a:rPr lang="en-US" dirty="0"/>
              <a:t>Worker node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B83D57-FCCA-3914-F846-2D98B5D2B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pod</a:t>
            </a:r>
            <a:r>
              <a:rPr lang="en-US" dirty="0"/>
              <a:t> – </a:t>
            </a:r>
            <a:r>
              <a:rPr lang="ru-RU" dirty="0"/>
              <a:t>это абстрактный объект Kubernetes, представляющий собой группу из одного или нескольких контейнеров приложения. Контейнеры внутри </a:t>
            </a:r>
            <a:r>
              <a:rPr lang="ru-RU" dirty="0" err="1"/>
              <a:t>Pod</a:t>
            </a:r>
            <a:r>
              <a:rPr lang="ru-RU" dirty="0"/>
              <a:t> совместно используют сеть и хранилище.</a:t>
            </a:r>
            <a:endParaRPr lang="en-US" b="1" dirty="0"/>
          </a:p>
          <a:p>
            <a:pPr marL="0" indent="0">
              <a:buNone/>
            </a:pPr>
            <a:r>
              <a:rPr lang="ru-RU" b="1" dirty="0" err="1"/>
              <a:t>kubelet</a:t>
            </a:r>
            <a:r>
              <a:rPr lang="ru-RU" dirty="0"/>
              <a:t> — агент на ноде, который отслеживает </a:t>
            </a:r>
            <a:r>
              <a:rPr lang="en-US" dirty="0" err="1"/>
              <a:t>podSpec</a:t>
            </a:r>
            <a:r>
              <a:rPr lang="ru-RU" dirty="0"/>
              <a:t> в API Server и приводит запущенные на ноде контейнеры к описанному состоянию. Перезапустит контейнер, если тот зависнет. </a:t>
            </a:r>
            <a:endParaRPr lang="en-US" dirty="0"/>
          </a:p>
          <a:p>
            <a:pPr marL="0" indent="0">
              <a:buNone/>
            </a:pPr>
            <a:r>
              <a:rPr lang="ru-RU" b="1" dirty="0" err="1"/>
              <a:t>kube-proxy</a:t>
            </a:r>
            <a:r>
              <a:rPr lang="ru-RU" dirty="0"/>
              <a:t> реализует сетевую модель Service (</a:t>
            </a:r>
            <a:r>
              <a:rPr lang="ru-RU" dirty="0" err="1"/>
              <a:t>iptables</a:t>
            </a:r>
            <a:r>
              <a:rPr lang="ru-RU" dirty="0"/>
              <a:t>/</a:t>
            </a:r>
            <a:r>
              <a:rPr lang="ru-RU" dirty="0" err="1"/>
              <a:t>ipvs</a:t>
            </a:r>
            <a:r>
              <a:rPr lang="ru-RU" dirty="0"/>
              <a:t>), обеспечивая маршрутизацию трафика к подам.</a:t>
            </a:r>
          </a:p>
          <a:p>
            <a:pPr marL="0" indent="0">
              <a:buNone/>
            </a:pPr>
            <a:r>
              <a:rPr lang="ru-RU" b="1" dirty="0" err="1"/>
              <a:t>Container</a:t>
            </a:r>
            <a:r>
              <a:rPr lang="ru-RU" b="1" dirty="0"/>
              <a:t> </a:t>
            </a:r>
            <a:r>
              <a:rPr lang="ru-RU" b="1" dirty="0" err="1"/>
              <a:t>Runtime</a:t>
            </a:r>
            <a:r>
              <a:rPr lang="ru-RU" dirty="0"/>
              <a:t>  — это программный компонент, необходимый для запуска контейнеров. Этот компонент собственно отвечает за любые манипуляции с контейнерами.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688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F3C5-91B5-F0EA-BC3C-D17A6820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F56575-C2E2-68DC-55C8-009D6A00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компоненты. </a:t>
            </a:r>
            <a:r>
              <a:rPr lang="en-US" dirty="0"/>
              <a:t>Context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558E23-AA87-17DB-60CD-F40114D95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593"/>
            <a:ext cx="10515600" cy="4351338"/>
          </a:xfrm>
        </p:spPr>
        <p:txBody>
          <a:bodyPr>
            <a:noAutofit/>
          </a:bodyPr>
          <a:lstStyle/>
          <a:p>
            <a:pPr marL="0" indent="0" latinLnBrk="1">
              <a:spcBef>
                <a:spcPts val="600"/>
              </a:spcBef>
              <a:buNone/>
            </a:pPr>
            <a:r>
              <a:rPr lang="en-US" sz="2000" dirty="0"/>
              <a:t>Context </a:t>
            </a:r>
            <a:r>
              <a:rPr lang="ru-RU" sz="2000" dirty="0"/>
              <a:t>определяет:</a:t>
            </a:r>
            <a:endParaRPr lang="en-US" sz="2000" dirty="0"/>
          </a:p>
          <a:p>
            <a:pPr latinLnBrk="1">
              <a:spcBef>
                <a:spcPts val="600"/>
              </a:spcBef>
            </a:pPr>
            <a:r>
              <a:rPr lang="ru-RU" sz="2000" dirty="0"/>
              <a:t>к какому </a:t>
            </a:r>
            <a:r>
              <a:rPr lang="en-US" sz="2000" dirty="0"/>
              <a:t>Kubernetes-</a:t>
            </a:r>
            <a:r>
              <a:rPr lang="ru-RU" sz="2000" dirty="0"/>
              <a:t>кластеру подключается </a:t>
            </a:r>
            <a:r>
              <a:rPr lang="en-US" sz="2000" dirty="0" err="1"/>
              <a:t>kubectl</a:t>
            </a:r>
            <a:r>
              <a:rPr lang="en-US" sz="2000" dirty="0"/>
              <a:t>;</a:t>
            </a:r>
          </a:p>
          <a:p>
            <a:pPr latinLnBrk="1">
              <a:spcBef>
                <a:spcPts val="600"/>
              </a:spcBef>
            </a:pPr>
            <a:r>
              <a:rPr lang="ru-RU" sz="2000" dirty="0"/>
              <a:t>под каким пользователем выполняются команды;</a:t>
            </a:r>
            <a:endParaRPr lang="en-US" sz="2000" dirty="0"/>
          </a:p>
          <a:p>
            <a:pPr latinLnBrk="1">
              <a:spcBef>
                <a:spcPts val="600"/>
              </a:spcBef>
            </a:pPr>
            <a:r>
              <a:rPr lang="ru-RU" sz="2000" dirty="0"/>
              <a:t>какой </a:t>
            </a:r>
            <a:r>
              <a:rPr lang="en-US" sz="2000" dirty="0"/>
              <a:t>namespace </a:t>
            </a:r>
            <a:r>
              <a:rPr lang="ru-RU" sz="2000" dirty="0"/>
              <a:t>используется по умолчанию.</a:t>
            </a:r>
            <a:endParaRPr lang="en-US" sz="2000" dirty="0"/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/>
              <a:t>Полезные команды:</a:t>
            </a:r>
            <a:endParaRPr lang="en-US" sz="2000" dirty="0"/>
          </a:p>
          <a:p>
            <a:pPr latinLnBrk="1">
              <a:spcBef>
                <a:spcPts val="600"/>
              </a:spcBef>
            </a:pPr>
            <a:r>
              <a:rPr lang="en-US" sz="2000" dirty="0" err="1"/>
              <a:t>kubectl</a:t>
            </a:r>
            <a:r>
              <a:rPr lang="en-US" sz="2000" dirty="0"/>
              <a:t> config current-context</a:t>
            </a:r>
          </a:p>
          <a:p>
            <a:pPr latinLnBrk="1">
              <a:spcBef>
                <a:spcPts val="600"/>
              </a:spcBef>
            </a:pPr>
            <a:r>
              <a:rPr lang="en-US" sz="2000" dirty="0" err="1"/>
              <a:t>kubectl</a:t>
            </a:r>
            <a:r>
              <a:rPr lang="en-US" sz="2000" dirty="0"/>
              <a:t> config get-contexts</a:t>
            </a:r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/>
              <a:t>Перед выполнением любых команд убедитесь, что выбран </a:t>
            </a:r>
            <a:br>
              <a:rPr lang="en-US" sz="2000" dirty="0"/>
            </a:br>
            <a:r>
              <a:rPr lang="ru-RU" sz="2000" dirty="0"/>
              <a:t>нужный кластер (например, не </a:t>
            </a:r>
            <a:r>
              <a:rPr lang="en-US" sz="2000" dirty="0"/>
              <a:t>production).</a:t>
            </a:r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b="1" dirty="0"/>
              <a:t>В </a:t>
            </a:r>
            <a:r>
              <a:rPr lang="ru-RU" sz="2000" b="1" dirty="0" err="1"/>
              <a:t>Lens</a:t>
            </a:r>
            <a:r>
              <a:rPr lang="ru-RU" sz="2000" dirty="0"/>
              <a:t>: текущий кластер отображается в левой части окна.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B3F88-0558-C470-2C27-56340041EA8F}"/>
              </a:ext>
            </a:extLst>
          </p:cNvPr>
          <p:cNvSpPr txBox="1"/>
          <p:nvPr/>
        </p:nvSpPr>
        <p:spPr>
          <a:xfrm>
            <a:off x="580215" y="3979489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D21345-5270-3C70-001B-E9671A87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784" y="1959227"/>
            <a:ext cx="4413504" cy="209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19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C3E8-2F13-47F1-1224-9AA6DF6F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CBD5D-99BD-1E92-EEF2-42390B57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компоненты. </a:t>
            </a:r>
            <a:r>
              <a:rPr lang="en-US" dirty="0"/>
              <a:t>Namespace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54B324-8BE0-A70B-9F23-B23620126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05"/>
            <a:ext cx="10515600" cy="4351338"/>
          </a:xfrm>
        </p:spPr>
        <p:txBody>
          <a:bodyPr>
            <a:noAutofit/>
          </a:bodyPr>
          <a:lstStyle/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/>
              <a:t>В K8s ресурсы группируются в </a:t>
            </a:r>
            <a:r>
              <a:rPr lang="ru-RU" sz="2000" dirty="0" err="1"/>
              <a:t>namespace</a:t>
            </a:r>
            <a:r>
              <a:rPr lang="ru-RU" sz="2000" dirty="0"/>
              <a:t> (это логическое разделение ресурсов внутри одного </a:t>
            </a:r>
            <a:r>
              <a:rPr lang="ru-RU" sz="2000" dirty="0" err="1"/>
              <a:t>Kubernetes</a:t>
            </a:r>
            <a:r>
              <a:rPr lang="ru-RU" sz="2000" dirty="0"/>
              <a:t>-кластера)</a:t>
            </a:r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/>
              <a:t>По умолчанию используется </a:t>
            </a:r>
            <a:r>
              <a:rPr lang="ru-RU" sz="2000" dirty="0" err="1"/>
              <a:t>namespace</a:t>
            </a:r>
            <a:r>
              <a:rPr lang="ru-RU" sz="2000" dirty="0"/>
              <a:t> </a:t>
            </a:r>
            <a:r>
              <a:rPr lang="ru-RU" sz="2000" dirty="0" err="1"/>
              <a:t>default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dirty="0"/>
              <a:t>В реальных проектах:   </a:t>
            </a:r>
          </a:p>
          <a:p>
            <a:pPr latinLnBrk="1">
              <a:spcBef>
                <a:spcPts val="600"/>
              </a:spcBef>
            </a:pPr>
            <a:r>
              <a:rPr lang="ru-RU" sz="2000" dirty="0"/>
              <a:t>Для разных окружений</a:t>
            </a:r>
          </a:p>
          <a:p>
            <a:pPr latinLnBrk="1">
              <a:spcBef>
                <a:spcPts val="600"/>
              </a:spcBef>
            </a:pPr>
            <a:r>
              <a:rPr lang="ru-RU" sz="2000" dirty="0"/>
              <a:t>Для разных команд</a:t>
            </a:r>
          </a:p>
          <a:p>
            <a:pPr latinLnBrk="1">
              <a:spcBef>
                <a:spcPts val="600"/>
              </a:spcBef>
            </a:pPr>
            <a:r>
              <a:rPr lang="ru-RU" sz="2000" dirty="0"/>
              <a:t>Для системных компонентов (</a:t>
            </a:r>
            <a:r>
              <a:rPr lang="ru-RU" sz="2000" dirty="0" err="1"/>
              <a:t>kube-system</a:t>
            </a:r>
            <a:r>
              <a:rPr lang="ru-RU" sz="2000" dirty="0"/>
              <a:t>)</a:t>
            </a:r>
            <a:endParaRPr lang="en-US" sz="2000" dirty="0"/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pods</a:t>
            </a:r>
            <a:r>
              <a:rPr lang="ru-RU" sz="2000" dirty="0"/>
              <a:t> - показывает только </a:t>
            </a:r>
            <a:r>
              <a:rPr lang="ru-RU" sz="2000" dirty="0" err="1"/>
              <a:t>Pod'ы</a:t>
            </a:r>
            <a:r>
              <a:rPr lang="ru-RU" sz="2000" dirty="0"/>
              <a:t> </a:t>
            </a:r>
            <a:r>
              <a:rPr lang="ru-RU" sz="2000" b="1" dirty="0"/>
              <a:t>текущего </a:t>
            </a:r>
            <a:r>
              <a:rPr lang="ru-RU" sz="2000" b="1" dirty="0" err="1"/>
              <a:t>namespace</a:t>
            </a:r>
            <a:r>
              <a:rPr lang="ru-RU" sz="2000" dirty="0"/>
              <a:t>. </a:t>
            </a:r>
            <a:br>
              <a:rPr lang="ru-RU" sz="2000" dirty="0"/>
            </a:br>
            <a:r>
              <a:rPr lang="ru-RU" sz="2000" dirty="0"/>
              <a:t>Если ничего нет, проверьте, не выбран ли другой </a:t>
            </a:r>
            <a:r>
              <a:rPr lang="ru-RU" sz="2000" dirty="0" err="1"/>
              <a:t>namespace</a:t>
            </a:r>
            <a:endParaRPr lang="ru-RU" sz="2000" dirty="0"/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/>
              <a:t>Полезные команды:</a:t>
            </a:r>
          </a:p>
          <a:p>
            <a:pPr latinLnBrk="1">
              <a:spcBef>
                <a:spcPts val="600"/>
              </a:spcBef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ns</a:t>
            </a:r>
            <a:r>
              <a:rPr lang="ru-RU" sz="2000" dirty="0"/>
              <a:t> </a:t>
            </a:r>
            <a:r>
              <a:rPr lang="en-US" sz="2000" dirty="0"/>
              <a:t>-</a:t>
            </a:r>
            <a:r>
              <a:rPr lang="ru-RU" sz="2000" dirty="0"/>
              <a:t> список всех </a:t>
            </a:r>
            <a:r>
              <a:rPr lang="ru-RU" sz="2000" dirty="0" err="1"/>
              <a:t>namespace</a:t>
            </a:r>
            <a:endParaRPr lang="en-US" sz="2000" dirty="0"/>
          </a:p>
          <a:p>
            <a:pPr latinLnBrk="1">
              <a:spcBef>
                <a:spcPts val="600"/>
              </a:spcBef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pods</a:t>
            </a:r>
            <a:r>
              <a:rPr lang="ru-RU" sz="2000" dirty="0"/>
              <a:t> -n </a:t>
            </a:r>
            <a:r>
              <a:rPr lang="en-US" sz="2000" dirty="0"/>
              <a:t>&lt;name&gt; - </a:t>
            </a:r>
            <a:r>
              <a:rPr lang="ru-RU" sz="2000" dirty="0"/>
              <a:t>поды в конкретном </a:t>
            </a:r>
            <a:r>
              <a:rPr lang="ru-RU" sz="2000" dirty="0" err="1"/>
              <a:t>namespace</a:t>
            </a:r>
            <a:endParaRPr lang="ru-RU" sz="2000" dirty="0"/>
          </a:p>
          <a:p>
            <a:pPr latinLnBrk="1">
              <a:spcBef>
                <a:spcPts val="600"/>
              </a:spcBef>
            </a:pPr>
            <a:r>
              <a:rPr lang="ru-RU" sz="2000" dirty="0" err="1"/>
              <a:t>kubectl</a:t>
            </a:r>
            <a:r>
              <a:rPr lang="ru-RU" sz="2000" dirty="0"/>
              <a:t> </a:t>
            </a:r>
            <a:r>
              <a:rPr lang="ru-RU" sz="2000" dirty="0" err="1"/>
              <a:t>get</a:t>
            </a:r>
            <a:r>
              <a:rPr lang="ru-RU" sz="2000" dirty="0"/>
              <a:t> </a:t>
            </a:r>
            <a:r>
              <a:rPr lang="ru-RU" sz="2000" dirty="0" err="1"/>
              <a:t>pods</a:t>
            </a:r>
            <a:r>
              <a:rPr lang="ru-RU" sz="2000" dirty="0"/>
              <a:t> -A - посмотреть все поды везде</a:t>
            </a:r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b="1" dirty="0"/>
              <a:t>В </a:t>
            </a:r>
            <a:r>
              <a:rPr lang="ru-RU" sz="2000" b="1" dirty="0" err="1"/>
              <a:t>Lens</a:t>
            </a:r>
            <a:r>
              <a:rPr lang="ru-RU" sz="2000" dirty="0"/>
              <a:t>: переключатель </a:t>
            </a:r>
            <a:r>
              <a:rPr lang="ru-RU" sz="2000" dirty="0" err="1"/>
              <a:t>namespace</a:t>
            </a:r>
            <a:r>
              <a:rPr lang="ru-RU" sz="2000" dirty="0"/>
              <a:t> в левом верхнем углу</a:t>
            </a:r>
            <a:endParaRPr lang="en-US" sz="2000" dirty="0"/>
          </a:p>
          <a:p>
            <a:pPr marL="0" indent="0" latinLnBrk="1">
              <a:spcBef>
                <a:spcPts val="600"/>
              </a:spcBef>
              <a:buNone/>
            </a:pPr>
            <a:r>
              <a:rPr lang="ru-RU" sz="2000" dirty="0" err="1"/>
              <a:t>Context</a:t>
            </a:r>
            <a:r>
              <a:rPr lang="ru-RU" sz="2000" dirty="0"/>
              <a:t> отвечает на вопрос "</a:t>
            </a:r>
            <a:r>
              <a:rPr lang="ru-RU" sz="2000" b="1" dirty="0"/>
              <a:t>куда я подключен</a:t>
            </a:r>
            <a:r>
              <a:rPr lang="ru-RU" sz="2000" dirty="0"/>
              <a:t>?", </a:t>
            </a:r>
            <a:br>
              <a:rPr lang="en-US" sz="2000" dirty="0"/>
            </a:br>
            <a:r>
              <a:rPr lang="ru-RU" sz="2000" dirty="0"/>
              <a:t>а </a:t>
            </a:r>
            <a:r>
              <a:rPr lang="ru-RU" sz="2000" dirty="0" err="1"/>
              <a:t>Namespace</a:t>
            </a:r>
            <a:r>
              <a:rPr lang="ru-RU" sz="2000" dirty="0"/>
              <a:t> — "</a:t>
            </a:r>
            <a:r>
              <a:rPr lang="ru-RU" sz="2000" b="1" dirty="0"/>
              <a:t>в какой части этого кластера</a:t>
            </a:r>
            <a:r>
              <a:rPr lang="ru-RU" sz="2000" dirty="0"/>
              <a:t> я работаю?".</a:t>
            </a:r>
          </a:p>
          <a:p>
            <a:pPr marL="0" indent="0" latinLnBrk="1">
              <a:spcBef>
                <a:spcPts val="600"/>
              </a:spcBef>
              <a:buNone/>
            </a:pPr>
            <a:endParaRPr lang="ru-RU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C9552-1F2A-6AE6-803D-8D4DECBAAA94}"/>
              </a:ext>
            </a:extLst>
          </p:cNvPr>
          <p:cNvSpPr txBox="1"/>
          <p:nvPr/>
        </p:nvSpPr>
        <p:spPr>
          <a:xfrm>
            <a:off x="559973" y="3854990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F8F5BB-7998-228D-54B8-43C9F88C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321" y="2550957"/>
            <a:ext cx="2572109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96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86F3E-33B6-B325-824C-CEA585C0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Декларативный подход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478D3C6F-29A7-A52E-078D-EEE85DC99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655808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Декларативный подход</a:t>
            </a:r>
            <a:r>
              <a:rPr lang="ru-RU" dirty="0"/>
              <a:t>: в YAML-файле мы описываем </a:t>
            </a:r>
            <a:r>
              <a:rPr lang="ru-RU" b="1" dirty="0"/>
              <a:t>Желаемое состояние (</a:t>
            </a:r>
            <a:r>
              <a:rPr lang="ru-RU" b="1" dirty="0" err="1"/>
              <a:t>Desired</a:t>
            </a:r>
            <a:r>
              <a:rPr lang="ru-RU" b="1" dirty="0"/>
              <a:t> State)</a:t>
            </a:r>
            <a:r>
              <a:rPr lang="ru-RU" dirty="0"/>
              <a:t> системы. Задача K8s — постоянно сравнивать </a:t>
            </a:r>
            <a:r>
              <a:rPr lang="ru-RU" b="1" dirty="0"/>
              <a:t>Текущее состояние (</a:t>
            </a:r>
            <a:r>
              <a:rPr lang="ru-RU" b="1" dirty="0" err="1"/>
              <a:t>Actual</a:t>
            </a:r>
            <a:r>
              <a:rPr lang="ru-RU" b="1" dirty="0"/>
              <a:t> State)</a:t>
            </a:r>
            <a:r>
              <a:rPr lang="ru-RU" dirty="0"/>
              <a:t> с желаемым и устранять разницу. Этот процесс называется </a:t>
            </a:r>
            <a:r>
              <a:rPr lang="ru-RU" i="1" dirty="0" err="1"/>
              <a:t>Reconciliation</a:t>
            </a:r>
            <a:r>
              <a:rPr lang="ru-RU" i="1" dirty="0"/>
              <a:t> </a:t>
            </a:r>
            <a:r>
              <a:rPr lang="ru-RU" i="1" dirty="0" err="1"/>
              <a:t>Loop</a:t>
            </a:r>
            <a:r>
              <a:rPr lang="ru-RU" dirty="0"/>
              <a:t> (цикл согласования).</a:t>
            </a:r>
          </a:p>
        </p:txBody>
      </p:sp>
    </p:spTree>
    <p:extLst>
      <p:ext uri="{BB962C8B-B14F-4D97-AF65-F5344CB8AC3E}">
        <p14:creationId xmlns:p14="http://schemas.microsoft.com/office/powerpoint/2010/main" val="24260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9F98186-F2EF-D0E6-E30E-8FB291A3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</a:t>
            </a:r>
            <a:r>
              <a:rPr lang="en-US" dirty="0"/>
              <a:t>. </a:t>
            </a:r>
            <a:r>
              <a:rPr lang="en-US" dirty="0" err="1"/>
              <a:t>ReplicaSet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D63E3ED-09C3-EA2E-31C8-A9E96069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err="1"/>
              <a:t>ReplicaSet</a:t>
            </a:r>
            <a:r>
              <a:rPr lang="ru-RU" dirty="0"/>
              <a:t> — низкоуровневый контроллер K8s, единственная задача которого — поддерживать стабильное количество идентичных подов (реплик) в кластере в любой момент времени.</a:t>
            </a:r>
          </a:p>
          <a:p>
            <a:pPr marL="0" indent="0">
              <a:buNone/>
            </a:pPr>
            <a:r>
              <a:rPr lang="ru-RU" b="1" dirty="0"/>
              <a:t>Как он понимает, какими подами управлять?</a:t>
            </a:r>
            <a:br>
              <a:rPr lang="ru-RU" dirty="0"/>
            </a:br>
            <a:r>
              <a:rPr lang="ru-RU" dirty="0"/>
              <a:t>Через </a:t>
            </a:r>
            <a:r>
              <a:rPr lang="ru-RU" b="1" dirty="0" err="1"/>
              <a:t>Selectors</a:t>
            </a:r>
            <a:r>
              <a:rPr lang="ru-RU" dirty="0"/>
              <a:t> и </a:t>
            </a:r>
            <a:r>
              <a:rPr lang="ru-RU" b="1" dirty="0" err="1"/>
              <a:t>Labels</a:t>
            </a:r>
            <a:r>
              <a:rPr lang="ru-RU" dirty="0"/>
              <a:t>. В манифесте </a:t>
            </a:r>
            <a:r>
              <a:rPr lang="ru-RU" dirty="0" err="1"/>
              <a:t>ReplicaSet</a:t>
            </a:r>
            <a:r>
              <a:rPr lang="ru-RU" dirty="0"/>
              <a:t> указан селектор (например, </a:t>
            </a:r>
            <a:r>
              <a:rPr lang="ru-RU" dirty="0" err="1"/>
              <a:t>app</a:t>
            </a:r>
            <a:r>
              <a:rPr lang="ru-RU" dirty="0"/>
              <a:t>: </a:t>
            </a:r>
            <a:r>
              <a:rPr lang="ru-RU" dirty="0" err="1"/>
              <a:t>web-backend</a:t>
            </a:r>
            <a:r>
              <a:rPr lang="ru-RU" dirty="0"/>
              <a:t>). Контроллер сканирует кластер и считает все поды с такой меткой.</a:t>
            </a:r>
          </a:p>
          <a:p>
            <a:pPr marL="0" indent="0">
              <a:buNone/>
            </a:pPr>
            <a:r>
              <a:rPr lang="ru-RU" dirty="0"/>
              <a:t>Если в конфигурации указано </a:t>
            </a:r>
            <a:r>
              <a:rPr lang="ru-RU" dirty="0" err="1"/>
              <a:t>replicas</a:t>
            </a:r>
            <a:r>
              <a:rPr lang="ru-RU" dirty="0"/>
              <a:t>: 3, а по факту в кластере найдено только 2 пода с нужной меткой, </a:t>
            </a:r>
            <a:r>
              <a:rPr lang="ru-RU" dirty="0" err="1"/>
              <a:t>ReplicaSet</a:t>
            </a:r>
            <a:r>
              <a:rPr lang="ru-RU" dirty="0"/>
              <a:t> обращается к </a:t>
            </a:r>
            <a:r>
              <a:rPr lang="ru-RU" i="1" dirty="0" err="1"/>
              <a:t>kube-apiserver</a:t>
            </a:r>
            <a:r>
              <a:rPr lang="ru-RU" dirty="0"/>
              <a:t> и запрашивает создание еще одного пода по шаблону (</a:t>
            </a:r>
            <a:r>
              <a:rPr lang="ru-RU" dirty="0" err="1"/>
              <a:t>template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/>
              <a:t>Манифест </a:t>
            </a:r>
            <a:r>
              <a:rPr lang="ru-RU" dirty="0" err="1"/>
              <a:t>ReplicaSet</a:t>
            </a:r>
            <a:r>
              <a:rPr lang="ru-RU" dirty="0"/>
              <a:t> (его настройки, сколько копий должно быть, какие метки) записан в </a:t>
            </a:r>
            <a:r>
              <a:rPr lang="ru-RU" b="1" dirty="0" err="1"/>
              <a:t>etcd</a:t>
            </a:r>
            <a:r>
              <a:rPr lang="ru-RU" b="1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!! Сами по себе </a:t>
            </a:r>
            <a:r>
              <a:rPr lang="ru-RU" dirty="0" err="1"/>
              <a:t>ReplicaSet</a:t>
            </a:r>
            <a:r>
              <a:rPr lang="ru-RU" dirty="0"/>
              <a:t>-ы в современной разработке руками не создаются и не </a:t>
            </a:r>
            <a:r>
              <a:rPr lang="ru-RU" dirty="0" err="1"/>
              <a:t>деплоятся</a:t>
            </a:r>
            <a:r>
              <a:rPr lang="ru-RU" dirty="0"/>
              <a:t>. Они являются дочерними объектами </a:t>
            </a:r>
            <a:r>
              <a:rPr lang="ru-RU" dirty="0" err="1"/>
              <a:t>Deployment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7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D0D5-F9FD-69AB-8F9E-806D5EA5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CA55C28-8B80-D9DA-7913-B5D09CE9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</a:t>
            </a:r>
            <a:r>
              <a:rPr lang="en-US" dirty="0"/>
              <a:t>. Deployment</a:t>
            </a:r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77AF691-8FB2-BC6F-9BD0-0872CEAF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err="1"/>
              <a:t>Deployment</a:t>
            </a:r>
            <a:r>
              <a:rPr lang="ru-RU" dirty="0"/>
              <a:t> — это высокоуровневый объект (контроллер), который предоставляет декларативные обновления для подов и </a:t>
            </a:r>
            <a:r>
              <a:rPr lang="ru-RU" dirty="0" err="1"/>
              <a:t>ReplicaSet-ов</a:t>
            </a:r>
            <a:r>
              <a:rPr lang="ru-RU" dirty="0"/>
              <a:t>. Когда разработчик обновляет приложение, он меняет конфигурацию именно в </a:t>
            </a:r>
            <a:r>
              <a:rPr lang="ru-RU" dirty="0" err="1"/>
              <a:t>Deployment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137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8CAE5-F001-5BE9-E1AD-92417D10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</a:t>
            </a:r>
            <a:r>
              <a:rPr lang="en-US" dirty="0"/>
              <a:t>Deployment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88061-BFB9-5223-112C-1ACBA916EB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Обновили </a:t>
            </a:r>
            <a:r>
              <a:rPr lang="ru-RU" b="1" dirty="0" err="1"/>
              <a:t>Deployment</a:t>
            </a:r>
            <a:r>
              <a:rPr lang="ru-RU" dirty="0"/>
              <a:t> (изменили тег образа). 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Controller</a:t>
            </a:r>
            <a:r>
              <a:rPr lang="ru-RU" dirty="0"/>
              <a:t> (внутри </a:t>
            </a:r>
            <a:r>
              <a:rPr lang="ru-RU" dirty="0" err="1"/>
              <a:t>controller-manager</a:t>
            </a:r>
            <a:r>
              <a:rPr lang="ru-RU" dirty="0"/>
              <a:t>) увидел это и создал новый объект </a:t>
            </a:r>
            <a:r>
              <a:rPr lang="ru-RU" b="1" dirty="0" err="1"/>
              <a:t>ReplicaSet</a:t>
            </a:r>
            <a:r>
              <a:rPr lang="ru-RU" dirty="0"/>
              <a:t>.</a:t>
            </a:r>
          </a:p>
          <a:p>
            <a:r>
              <a:rPr lang="ru-RU" dirty="0"/>
              <a:t>Информация о новом </a:t>
            </a:r>
            <a:r>
              <a:rPr lang="ru-RU" b="1" dirty="0" err="1"/>
              <a:t>ReplicaSet</a:t>
            </a:r>
            <a:r>
              <a:rPr lang="ru-RU" dirty="0"/>
              <a:t> записалась в базу данных </a:t>
            </a:r>
            <a:r>
              <a:rPr lang="ru-RU" b="1" dirty="0" err="1"/>
              <a:t>etcd</a:t>
            </a:r>
            <a:r>
              <a:rPr lang="ru-RU" dirty="0"/>
              <a:t>.</a:t>
            </a:r>
          </a:p>
          <a:p>
            <a:r>
              <a:rPr lang="ru-RU" dirty="0" err="1"/>
              <a:t>ReplicaSet</a:t>
            </a:r>
            <a:r>
              <a:rPr lang="ru-RU" dirty="0"/>
              <a:t> </a:t>
            </a:r>
            <a:r>
              <a:rPr lang="ru-RU" dirty="0" err="1"/>
              <a:t>Controller</a:t>
            </a:r>
            <a:r>
              <a:rPr lang="ru-RU" dirty="0"/>
              <a:t> (в том же </a:t>
            </a:r>
            <a:r>
              <a:rPr lang="ru-RU" dirty="0" err="1"/>
              <a:t>controller-manager</a:t>
            </a:r>
            <a:r>
              <a:rPr lang="ru-RU" dirty="0"/>
              <a:t>) увидел новую запись в </a:t>
            </a:r>
            <a:r>
              <a:rPr lang="ru-RU" b="1" dirty="0" err="1"/>
              <a:t>etcd</a:t>
            </a:r>
            <a:r>
              <a:rPr lang="ru-RU" dirty="0"/>
              <a:t> и понял: </a:t>
            </a:r>
            <a:r>
              <a:rPr lang="ru-RU" i="1" dirty="0"/>
              <a:t>«Мне нужно создать 3 пода»</a:t>
            </a:r>
            <a:r>
              <a:rPr lang="ru-RU" dirty="0"/>
              <a:t>. Он отправляет запрос в API на создание подов.</a:t>
            </a:r>
          </a:p>
          <a:p>
            <a:r>
              <a:rPr lang="ru-RU" dirty="0"/>
              <a:t>Компонент </a:t>
            </a:r>
            <a:r>
              <a:rPr lang="ru-RU" b="1" dirty="0" err="1"/>
              <a:t>kube-scheduler</a:t>
            </a:r>
            <a:r>
              <a:rPr lang="ru-RU" dirty="0"/>
              <a:t> (планировщик на Мастер-ноде) смотрит на эти поды и решает, на какие конкретно </a:t>
            </a:r>
            <a:r>
              <a:rPr lang="ru-RU" b="1" dirty="0" err="1"/>
              <a:t>Worker</a:t>
            </a:r>
            <a:r>
              <a:rPr lang="ru-RU" b="1" dirty="0"/>
              <a:t> </a:t>
            </a:r>
            <a:r>
              <a:rPr lang="ru-RU" b="1" dirty="0" err="1"/>
              <a:t>Nodes</a:t>
            </a:r>
            <a:r>
              <a:rPr lang="ru-RU" dirty="0"/>
              <a:t> их отправить, учитывая свободные ресурсы (CPU/RAM).</a:t>
            </a:r>
          </a:p>
          <a:p>
            <a:r>
              <a:rPr lang="ru-RU" dirty="0"/>
              <a:t>На конкретной рабочей ноде системный агент </a:t>
            </a:r>
            <a:r>
              <a:rPr lang="ru-RU" b="1" dirty="0" err="1"/>
              <a:t>kubelet</a:t>
            </a:r>
            <a:r>
              <a:rPr lang="ru-RU" dirty="0"/>
              <a:t> видит, что ему назначен под, и дает команду контейнерному движку (например, </a:t>
            </a:r>
            <a:r>
              <a:rPr lang="ru-RU" dirty="0" err="1"/>
              <a:t>containerd</a:t>
            </a:r>
            <a:r>
              <a:rPr lang="ru-RU" dirty="0"/>
              <a:t>) физически запустить контейнеры.</a:t>
            </a:r>
          </a:p>
        </p:txBody>
      </p:sp>
      <p:pic>
        <p:nvPicPr>
          <p:cNvPr id="9" name="Объект 3" descr="Kubernetes ReplicaSets: Definition, Examples, and Best Practices">
            <a:extLst>
              <a:ext uri="{FF2B5EF4-FFF2-40B4-BE49-F238E27FC236}">
                <a16:creationId xmlns:a16="http://schemas.microsoft.com/office/drawing/2014/main" id="{EC266A39-4E5B-A32F-ED6D-C761C49F3C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43182"/>
            <a:ext cx="5181600" cy="33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5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F3190-6D9B-5DD1-8FA4-8410CFF59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</a:t>
            </a:r>
            <a:r>
              <a:rPr lang="ru-RU" dirty="0"/>
              <a:t>Процесс внесения изменений в состояние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37B3169-02DF-5EA1-4191-95CFE60B4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863" y="1405032"/>
            <a:ext cx="7463751" cy="516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13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E3650-BA7D-6ECA-F87E-98F45F32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Kubernetes Service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58582B8-12A0-A893-9EDA-3EB51976A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/>
              <a:t>Pods</a:t>
            </a:r>
            <a:r>
              <a:rPr lang="ru-RU" dirty="0"/>
              <a:t> — это «расходный материал». Они постоянно умирают, перезапускаются, масштабируются и при каждом перезапуске получают новый IP-адрес. Поэтому и используют Service.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Kubernetes </a:t>
            </a:r>
            <a:r>
              <a:rPr lang="ru-RU" b="1" dirty="0"/>
              <a:t>Service</a:t>
            </a:r>
            <a:r>
              <a:rPr lang="ru-RU" dirty="0"/>
              <a:t> — это абстракция, которая дает группе подов один постоянный </a:t>
            </a:r>
            <a:r>
              <a:rPr lang="ru-RU" b="1" dirty="0"/>
              <a:t>внутренний</a:t>
            </a:r>
            <a:r>
              <a:rPr lang="ru-RU" dirty="0"/>
              <a:t> IP-адрес и одно постоянное DNS-имя (снаружи кластера не «достучаться»).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Механизм связывания</a:t>
            </a:r>
            <a:r>
              <a:rPr lang="en-US" b="1" dirty="0"/>
              <a:t>:</a:t>
            </a:r>
          </a:p>
          <a:p>
            <a:r>
              <a:rPr lang="ru-RU" b="1" dirty="0" err="1"/>
              <a:t>Labels</a:t>
            </a:r>
            <a:r>
              <a:rPr lang="ru-RU" b="1" dirty="0"/>
              <a:t> (Метки):</a:t>
            </a:r>
            <a:r>
              <a:rPr lang="ru-RU" dirty="0"/>
              <a:t> метки подов (например, </a:t>
            </a:r>
            <a:r>
              <a:rPr lang="ru-RU" dirty="0" err="1"/>
              <a:t>app</a:t>
            </a:r>
            <a:r>
              <a:rPr lang="ru-RU" dirty="0"/>
              <a:t>: </a:t>
            </a:r>
            <a:r>
              <a:rPr lang="ru-RU" dirty="0" err="1"/>
              <a:t>payment-gateway</a:t>
            </a:r>
            <a:r>
              <a:rPr lang="ru-RU" dirty="0"/>
              <a:t>).</a:t>
            </a:r>
            <a:endParaRPr lang="en-US" dirty="0"/>
          </a:p>
          <a:p>
            <a:r>
              <a:rPr lang="ru-RU" b="1" dirty="0" err="1"/>
              <a:t>Selector</a:t>
            </a:r>
            <a:r>
              <a:rPr lang="ru-RU" b="1" dirty="0"/>
              <a:t> (Селектор):</a:t>
            </a:r>
            <a:r>
              <a:rPr lang="ru-RU" dirty="0"/>
              <a:t> В манифесте Сервиса: «Я обслуживаю поды, у которых есть метка </a:t>
            </a:r>
            <a:r>
              <a:rPr lang="ru-RU" dirty="0" err="1"/>
              <a:t>app</a:t>
            </a:r>
            <a:r>
              <a:rPr lang="ru-RU" dirty="0"/>
              <a:t>: </a:t>
            </a:r>
            <a:r>
              <a:rPr lang="ru-RU" dirty="0" err="1"/>
              <a:t>payment-gateway</a:t>
            </a:r>
            <a:r>
              <a:rPr lang="ru-RU" dirty="0"/>
              <a:t>».</a:t>
            </a:r>
            <a:endParaRPr lang="en-US" dirty="0"/>
          </a:p>
          <a:p>
            <a:r>
              <a:rPr lang="ru-RU" b="1" dirty="0" err="1"/>
              <a:t>Endpoints</a:t>
            </a:r>
            <a:r>
              <a:rPr lang="ru-RU" b="1" dirty="0"/>
              <a:t> (Конечные точки):</a:t>
            </a:r>
            <a:r>
              <a:rPr lang="ru-RU" dirty="0"/>
              <a:t> K8s автоматически подтягивает IP-адреса всех живых подов с этой меткой в специальный объект </a:t>
            </a:r>
            <a:r>
              <a:rPr lang="ru-RU" b="1" dirty="0" err="1"/>
              <a:t>Endpoints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522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9B51-9C5E-1357-791A-BC27FFF5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A09AE-B91A-70D9-B063-A608C416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Kubernetes Service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00DAB2A-A107-63BA-A797-77EFBABA5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099" y="1616425"/>
            <a:ext cx="7825913" cy="43513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0FB58B-02E4-85EC-738B-8D943ACD9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4" y="1311753"/>
            <a:ext cx="3751209" cy="496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13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C44C6-CD8F-BD3B-5ED8-1E1D52CF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D5A7-4A2C-5CEE-4231-E14D89AD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Kubernetes Service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703E674-D54B-CDCB-A63F-2906CD71C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При баге «Не отвечает бэкенд»:</a:t>
            </a:r>
            <a:endParaRPr lang="ru-RU" dirty="0"/>
          </a:p>
          <a:p>
            <a:r>
              <a:rPr lang="ru-RU" dirty="0"/>
              <a:t>Проверить, совпадают ли </a:t>
            </a:r>
            <a:r>
              <a:rPr lang="ru-RU" dirty="0" err="1"/>
              <a:t>selector</a:t>
            </a:r>
            <a:r>
              <a:rPr lang="ru-RU" dirty="0"/>
              <a:t> в Service и </a:t>
            </a:r>
            <a:r>
              <a:rPr lang="ru-RU" dirty="0" err="1"/>
              <a:t>labels</a:t>
            </a:r>
            <a:r>
              <a:rPr lang="ru-RU" dirty="0"/>
              <a:t> в </a:t>
            </a:r>
            <a:r>
              <a:rPr lang="ru-RU" dirty="0" err="1"/>
              <a:t>Pod</a:t>
            </a:r>
            <a:r>
              <a:rPr lang="ru-RU" dirty="0"/>
              <a:t>. Опечатка в одну букву — и сервис будет слать трафик «в пустоту».</a:t>
            </a:r>
          </a:p>
          <a:p>
            <a:r>
              <a:rPr lang="ru-RU" dirty="0"/>
              <a:t>Выполнить команду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get</a:t>
            </a:r>
            <a:r>
              <a:rPr lang="ru-RU" dirty="0"/>
              <a:t> </a:t>
            </a:r>
            <a:r>
              <a:rPr lang="ru-RU" dirty="0" err="1"/>
              <a:t>endpoints</a:t>
            </a:r>
            <a:r>
              <a:rPr lang="ru-RU" dirty="0"/>
              <a:t> &lt;</a:t>
            </a:r>
            <a:r>
              <a:rPr lang="ru-RU" dirty="0" err="1"/>
              <a:t>имя_сервиса</a:t>
            </a:r>
            <a:r>
              <a:rPr lang="ru-RU" dirty="0"/>
              <a:t>&gt; — если список IP пуст, значит, сервис не видит поды.</a:t>
            </a:r>
          </a:p>
        </p:txBody>
      </p:sp>
    </p:spTree>
    <p:extLst>
      <p:ext uri="{BB962C8B-B14F-4D97-AF65-F5344CB8AC3E}">
        <p14:creationId xmlns:p14="http://schemas.microsoft.com/office/powerpoint/2010/main" val="3684028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B8F97-2CAC-A7BF-A09B-13624AEB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</a:t>
            </a:r>
            <a:r>
              <a:rPr lang="en-US" dirty="0"/>
              <a:t>Ingress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7C5647-63FE-964E-9782-CF0CD55D7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Ingress</a:t>
            </a:r>
            <a:r>
              <a:rPr lang="ru-RU" dirty="0"/>
              <a:t> служит единой внешней точкой доступа к кластеру, обеспечивая маршрутизацию трафика между внутренними сервисами (</a:t>
            </a:r>
            <a:r>
              <a:rPr lang="en-US" dirty="0"/>
              <a:t>Service</a:t>
            </a:r>
            <a:r>
              <a:rPr lang="ru-RU" dirty="0"/>
              <a:t>) на основе URL-путей и SSL-</a:t>
            </a:r>
            <a:r>
              <a:rPr lang="ru-RU" dirty="0" err="1"/>
              <a:t>терминацию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Маршрутизация трафика контролируется правилами, определенными в ресурсе </a:t>
            </a:r>
            <a:r>
              <a:rPr lang="ru-RU" dirty="0" err="1"/>
              <a:t>Ingress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Для QA-инженеров ключевыми зонами проверки являются правильность путей (пути, слэши), лимиты на размер файлов и настройки тайм-аутов запросов.</a:t>
            </a:r>
          </a:p>
          <a:p>
            <a:pPr marL="0" indent="0">
              <a:buNone/>
            </a:pPr>
            <a:r>
              <a:rPr lang="ru-RU" b="1" dirty="0" err="1"/>
              <a:t>Ingress</a:t>
            </a:r>
            <a:r>
              <a:rPr lang="ru-RU" dirty="0"/>
              <a:t> отвечает на вопрос </a:t>
            </a:r>
            <a:r>
              <a:rPr lang="ru-RU" b="1" dirty="0"/>
              <a:t>ЧТО</a:t>
            </a:r>
            <a:r>
              <a:rPr lang="ru-RU" dirty="0"/>
              <a:t> запрашивают (домен, URL-путь), а </a:t>
            </a:r>
            <a:r>
              <a:rPr lang="ru-RU" b="1" dirty="0"/>
              <a:t>Service</a:t>
            </a:r>
            <a:r>
              <a:rPr lang="ru-RU" dirty="0"/>
              <a:t> — </a:t>
            </a:r>
            <a:r>
              <a:rPr lang="ru-RU" b="1" dirty="0"/>
              <a:t>КУДА</a:t>
            </a:r>
            <a:r>
              <a:rPr lang="ru-RU" dirty="0"/>
              <a:t> перенаправить (на какие поды)»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53FDD-8B93-EF29-A546-7374B08A701E}"/>
              </a:ext>
            </a:extLst>
          </p:cNvPr>
          <p:cNvSpPr txBox="1"/>
          <p:nvPr/>
        </p:nvSpPr>
        <p:spPr>
          <a:xfrm>
            <a:off x="486822" y="5296957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4576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08FF-FDB2-BA24-029C-C631578F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84094-F0D9-C447-A625-8B6F8E4BC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концепции. </a:t>
            </a:r>
            <a:r>
              <a:rPr lang="en-US" dirty="0"/>
              <a:t>Ingress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638B2F1-9E00-2E68-0493-5440C3862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8004"/>
            <a:ext cx="10515600" cy="396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1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8D6A-D563-06A4-478F-4C666A15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F5121B-7CAA-E5A6-B7BF-334161B3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300" dirty="0"/>
              <a:t>Поиск ошибок в цепочке </a:t>
            </a:r>
            <a:r>
              <a:rPr lang="en-US" sz="4300" dirty="0"/>
              <a:t>Ingress-Service-Pod</a:t>
            </a:r>
            <a:endParaRPr lang="ru-RU" sz="43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1AF8C7-1835-4CB8-4FB4-03C670C5D4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b="1" dirty="0"/>
              <a:t>QA (</a:t>
            </a:r>
            <a:r>
              <a:rPr lang="ru-RU" sz="2600" b="1" dirty="0" err="1"/>
              <a:t>Postman</a:t>
            </a:r>
            <a:r>
              <a:rPr lang="ru-RU" sz="2600" b="1" dirty="0"/>
              <a:t>/Браузер)</a:t>
            </a:r>
            <a:r>
              <a:rPr lang="ru-RU" sz="2600" dirty="0"/>
              <a:t> </a:t>
            </a:r>
            <a:endParaRPr lang="en-US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 err="1"/>
              <a:t>Ingress</a:t>
            </a:r>
            <a:r>
              <a:rPr lang="ru-RU" sz="2600" dirty="0"/>
              <a:t> (разобрал URL</a:t>
            </a:r>
            <a:r>
              <a:rPr lang="en-US" sz="2600" dirty="0"/>
              <a:t> </a:t>
            </a:r>
            <a:r>
              <a:rPr lang="ru-RU" sz="2600" dirty="0"/>
              <a:t>«/</a:t>
            </a:r>
            <a:r>
              <a:rPr lang="ru-RU" sz="2600" dirty="0" err="1"/>
              <a:t>api</a:t>
            </a:r>
            <a:r>
              <a:rPr lang="ru-RU" sz="2600" dirty="0"/>
              <a:t>/</a:t>
            </a:r>
            <a:r>
              <a:rPr lang="ru-RU" sz="2600" dirty="0" err="1"/>
              <a:t>users</a:t>
            </a:r>
            <a:r>
              <a:rPr lang="ru-RU" sz="2600" dirty="0"/>
              <a:t>») </a:t>
            </a:r>
            <a:endParaRPr lang="en-US" sz="2600" dirty="0"/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Service</a:t>
            </a:r>
            <a:r>
              <a:rPr lang="ru-RU" sz="2600" dirty="0"/>
              <a:t> (выбрал живой под по меткам, </a:t>
            </a:r>
            <a:r>
              <a:rPr lang="en-US" sz="2600" dirty="0"/>
              <a:t>users-backend-service</a:t>
            </a:r>
            <a:r>
              <a:rPr lang="ru-RU" sz="2600" dirty="0"/>
              <a:t>)</a:t>
            </a:r>
            <a:r>
              <a:rPr lang="en-US" sz="2600" dirty="0"/>
              <a:t> 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 err="1"/>
              <a:t>Pod</a:t>
            </a:r>
            <a:r>
              <a:rPr lang="ru-RU" sz="2600" dirty="0"/>
              <a:t> (обработал код и вернул</a:t>
            </a:r>
            <a:r>
              <a:rPr lang="en-US" sz="2600" dirty="0"/>
              <a:t> </a:t>
            </a:r>
            <a:r>
              <a:rPr lang="ru-RU" sz="2600" dirty="0"/>
              <a:t>ответ).</a:t>
            </a:r>
          </a:p>
        </p:txBody>
      </p:sp>
      <p:pic>
        <p:nvPicPr>
          <p:cNvPr id="7" name="Объект 6" descr="How to debug Kubernetes? (Deployments, Services &amp; Ingress)">
            <a:extLst>
              <a:ext uri="{FF2B5EF4-FFF2-40B4-BE49-F238E27FC236}">
                <a16:creationId xmlns:a16="http://schemas.microsoft.com/office/drawing/2014/main" id="{A76ECB88-FAC2-7B4E-3244-AD1D1750E5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5056"/>
            <a:ext cx="5181600" cy="2912476"/>
          </a:xfrm>
          <a:prstGeom prst="rect">
            <a:avLst/>
          </a:prstGeom>
        </p:spPr>
      </p:pic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75C451B3-4EF9-680F-CF20-7F094C9912D3}"/>
              </a:ext>
            </a:extLst>
          </p:cNvPr>
          <p:cNvSpPr/>
          <p:nvPr/>
        </p:nvSpPr>
        <p:spPr>
          <a:xfrm>
            <a:off x="1844040" y="4672584"/>
            <a:ext cx="521208" cy="3931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72CF5F67-6F99-70DD-556D-6327469B6570}"/>
              </a:ext>
            </a:extLst>
          </p:cNvPr>
          <p:cNvSpPr/>
          <p:nvPr/>
        </p:nvSpPr>
        <p:spPr>
          <a:xfrm>
            <a:off x="1844040" y="3328225"/>
            <a:ext cx="521208" cy="3931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01D8A0F1-7187-70EC-5E60-F19B0ED9AED6}"/>
              </a:ext>
            </a:extLst>
          </p:cNvPr>
          <p:cNvSpPr/>
          <p:nvPr/>
        </p:nvSpPr>
        <p:spPr>
          <a:xfrm>
            <a:off x="1845564" y="2348460"/>
            <a:ext cx="521208" cy="3931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702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B0A25-FFD1-3231-983A-22778D4C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9B90E-1406-1474-2118-4FFC68AB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300" dirty="0"/>
              <a:t>Поиск ошибок в цепочке </a:t>
            </a:r>
            <a:r>
              <a:rPr lang="en-US" sz="4300" b="1" dirty="0"/>
              <a:t>Ingress-Service-Pod</a:t>
            </a:r>
            <a:endParaRPr lang="ru-RU" sz="43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59DCEC-47D7-E93B-79D6-94C67E897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240"/>
            <a:ext cx="10515600" cy="467353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/>
              <a:t>1. Ingress</a:t>
            </a:r>
            <a:endParaRPr lang="ru-RU" sz="1600" b="1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Ошибки маршрутизации, проблемы с SSL, тайм-ауты, лимиты на размер файлов (413 </a:t>
            </a:r>
            <a:r>
              <a:rPr lang="ru-RU" sz="1600" dirty="0" err="1"/>
              <a:t>Request</a:t>
            </a:r>
            <a:r>
              <a:rPr lang="ru-RU" sz="1600" dirty="0"/>
              <a:t> </a:t>
            </a:r>
            <a:r>
              <a:rPr lang="ru-RU" sz="1600" dirty="0" err="1"/>
              <a:t>Entity</a:t>
            </a:r>
            <a:r>
              <a:rPr lang="ru-RU" sz="1600" dirty="0"/>
              <a:t> </a:t>
            </a:r>
            <a:r>
              <a:rPr lang="ru-RU" sz="1600" dirty="0" err="1"/>
              <a:t>Too</a:t>
            </a:r>
            <a:r>
              <a:rPr lang="ru-RU" sz="1600" dirty="0"/>
              <a:t> </a:t>
            </a:r>
            <a:r>
              <a:rPr lang="ru-RU" sz="1600" dirty="0" err="1"/>
              <a:t>Large</a:t>
            </a:r>
            <a:r>
              <a:rPr lang="ru-RU" sz="1600" dirty="0"/>
              <a:t>). Пример: Если файл размером 10МБ не загружается и падает с 413 — это лимит в </a:t>
            </a:r>
            <a:r>
              <a:rPr lang="ru-RU" sz="1600" dirty="0" err="1"/>
              <a:t>Ingress</a:t>
            </a:r>
            <a:r>
              <a:rPr lang="ru-RU" sz="1600" dirty="0"/>
              <a:t>, а не баг бэкенда.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/>
              <a:t>Логи самого </a:t>
            </a:r>
            <a:r>
              <a:rPr lang="en-US" sz="1600" dirty="0"/>
              <a:t>Ingress </a:t>
            </a:r>
            <a:r>
              <a:rPr lang="ru-RU" sz="1600" dirty="0"/>
              <a:t>находятся в системном поде контроллера (обычно это </a:t>
            </a:r>
            <a:r>
              <a:rPr lang="en-US" sz="1600" dirty="0"/>
              <a:t>Nginx): </a:t>
            </a:r>
            <a:r>
              <a:rPr lang="en-US" sz="1600" dirty="0" err="1"/>
              <a:t>kubectl</a:t>
            </a:r>
            <a:r>
              <a:rPr lang="en-US" sz="1600" dirty="0"/>
              <a:t> logs -n ingress-nginx deployment/ingress-nginx-controller</a:t>
            </a:r>
            <a:endParaRPr lang="ru-RU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/>
              <a:t>Либо в </a:t>
            </a:r>
            <a:r>
              <a:rPr lang="en-US" sz="1600" dirty="0"/>
              <a:t>GUI </a:t>
            </a:r>
            <a:r>
              <a:rPr lang="ru-RU" sz="1600" dirty="0"/>
              <a:t>(</a:t>
            </a:r>
            <a:r>
              <a:rPr lang="en-US" sz="1600" dirty="0"/>
              <a:t>Lens</a:t>
            </a:r>
            <a:r>
              <a:rPr lang="ru-RU" sz="1600" dirty="0"/>
              <a:t>)</a:t>
            </a:r>
            <a:r>
              <a:rPr lang="en-US" sz="1600" dirty="0"/>
              <a:t> – </a:t>
            </a:r>
            <a:r>
              <a:rPr lang="ru-RU" sz="1600" dirty="0"/>
              <a:t>логи соответствующего пода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/>
              <a:t>2.</a:t>
            </a:r>
            <a:r>
              <a:rPr lang="ru-RU" sz="1600" b="1" dirty="0"/>
              <a:t> </a:t>
            </a:r>
            <a:r>
              <a:rPr lang="en-US" sz="1600" b="1" dirty="0"/>
              <a:t>Service</a:t>
            </a:r>
            <a:endParaRPr lang="ru-RU" sz="1600" b="1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Ошибки 502 / 503. Проверяем, видит ли сервис поды (не опечатались ли в метках </a:t>
            </a:r>
            <a:r>
              <a:rPr lang="ru-RU" sz="1600" dirty="0" err="1"/>
              <a:t>selector</a:t>
            </a:r>
            <a:r>
              <a:rPr lang="ru-RU" sz="1600" dirty="0"/>
              <a:t>).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 err="1"/>
              <a:t>kubectl</a:t>
            </a:r>
            <a:r>
              <a:rPr lang="ru-RU" sz="1600" dirty="0"/>
              <a:t> </a:t>
            </a:r>
            <a:r>
              <a:rPr lang="ru-RU" sz="1600" dirty="0" err="1"/>
              <a:t>describe</a:t>
            </a:r>
            <a:r>
              <a:rPr lang="ru-RU" sz="1600" dirty="0"/>
              <a:t> </a:t>
            </a:r>
            <a:r>
              <a:rPr lang="ru-RU" sz="1600" dirty="0" err="1"/>
              <a:t>svc</a:t>
            </a:r>
            <a:r>
              <a:rPr lang="ru-RU" sz="1600" dirty="0"/>
              <a:t> имя-вашего-сервиса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/>
              <a:t>Либо в </a:t>
            </a:r>
            <a:r>
              <a:rPr lang="en-US" sz="1600" dirty="0"/>
              <a:t>GUI </a:t>
            </a:r>
            <a:r>
              <a:rPr lang="ru-RU" sz="1600" dirty="0"/>
              <a:t>(</a:t>
            </a:r>
            <a:r>
              <a:rPr lang="en-US" sz="1600" dirty="0"/>
              <a:t>Lens</a:t>
            </a:r>
            <a:r>
              <a:rPr lang="ru-RU" sz="1600" dirty="0"/>
              <a:t>)</a:t>
            </a:r>
            <a:r>
              <a:rPr lang="en-US" sz="1600" dirty="0"/>
              <a:t> – </a:t>
            </a:r>
            <a:r>
              <a:rPr lang="ru-RU" sz="1600" dirty="0"/>
              <a:t>Network </a:t>
            </a:r>
            <a:r>
              <a:rPr lang="en-US" sz="1600" dirty="0"/>
              <a:t>–&gt;</a:t>
            </a:r>
            <a:r>
              <a:rPr lang="ru-RU" sz="1600" dirty="0"/>
              <a:t> Services</a:t>
            </a:r>
            <a:r>
              <a:rPr lang="en-US" sz="1600" dirty="0"/>
              <a:t> -&gt; Endpoints (</a:t>
            </a:r>
            <a:r>
              <a:rPr lang="ru-RU" sz="1600" dirty="0"/>
              <a:t>может быть пусто)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b="1" dirty="0"/>
              <a:t>3. </a:t>
            </a:r>
            <a:r>
              <a:rPr lang="en-US" sz="1600" b="1" dirty="0"/>
              <a:t>Pod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600" dirty="0"/>
              <a:t>Ошибки 500, падение базы данных, падение самого контейнера (</a:t>
            </a:r>
            <a:r>
              <a:rPr lang="ru-RU" sz="1600" dirty="0" err="1"/>
              <a:t>CrashLoopBackOff</a:t>
            </a:r>
            <a:r>
              <a:rPr lang="ru-RU" sz="1600" dirty="0"/>
              <a:t>). </a:t>
            </a:r>
            <a:br>
              <a:rPr lang="ru-RU" sz="1600" dirty="0"/>
            </a:br>
            <a:r>
              <a:rPr lang="ru-RU" sz="1600" dirty="0"/>
              <a:t>Пример: Если в </a:t>
            </a:r>
            <a:r>
              <a:rPr lang="ru-RU" sz="1600" dirty="0" err="1"/>
              <a:t>Postman</a:t>
            </a:r>
            <a:r>
              <a:rPr lang="ru-RU" sz="1600" dirty="0"/>
              <a:t> прилетает чистый JSON с ошибкой 500 — </a:t>
            </a:r>
            <a:r>
              <a:rPr lang="ru-RU" sz="1600" dirty="0" err="1"/>
              <a:t>Ingress</a:t>
            </a:r>
            <a:r>
              <a:rPr lang="ru-RU" sz="1600" dirty="0"/>
              <a:t> и Service сработали идеально, идите читать логи Пода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 err="1"/>
              <a:t>kubectl</a:t>
            </a:r>
            <a:r>
              <a:rPr lang="ru-RU" sz="1600" dirty="0"/>
              <a:t> </a:t>
            </a:r>
            <a:r>
              <a:rPr lang="ru-RU" sz="1600" dirty="0" err="1"/>
              <a:t>logs</a:t>
            </a:r>
            <a:r>
              <a:rPr lang="ru-RU" sz="1600" dirty="0"/>
              <a:t> имя-пода --</a:t>
            </a:r>
            <a:r>
              <a:rPr lang="ru-RU" sz="1600" dirty="0" err="1"/>
              <a:t>tail</a:t>
            </a:r>
            <a:r>
              <a:rPr lang="ru-RU" sz="1600" dirty="0"/>
              <a:t>=100 –f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600" dirty="0"/>
              <a:t>Либо в </a:t>
            </a:r>
            <a:r>
              <a:rPr lang="en-US" sz="1600" dirty="0"/>
              <a:t>GUI </a:t>
            </a:r>
            <a:r>
              <a:rPr lang="ru-RU" sz="1600" dirty="0"/>
              <a:t>(</a:t>
            </a:r>
            <a:r>
              <a:rPr lang="en-US" sz="1600" dirty="0"/>
              <a:t>Lens</a:t>
            </a:r>
            <a:r>
              <a:rPr lang="ru-RU" sz="1600" dirty="0"/>
              <a:t>)</a:t>
            </a:r>
            <a:r>
              <a:rPr lang="en-US" sz="1600" dirty="0"/>
              <a:t> – </a:t>
            </a:r>
            <a:r>
              <a:rPr lang="ru-RU" sz="1600" dirty="0"/>
              <a:t>логи соответствующего пода</a:t>
            </a:r>
          </a:p>
        </p:txBody>
      </p:sp>
    </p:spTree>
    <p:extLst>
      <p:ext uri="{BB962C8B-B14F-4D97-AF65-F5344CB8AC3E}">
        <p14:creationId xmlns:p14="http://schemas.microsoft.com/office/powerpoint/2010/main" val="63616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9F4D-96BC-2466-2222-92062216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9676A-912F-BF52-4CD3-2BF5424D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Конфигурация стендов (</a:t>
            </a:r>
            <a:r>
              <a:rPr lang="ru-RU" sz="4000" dirty="0" err="1"/>
              <a:t>ConfigMaps</a:t>
            </a:r>
            <a:r>
              <a:rPr lang="ru-RU" sz="4000" dirty="0"/>
              <a:t> и </a:t>
            </a:r>
            <a:r>
              <a:rPr lang="ru-RU" sz="4000" dirty="0" err="1"/>
              <a:t>Secrets</a:t>
            </a:r>
            <a:r>
              <a:rPr lang="ru-RU" sz="4000" dirty="0"/>
              <a:t>)</a:t>
            </a:r>
            <a:endParaRPr lang="ru-RU" sz="43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031F19-9774-2C2B-E01A-F07500DDA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00944" cy="467353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b="1" dirty="0"/>
              <a:t>Источники конфигов в </a:t>
            </a:r>
            <a:r>
              <a:rPr lang="en-US" sz="2400" b="1" dirty="0"/>
              <a:t>K8s:</a:t>
            </a:r>
            <a:endParaRPr lang="ru-RU" sz="24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b="1" dirty="0" err="1"/>
              <a:t>ConfigMap</a:t>
            </a:r>
            <a:r>
              <a:rPr lang="ru-RU" sz="2400" b="1" dirty="0"/>
              <a:t>:</a:t>
            </a:r>
            <a:r>
              <a:rPr lang="ru-RU" sz="2400" dirty="0"/>
              <a:t> Хранит открытые данные (текст, конфигурационные файлы .</a:t>
            </a:r>
            <a:r>
              <a:rPr lang="ru-RU" sz="2400" dirty="0" err="1"/>
              <a:t>yaml</a:t>
            </a:r>
            <a:r>
              <a:rPr lang="ru-RU" sz="2400" dirty="0"/>
              <a:t> или .</a:t>
            </a:r>
            <a:r>
              <a:rPr lang="ru-RU" sz="2400" dirty="0" err="1"/>
              <a:t>json</a:t>
            </a:r>
            <a:r>
              <a:rPr lang="ru-RU" sz="2400" dirty="0"/>
              <a:t>, URL-адреса сторонних API).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b="1" dirty="0"/>
              <a:t>Secret:</a:t>
            </a:r>
            <a:r>
              <a:rPr lang="ru-RU" sz="2400" dirty="0"/>
              <a:t> Хранит зашифрованные (в формате Base64) приватные данные (пароли к БД, токены авторизации, SSL-ключи).</a:t>
            </a:r>
            <a:endParaRPr lang="en-US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2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Потенциальная проблема (пример): В конфиге для стенда </a:t>
            </a:r>
            <a:r>
              <a:rPr lang="en-US" sz="2400" dirty="0"/>
              <a:t>A </a:t>
            </a:r>
            <a:r>
              <a:rPr lang="ru-RU" sz="2400" dirty="0"/>
              <a:t>забыли перезаписать URL, и приложение стучится на адрес стенда </a:t>
            </a:r>
            <a:r>
              <a:rPr lang="en-US" sz="2400" dirty="0"/>
              <a:t>B.</a:t>
            </a:r>
            <a:endParaRPr lang="ru-RU" sz="2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105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/>
              <a:t>Для </a:t>
            </a:r>
            <a:r>
              <a:rPr lang="ru-RU" sz="2400" dirty="0" err="1"/>
              <a:t>Secrets</a:t>
            </a:r>
            <a:r>
              <a:rPr lang="ru-RU" sz="2400" i="1" dirty="0"/>
              <a:t>:</a:t>
            </a:r>
            <a:r>
              <a:rPr lang="ru-RU" sz="2400" dirty="0"/>
              <a:t> в </a:t>
            </a:r>
            <a:r>
              <a:rPr lang="ru-RU" sz="2400" dirty="0" err="1"/>
              <a:t>Lens</a:t>
            </a:r>
            <a:r>
              <a:rPr lang="ru-RU" sz="2400" dirty="0"/>
              <a:t> нужно нажать на иконку «глаза», чтобы </a:t>
            </a:r>
            <a:br>
              <a:rPr lang="ru-RU" sz="2400" dirty="0"/>
            </a:br>
            <a:r>
              <a:rPr lang="ru-RU" sz="2400" dirty="0"/>
              <a:t>декодировать скрытые пароли из Base64 в читаемый текст.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82CAEF-A830-EB7E-C164-0DD7296B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258" y="4826665"/>
            <a:ext cx="1615886" cy="182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32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E0E4-F8D6-76D4-3E13-DFDC66E6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422E2-DA9C-1135-E202-C6CD932C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Конфигурация стендов (</a:t>
            </a:r>
            <a:r>
              <a:rPr lang="ru-RU" sz="4000" dirty="0" err="1"/>
              <a:t>ConfigMaps</a:t>
            </a:r>
            <a:r>
              <a:rPr lang="ru-RU" sz="4000" dirty="0"/>
              <a:t> и </a:t>
            </a:r>
            <a:r>
              <a:rPr lang="ru-RU" sz="4000" dirty="0" err="1"/>
              <a:t>Secrets</a:t>
            </a:r>
            <a:r>
              <a:rPr lang="ru-RU" sz="4000" dirty="0"/>
              <a:t>)</a:t>
            </a:r>
            <a:endParaRPr lang="ru-RU" sz="4300" b="1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15DBB26-4974-AFF9-FE4F-2FDC39449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341" y="1471232"/>
            <a:ext cx="8995317" cy="467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046DCD-D979-8BF6-F903-66F67CA264D4}"/>
              </a:ext>
            </a:extLst>
          </p:cNvPr>
          <p:cNvSpPr txBox="1"/>
          <p:nvPr/>
        </p:nvSpPr>
        <p:spPr>
          <a:xfrm>
            <a:off x="676656" y="6163184"/>
            <a:ext cx="11305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1200"/>
              </a:spcAft>
            </a:pPr>
            <a:r>
              <a:rPr lang="ru-RU" sz="1800" b="0" u="none" strike="noStrike" dirty="0">
                <a:effectLst/>
                <a:latin typeface="Google Sans"/>
              </a:rPr>
              <a:t>Если вы просто изменили </a:t>
            </a:r>
            <a:r>
              <a:rPr lang="ru-RU" sz="1800" b="0" u="none" strike="noStrike" dirty="0" err="1">
                <a:effectLst/>
                <a:latin typeface="Google Sans"/>
              </a:rPr>
              <a:t>ConfigMap</a:t>
            </a:r>
            <a:r>
              <a:rPr lang="ru-RU" sz="1800" b="0" u="none" strike="noStrike" dirty="0">
                <a:effectLst/>
                <a:latin typeface="Google Sans"/>
              </a:rPr>
              <a:t>, </a:t>
            </a:r>
            <a:r>
              <a:rPr lang="ru-RU" sz="1800" b="1" u="none" strike="noStrike" dirty="0">
                <a:effectLst/>
                <a:latin typeface="Google Sans"/>
              </a:rPr>
              <a:t>приложение в поде об этом не узнает</a:t>
            </a:r>
            <a:r>
              <a:rPr lang="ru-RU" sz="1800" b="0" u="none" strike="noStrike" dirty="0">
                <a:effectLst/>
                <a:latin typeface="Google Sans"/>
              </a:rPr>
              <a:t>. Под уже запущен и прочитал старые переменные при старте. Необходимо перезапустить под (</a:t>
            </a:r>
            <a:r>
              <a:rPr lang="ru-RU" dirty="0"/>
              <a:t>Обычно </a:t>
            </a:r>
            <a:r>
              <a:rPr lang="ru-RU" dirty="0" err="1"/>
              <a:t>kubectl</a:t>
            </a:r>
            <a:r>
              <a:rPr lang="ru-RU" dirty="0"/>
              <a:t> </a:t>
            </a:r>
            <a:r>
              <a:rPr lang="ru-RU" dirty="0" err="1"/>
              <a:t>rollout</a:t>
            </a:r>
            <a:r>
              <a:rPr lang="ru-RU" dirty="0"/>
              <a:t> </a:t>
            </a:r>
            <a:r>
              <a:rPr lang="ru-RU" dirty="0" err="1"/>
              <a:t>restart</a:t>
            </a:r>
            <a:r>
              <a:rPr lang="ru-RU" dirty="0"/>
              <a:t> </a:t>
            </a:r>
            <a:r>
              <a:rPr lang="ru-RU" dirty="0" err="1"/>
              <a:t>deployment</a:t>
            </a:r>
            <a:r>
              <a:rPr lang="ru-RU" dirty="0"/>
              <a:t>)</a:t>
            </a:r>
            <a:endParaRPr lang="ru-RU" sz="1800" b="0" u="none" strike="noStrike" dirty="0">
              <a:effectLst/>
              <a:latin typeface="Google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FCC87C-400A-256C-48A0-DD37AA8A4F3E}"/>
              </a:ext>
            </a:extLst>
          </p:cNvPr>
          <p:cNvSpPr txBox="1"/>
          <p:nvPr/>
        </p:nvSpPr>
        <p:spPr>
          <a:xfrm>
            <a:off x="486821" y="6101629"/>
            <a:ext cx="3513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46432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B1E2-71E5-04D9-6873-F6995BD26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D0A95-2214-4456-D31D-DE15F3FB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Статусы подов</a:t>
            </a:r>
            <a:endParaRPr lang="ru-RU" sz="4300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EC6FC83-94C9-B4DA-A1E2-4289BB2B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0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/>
              <a:t>🟢 </a:t>
            </a:r>
            <a:r>
              <a:rPr lang="ru-RU" sz="2400" b="1" dirty="0" err="1"/>
              <a:t>Running</a:t>
            </a:r>
            <a:r>
              <a:rPr lang="ru-RU" sz="2400" dirty="0"/>
              <a:t> — Всё отлично, приложение запущено и готово к тестированию.</a:t>
            </a:r>
          </a:p>
          <a:p>
            <a:pPr marL="0" indent="0">
              <a:buNone/>
            </a:pPr>
            <a:r>
              <a:rPr lang="ru-RU" sz="2400" dirty="0"/>
              <a:t>🟡 </a:t>
            </a:r>
            <a:r>
              <a:rPr lang="ru-RU" sz="2400" b="1" dirty="0" err="1"/>
              <a:t>Pending</a:t>
            </a:r>
            <a:r>
              <a:rPr lang="ru-RU" sz="2400" dirty="0"/>
              <a:t> — Кластеру не хватает ресурсов (CPU/RAM). K8s ждет, пока освободится место.</a:t>
            </a:r>
          </a:p>
          <a:p>
            <a:pPr marL="0" indent="0">
              <a:buNone/>
            </a:pPr>
            <a:r>
              <a:rPr lang="ru-RU" sz="2400" dirty="0"/>
              <a:t>🔴 </a:t>
            </a:r>
            <a:r>
              <a:rPr lang="ru-RU" sz="2400" b="1" dirty="0" err="1"/>
              <a:t>ImagePullBackOff</a:t>
            </a:r>
            <a:r>
              <a:rPr lang="ru-RU" sz="2400" dirty="0"/>
              <a:t> — Возможные причины: опечатка в названии или теге образа контейнера, нет доступа к </a:t>
            </a:r>
            <a:r>
              <a:rPr lang="en-US" sz="2400" dirty="0"/>
              <a:t>registry, </a:t>
            </a:r>
            <a:r>
              <a:rPr lang="ru-RU" sz="2400"/>
              <a:t>не существует образ</a:t>
            </a:r>
            <a:r>
              <a:rPr lang="en-US" sz="2400"/>
              <a:t>. </a:t>
            </a:r>
            <a:r>
              <a:rPr lang="ru-RU" sz="2400" dirty="0"/>
              <a:t>K8s не может скачать его из реестра. </a:t>
            </a:r>
          </a:p>
          <a:p>
            <a:pPr marL="0" indent="0">
              <a:buNone/>
            </a:pPr>
            <a:r>
              <a:rPr lang="ru-RU" sz="2400" dirty="0"/>
              <a:t>🔴 </a:t>
            </a:r>
            <a:r>
              <a:rPr lang="ru-RU" sz="2400" b="1" dirty="0" err="1"/>
              <a:t>CrashLoopBackOff</a:t>
            </a:r>
            <a:r>
              <a:rPr lang="ru-RU" sz="2400" dirty="0"/>
              <a:t> — Приложение падает сразу после старта (ошибка в коде, упала БД или не хватает конфига).</a:t>
            </a:r>
          </a:p>
          <a:p>
            <a:r>
              <a:rPr lang="en-US" sz="2400" dirty="0" err="1"/>
              <a:t>kubectl</a:t>
            </a:r>
            <a:r>
              <a:rPr lang="en-US" sz="2400" dirty="0"/>
              <a:t> logs &lt;pod&gt; (</a:t>
            </a:r>
            <a:r>
              <a:rPr lang="ru-RU" sz="2400" dirty="0"/>
              <a:t>смотрим, что сломалось сейчас).</a:t>
            </a:r>
          </a:p>
          <a:p>
            <a:r>
              <a:rPr lang="en-US" sz="2400" dirty="0" err="1"/>
              <a:t>kubectl</a:t>
            </a:r>
            <a:r>
              <a:rPr lang="en-US" sz="2400" dirty="0"/>
              <a:t> logs &lt;pod&gt; --previous (</a:t>
            </a:r>
            <a:r>
              <a:rPr lang="ru-RU" sz="2400" dirty="0"/>
              <a:t>смотрим, что сломалось ДО перезапуска, часто там настоящая ошибка).</a:t>
            </a:r>
          </a:p>
          <a:p>
            <a:r>
              <a:rPr lang="en-US" sz="2400" dirty="0" err="1"/>
              <a:t>kubectl</a:t>
            </a:r>
            <a:r>
              <a:rPr lang="en-US" sz="2400" dirty="0"/>
              <a:t> describe pod &lt;pod&gt; (</a:t>
            </a:r>
            <a:r>
              <a:rPr lang="ru-RU" sz="2400" dirty="0"/>
              <a:t>смотрим события - почему </a:t>
            </a:r>
            <a:r>
              <a:rPr lang="en-US" sz="2400" dirty="0"/>
              <a:t>K8s </a:t>
            </a:r>
            <a:r>
              <a:rPr lang="ru-RU" sz="2400" dirty="0"/>
              <a:t>его убил: </a:t>
            </a:r>
            <a:r>
              <a:rPr lang="en-US" sz="2400" dirty="0" err="1"/>
              <a:t>OOMKilled</a:t>
            </a:r>
            <a:r>
              <a:rPr lang="en-US" sz="2400" dirty="0"/>
              <a:t>, Liveness probe failed).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95014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6E93-0DD5-DC9B-0B95-C102614F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50159-B316-5DA7-23A8-3AC299F65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Readiness </a:t>
            </a:r>
            <a:r>
              <a:rPr lang="ru-RU" sz="4000" dirty="0"/>
              <a:t>и </a:t>
            </a:r>
            <a:r>
              <a:rPr lang="en-US" sz="4000" dirty="0"/>
              <a:t>Liveness</a:t>
            </a:r>
            <a:endParaRPr lang="ru-RU" sz="4300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CD9C00A-8E5C-A5CF-335F-189B544F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/>
              <a:t>Kubernetes</a:t>
            </a:r>
            <a:r>
              <a:rPr lang="ru-RU" sz="2400" dirty="0"/>
              <a:t> проверяет контейнер двумя видами проверок:</a:t>
            </a:r>
          </a:p>
          <a:p>
            <a:r>
              <a:rPr lang="en-US" sz="2400" dirty="0"/>
              <a:t>Readiness Probe</a:t>
            </a:r>
            <a:r>
              <a:rPr lang="ru-RU" sz="2400" dirty="0"/>
              <a:t> – «Можно ли уже отправлять в </a:t>
            </a:r>
            <a:r>
              <a:rPr lang="ru-RU" sz="2400" dirty="0" err="1"/>
              <a:t>Pod</a:t>
            </a:r>
            <a:r>
              <a:rPr lang="ru-RU" sz="2400" dirty="0"/>
              <a:t> пользовательские запросы?». Проверка не прошла: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sz="2000" dirty="0" err="1"/>
              <a:t>Pod</a:t>
            </a:r>
            <a:r>
              <a:rPr lang="ru-RU" sz="2000" dirty="0"/>
              <a:t> продолжает работать </a:t>
            </a:r>
          </a:p>
          <a:p>
            <a:pPr lvl="1">
              <a:buFont typeface="Calibri" panose="020F0502020204030204" pitchFamily="34" charset="0"/>
              <a:buChar char="×"/>
            </a:pPr>
            <a:r>
              <a:rPr lang="ru-RU" sz="2000" dirty="0"/>
              <a:t>Service </a:t>
            </a:r>
            <a:r>
              <a:rPr lang="ru-RU" sz="2000" b="1" dirty="0"/>
              <a:t>не направляет</a:t>
            </a:r>
            <a:r>
              <a:rPr lang="ru-RU" sz="2000" dirty="0"/>
              <a:t> на него трафик</a:t>
            </a:r>
          </a:p>
          <a:p>
            <a:r>
              <a:rPr lang="en-US" sz="2400" dirty="0"/>
              <a:t>Liveness Probe</a:t>
            </a:r>
            <a:r>
              <a:rPr lang="ru-RU" sz="2400" dirty="0"/>
              <a:t> – «Живо ли приложение?». Проверка не прошла:</a:t>
            </a:r>
          </a:p>
          <a:p>
            <a:pPr lvl="1"/>
            <a:r>
              <a:rPr lang="ru-RU" sz="2000" dirty="0" err="1"/>
              <a:t>Kubernetes</a:t>
            </a:r>
            <a:r>
              <a:rPr lang="ru-RU" sz="2000" dirty="0"/>
              <a:t> перезапускает контейнер.</a:t>
            </a:r>
          </a:p>
          <a:p>
            <a:pPr marL="0" lvl="1" indent="0">
              <a:buNone/>
            </a:pPr>
            <a:r>
              <a:rPr lang="ru-RU" dirty="0"/>
              <a:t>Service</a:t>
            </a:r>
            <a:r>
              <a:rPr lang="ru-RU" sz="2000" dirty="0"/>
              <a:t> отправляет запросы только в </a:t>
            </a:r>
            <a:r>
              <a:rPr lang="ru-RU" sz="2000" dirty="0" err="1"/>
              <a:t>Pod</a:t>
            </a:r>
            <a:r>
              <a:rPr lang="ru-RU" sz="2000" dirty="0"/>
              <a:t>, прошедшие </a:t>
            </a:r>
            <a:r>
              <a:rPr lang="ru-RU" sz="2000" dirty="0" err="1"/>
              <a:t>Readiness</a:t>
            </a:r>
            <a:r>
              <a:rPr lang="ru-RU" sz="2000" dirty="0"/>
              <a:t>.</a:t>
            </a:r>
          </a:p>
          <a:p>
            <a:pPr lvl="1"/>
            <a:endParaRPr lang="ru-RU" sz="2000" dirty="0"/>
          </a:p>
          <a:p>
            <a:pPr lvl="1"/>
            <a:endParaRPr lang="ru-RU" sz="2000" dirty="0"/>
          </a:p>
          <a:p>
            <a:pPr marL="457200" lvl="1" indent="0">
              <a:buNone/>
            </a:pPr>
            <a:endParaRPr lang="ru-RU" sz="20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7D77DD7-BF0D-4C5B-AD4E-A887B8E6C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870"/>
              </p:ext>
            </p:extLst>
          </p:nvPr>
        </p:nvGraphicFramePr>
        <p:xfrm>
          <a:off x="2256536" y="4817928"/>
          <a:ext cx="7678928" cy="1674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712">
                  <a:extLst>
                    <a:ext uri="{9D8B030D-6E8A-4147-A177-3AD203B41FA5}">
                      <a16:colId xmlns:a16="http://schemas.microsoft.com/office/drawing/2014/main" val="1801789573"/>
                    </a:ext>
                  </a:extLst>
                </a:gridCol>
                <a:gridCol w="4014216">
                  <a:extLst>
                    <a:ext uri="{9D8B030D-6E8A-4147-A177-3AD203B41FA5}">
                      <a16:colId xmlns:a16="http://schemas.microsoft.com/office/drawing/2014/main" val="130156948"/>
                    </a:ext>
                  </a:extLst>
                </a:gridCol>
              </a:tblGrid>
              <a:tr h="394787">
                <a:tc>
                  <a:txBody>
                    <a:bodyPr/>
                    <a:lstStyle/>
                    <a:p>
                      <a:r>
                        <a:rPr lang="ru-RU" dirty="0"/>
                        <a:t>Симптом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Возможная причина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132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Pod</a:t>
                      </a:r>
                      <a:r>
                        <a:rPr lang="ru-RU" dirty="0"/>
                        <a:t> </a:t>
                      </a:r>
                      <a:r>
                        <a:rPr lang="ru-RU" dirty="0" err="1"/>
                        <a:t>Running</a:t>
                      </a:r>
                      <a:r>
                        <a:rPr lang="ru-RU" dirty="0"/>
                        <a:t>, но приложение недоступно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Readiness</a:t>
                      </a:r>
                      <a:r>
                        <a:rPr lang="ru-RU" dirty="0"/>
                        <a:t> не проходит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6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Контейнер постоянно перезапускается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Liveness</a:t>
                      </a:r>
                      <a:r>
                        <a:rPr lang="ru-RU" dirty="0"/>
                        <a:t> не проходит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95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636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C301-43F9-4B41-1C91-3758DE63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24129-7D87-1090-2B4D-E21FB89D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Readiness </a:t>
            </a:r>
            <a:r>
              <a:rPr lang="ru-RU" sz="4000" dirty="0"/>
              <a:t>и </a:t>
            </a:r>
            <a:r>
              <a:rPr lang="en-US" sz="4000" dirty="0"/>
              <a:t>Liveness</a:t>
            </a:r>
            <a:endParaRPr lang="ru-RU" sz="4300" b="1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B3F58A2-0BD9-BB93-553B-7E4CCFD58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70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sz="2000" dirty="0"/>
          </a:p>
          <a:p>
            <a:pPr lvl="1"/>
            <a:endParaRPr lang="ru-RU" sz="2000" dirty="0"/>
          </a:p>
          <a:p>
            <a:pPr marL="457200" lvl="1" indent="0">
              <a:buNone/>
            </a:pPr>
            <a:endParaRPr lang="ru-RU" sz="2000" dirty="0"/>
          </a:p>
        </p:txBody>
      </p:sp>
      <p:pic>
        <p:nvPicPr>
          <p:cNvPr id="6" name="Рисунок 5" descr="Keeping Kubernetes Healthy: Liveness and Readiness Probe Explained | by  Sachinadi | Medium">
            <a:extLst>
              <a:ext uri="{FF2B5EF4-FFF2-40B4-BE49-F238E27FC236}">
                <a16:creationId xmlns:a16="http://schemas.microsoft.com/office/drawing/2014/main" id="{25698650-05AF-B60F-AD10-0701511F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71" y="1602693"/>
            <a:ext cx="9141714" cy="451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67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2C69-6495-955C-3B8E-E21B1BC1A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39C62-5C80-DE94-B703-E98A26C4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b="1" dirty="0" err="1"/>
              <a:t>Minikube</a:t>
            </a:r>
            <a:endParaRPr lang="ru-RU" sz="4300" b="1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09560A-1BC3-CD83-7F1C-32EF7082D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Для желающих разобраться лучше в теме предлагается выполнить «домашнее задание» - настроить свой кластер </a:t>
            </a:r>
            <a:r>
              <a:rPr lang="en-US" dirty="0" err="1"/>
              <a:t>minikube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ru-RU" b="1" dirty="0" err="1"/>
              <a:t>Minikube</a:t>
            </a:r>
            <a:r>
              <a:rPr lang="ru-RU" dirty="0"/>
              <a:t> позволит легко запустить локальный </a:t>
            </a:r>
            <a:r>
              <a:rPr lang="ru-RU" b="1" dirty="0"/>
              <a:t>одноузловой</a:t>
            </a:r>
            <a:r>
              <a:rPr lang="ru-RU" dirty="0"/>
              <a:t> кластер Kubernetes (K8s) на обычном ПК внутри виртуальной машины или контейнера (в нашем случае). </a:t>
            </a:r>
          </a:p>
          <a:p>
            <a:pPr marL="0" indent="0">
              <a:buNone/>
            </a:pPr>
            <a:r>
              <a:rPr lang="ru-RU" dirty="0"/>
              <a:t>Он идеален для изучения K8s, тестирования конфигураций и локальной разработки.</a:t>
            </a:r>
          </a:p>
          <a:p>
            <a:pPr marL="0" indent="0">
              <a:buNone/>
            </a:pPr>
            <a:r>
              <a:rPr lang="ru-RU" dirty="0"/>
              <a:t>В практической части мы развернем </a:t>
            </a:r>
            <a:r>
              <a:rPr lang="ru-RU" dirty="0" err="1"/>
              <a:t>Minikube</a:t>
            </a:r>
            <a:r>
              <a:rPr lang="ru-RU" dirty="0"/>
              <a:t> и создадим свое первое приложение - «Банк котиков». Вы увидите все компоненты в действии.</a:t>
            </a:r>
          </a:p>
        </p:txBody>
      </p:sp>
    </p:spTree>
    <p:extLst>
      <p:ext uri="{BB962C8B-B14F-4D97-AF65-F5344CB8AC3E}">
        <p14:creationId xmlns:p14="http://schemas.microsoft.com/office/powerpoint/2010/main" val="2161370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8857</TotalTime>
  <Words>1923</Words>
  <Application>Microsoft Office PowerPoint</Application>
  <PresentationFormat>Широкоэкранный</PresentationFormat>
  <Paragraphs>148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Google Sans</vt:lpstr>
      <vt:lpstr>Wingdings</vt:lpstr>
      <vt:lpstr>Тема Office</vt:lpstr>
      <vt:lpstr>K8s взглядом специалиста по качеству</vt:lpstr>
      <vt:lpstr>Что это?</vt:lpstr>
      <vt:lpstr>Зачем это?</vt:lpstr>
      <vt:lpstr>Основные компоненты</vt:lpstr>
      <vt:lpstr>Основные компоненты. Control Plane</vt:lpstr>
      <vt:lpstr>Основные компоненты. Worker node</vt:lpstr>
      <vt:lpstr>Основные компоненты. Context</vt:lpstr>
      <vt:lpstr>Основные компоненты. Namespace</vt:lpstr>
      <vt:lpstr>Общие концепции. Декларативный подход</vt:lpstr>
      <vt:lpstr>Общие концепции. ReplicaSet</vt:lpstr>
      <vt:lpstr>Общие концепции. Deployment</vt:lpstr>
      <vt:lpstr>Общие концепции. Deployment</vt:lpstr>
      <vt:lpstr>*Процесс внесения изменений в состояние</vt:lpstr>
      <vt:lpstr>Общие концепции. Kubernetes Service</vt:lpstr>
      <vt:lpstr>Общие концепции. Kubernetes Service</vt:lpstr>
      <vt:lpstr>Общие концепции. Kubernetes Service</vt:lpstr>
      <vt:lpstr>Общие концепции. Ingress</vt:lpstr>
      <vt:lpstr>Общие концепции. Ingress</vt:lpstr>
      <vt:lpstr>Поиск ошибок в цепочке Ingress-Service-Pod</vt:lpstr>
      <vt:lpstr>Поиск ошибок в цепочке Ingress-Service-Pod</vt:lpstr>
      <vt:lpstr>Конфигурация стендов (ConfigMaps и Secrets)</vt:lpstr>
      <vt:lpstr>Конфигурация стендов (ConfigMaps и Secrets)</vt:lpstr>
      <vt:lpstr>Статусы подов</vt:lpstr>
      <vt:lpstr>Readiness и Liveness</vt:lpstr>
      <vt:lpstr>Readiness и Liveness</vt:lpstr>
      <vt:lpstr>Minikube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Собина</dc:creator>
  <cp:lastModifiedBy>Алена Собина</cp:lastModifiedBy>
  <cp:revision>59</cp:revision>
  <dcterms:created xsi:type="dcterms:W3CDTF">2026-07-03T04:37:23Z</dcterms:created>
  <dcterms:modified xsi:type="dcterms:W3CDTF">2026-07-14T18:19:34Z</dcterms:modified>
</cp:coreProperties>
</file>