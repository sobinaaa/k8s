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Default Extension="ZP_RWwdBWYpf0JJ0UnkOiO0F6gKQigNPh9LLw2s-&amp;format=source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70" r:id="rId4"/>
    <p:sldId id="257" r:id="rId5"/>
    <p:sldId id="258" r:id="rId6"/>
    <p:sldId id="282" r:id="rId7"/>
    <p:sldId id="263" r:id="rId8"/>
    <p:sldId id="264" r:id="rId9"/>
    <p:sldId id="265" r:id="rId10"/>
    <p:sldId id="269" r:id="rId11"/>
    <p:sldId id="271" r:id="rId12"/>
    <p:sldId id="272" r:id="rId13"/>
    <p:sldId id="273" r:id="rId14"/>
    <p:sldId id="274" r:id="rId15"/>
    <p:sldId id="275" r:id="rId16"/>
    <p:sldId id="276" r:id="rId17"/>
    <p:sldId id="277" r:id="rId18"/>
    <p:sldId id="278" r:id="rId19"/>
    <p:sldId id="279" r:id="rId20"/>
    <p:sldId id="280" r:id="rId21"/>
    <p:sldId id="281" r:id="rId22"/>
    <p:sldId id="283" r:id="rId2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319ABB-629B-BE3D-0969-EFA02880AF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5A43CBF-8275-0548-CC21-9D9D33C303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A516748-57CC-1BE2-CB13-A137FE26C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9BAEA6-88FC-4542-B3BF-F11A57CC5938}" type="datetimeFigureOut">
              <a:rPr lang="ru-RU" smtClean="0"/>
              <a:t>17.07.2026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9AE57A8-0FED-7B07-8726-4259B9B217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28A5708-92BD-7AAE-60A3-54707ADF5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BFDC9-673D-4E3D-B5C9-043B2826EF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75780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50A1F4-6006-6019-23B0-35D4735AC8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E74F196-33C1-AF63-9F83-0F18E915BA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C87FB51-E8EF-3484-03DC-1545C05277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9BAEA6-88FC-4542-B3BF-F11A57CC5938}" type="datetimeFigureOut">
              <a:rPr lang="ru-RU" smtClean="0"/>
              <a:t>17.07.2026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150F4DF-56AE-149A-9129-D1E22ACF4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4548275-C2FD-0D60-B204-60DEF5B539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BFDC9-673D-4E3D-B5C9-043B2826EF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26512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87F08BC-B20E-4DF3-3247-8199E898D9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1958AC5-5816-E0AD-2F73-8337DA710F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A649311-0EE0-8D17-ADD9-DD3ED6E0C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9BAEA6-88FC-4542-B3BF-F11A57CC5938}" type="datetimeFigureOut">
              <a:rPr lang="ru-RU" smtClean="0"/>
              <a:t>17.07.2026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302F322-709B-F179-DCFE-AA1A8E0A43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41D4E44-AE15-1F54-97BC-1DB89B7C3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BFDC9-673D-4E3D-B5C9-043B2826EF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66158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5BDF857-35DC-6E89-2DB6-3AC1DF5000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3409A46-E308-F0B2-D7A1-30A22ED80C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DEE2410-9E67-E70F-0067-26B821CF9E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8F692C9-D0B3-46E0-7B72-B1D5077ECD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9BAEA6-88FC-4542-B3BF-F11A57CC5938}" type="datetimeFigureOut">
              <a:rPr lang="ru-RU" smtClean="0"/>
              <a:t>17.07.2026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5AEC304-54E5-7827-5842-29D57CC6D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826E3C7-15AA-B7C0-0583-EF284EE29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BFDC9-673D-4E3D-B5C9-043B2826EF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817542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1E9381-FF0E-69E9-1542-09D08A4D8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D7C5D5D-CB5D-DD04-AA00-B26910E9F1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5780D45-AA96-3B15-C5CB-CAC399B7A5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B4A92ED-0F99-3AF6-C95D-9B0304CE33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D90DCC5F-EA02-9CA3-7768-B8C822A35F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D91F9A82-997F-A589-7A55-6CCD0B7BD4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9BAEA6-88FC-4542-B3BF-F11A57CC5938}" type="datetimeFigureOut">
              <a:rPr lang="ru-RU" smtClean="0"/>
              <a:t>17.07.2026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DA1B2454-A946-5284-6631-C5386EA68A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C5E4A86B-9FCF-E824-B0DE-EC4B9BC18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BFDC9-673D-4E3D-B5C9-043B2826EF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540510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14FC13-284D-AF04-2F3A-B504D70E36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78CF76A5-61C4-138C-8876-B20928B25A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9BAEA6-88FC-4542-B3BF-F11A57CC5938}" type="datetimeFigureOut">
              <a:rPr lang="ru-RU" smtClean="0"/>
              <a:t>17.07.2026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8FAC579-D24F-F93E-2810-1106E7538B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1DDDEB1-C227-93D0-B5B3-C682B10C0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BFDC9-673D-4E3D-B5C9-043B2826EF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303331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508A306D-FB60-76F3-E28B-FC4DFF2E6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9BAEA6-88FC-4542-B3BF-F11A57CC5938}" type="datetimeFigureOut">
              <a:rPr lang="ru-RU" smtClean="0"/>
              <a:t>17.07.2026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5D9C9E3D-A6C1-2FF6-C860-0442D01B1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3DD2218-6844-3191-3C6D-5E4B6319C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BFDC9-673D-4E3D-B5C9-043B2826EF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529993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77AE2E-78C7-178E-9819-C7BC83E6AD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7181171-EB53-3F8D-F683-35DCD4A078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6D80245-1C01-0DEC-D202-2A21221314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28CF93F-3AAC-FDF6-8C2C-5D8B0AF27D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9BAEA6-88FC-4542-B3BF-F11A57CC5938}" type="datetimeFigureOut">
              <a:rPr lang="ru-RU" smtClean="0"/>
              <a:t>17.07.2026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D064720-5242-4F30-ED86-845116535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EA9795A-2615-EB28-8C20-BFB48A529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BFDC9-673D-4E3D-B5C9-043B2826EF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13265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3FAA14-36F9-4182-98FA-24CC90ED19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C4A1C291-6E9B-F5C3-300F-2A03CE6EF26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C62D865-0D24-48C3-97CC-DC0E3AA6BC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E197DFF-01A6-0D53-91EC-89A4E378EC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9BAEA6-88FC-4542-B3BF-F11A57CC5938}" type="datetimeFigureOut">
              <a:rPr lang="ru-RU" smtClean="0"/>
              <a:t>17.07.2026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5275B6E-8538-F121-11E7-013A1F6F8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75CDC21-16AE-51E7-7866-5C0E8A30D8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BFDC9-673D-4E3D-B5C9-043B2826EF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739084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26B3E7-E946-618A-B50C-8A24DDA9B7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40BA08E-F714-E7B6-C0A8-E234050B47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B5A9CC2-824B-4777-81FF-C7FC1EFC0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9BAEA6-88FC-4542-B3BF-F11A57CC5938}" type="datetimeFigureOut">
              <a:rPr lang="ru-RU" smtClean="0"/>
              <a:t>17.07.2026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A09BB28-E24D-1524-44B0-10E874E60F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3C8A964-2652-9D7B-94D6-A4F3FCCE0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BFDC9-673D-4E3D-B5C9-043B2826EF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539886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94DA4FE6-9FBE-DEAB-567C-F4B1EB7A7B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E4CA4EE-4EEF-3ABC-63C5-11658517F4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AD4502F-67D9-3AD2-3AEF-1EF870C912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9BAEA6-88FC-4542-B3BF-F11A57CC5938}" type="datetimeFigureOut">
              <a:rPr lang="ru-RU" smtClean="0"/>
              <a:t>17.07.2026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19DB5D3-F04A-5378-8C87-42325A76E4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68D0C39-176E-017F-5186-CEE7E79D1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BFDC9-673D-4E3D-B5C9-043B2826EF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19362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9FDED0-2524-B405-858C-178A555035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AC4CF30-EE6A-0358-B9A5-A0BB75B724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6828358-8BDD-0DBF-128C-D6363C0881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9BAEA6-88FC-4542-B3BF-F11A57CC5938}" type="datetimeFigureOut">
              <a:rPr lang="ru-RU" smtClean="0"/>
              <a:t>17.07.2026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6C6891A-FD5C-E089-B882-8C0F2F3C74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B698368-1739-3D95-C1AA-7BECAEF4AC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6BFDC9-673D-4E3D-B5C9-043B2826EF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38598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ZP_RWwdBWYpf0JJ0UnkOiO0F6gKQigNPh9LLw2s-&amp;format=source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emf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hyperlink" Target="http://cat-bank.local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hyperlink" Target="https://api.adviceslip.com/advice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e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19.emf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emf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43D78B-1A8E-39B9-88F7-50FC8ACD94D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7030A0"/>
                </a:solidFill>
              </a:rPr>
              <a:t>K8s </a:t>
            </a:r>
            <a:r>
              <a:rPr lang="ru-RU" b="1" dirty="0">
                <a:solidFill>
                  <a:srgbClr val="7030A0"/>
                </a:solidFill>
              </a:rPr>
              <a:t>взглядом специалиста по качеству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480E006-3C6F-16AF-B8CA-F5C4C4F490B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Lab</a:t>
            </a:r>
            <a:r>
              <a:rPr lang="ru-RU"/>
              <a:t> 1 </a:t>
            </a:r>
            <a:r>
              <a:rPr lang="ru-RU" dirty="0"/>
              <a:t>«Как </a:t>
            </a:r>
            <a:r>
              <a:rPr lang="ru-RU" dirty="0" err="1"/>
              <a:t>Kubernetes</a:t>
            </a:r>
            <a:r>
              <a:rPr lang="ru-RU" dirty="0"/>
              <a:t> работает внутри»</a:t>
            </a:r>
          </a:p>
        </p:txBody>
      </p:sp>
    </p:spTree>
    <p:extLst>
      <p:ext uri="{BB962C8B-B14F-4D97-AF65-F5344CB8AC3E}">
        <p14:creationId xmlns:p14="http://schemas.microsoft.com/office/powerpoint/2010/main" val="2331753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ED2728A-8816-AE1F-F2F2-A6037E0F49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chemeClr val="accent1"/>
                </a:solidFill>
              </a:rPr>
              <a:t>Зачем нам разбираться с </a:t>
            </a:r>
            <a:r>
              <a:rPr lang="en-US" b="1" dirty="0" err="1">
                <a:solidFill>
                  <a:schemeClr val="accent1"/>
                </a:solidFill>
              </a:rPr>
              <a:t>Minikube</a:t>
            </a:r>
            <a:r>
              <a:rPr lang="en-US" b="1" dirty="0">
                <a:solidFill>
                  <a:schemeClr val="accent1"/>
                </a:solidFill>
              </a:rPr>
              <a:t>?</a:t>
            </a:r>
            <a:endParaRPr lang="ru-RU" b="1" dirty="0">
              <a:solidFill>
                <a:schemeClr val="accent1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27775D7-D33B-C6B3-A0BD-4483F75987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Полная свобода действий:</a:t>
            </a:r>
            <a:r>
              <a:rPr lang="ru-RU" dirty="0"/>
              <a:t> Вы получаете личный полноценный кластер на своем ноутбуке. Здесь можно перезапускать поды, менять конфиги, ломать и чинить окружение — и никто не придет ругаться, что «сломали стенд».</a:t>
            </a:r>
          </a:p>
          <a:p>
            <a:r>
              <a:rPr lang="ru-RU" b="1" dirty="0"/>
              <a:t>Понимание процессов изнутри:</a:t>
            </a:r>
            <a:r>
              <a:rPr lang="ru-RU" dirty="0"/>
              <a:t> В </a:t>
            </a:r>
            <a:r>
              <a:rPr lang="ru-RU" dirty="0" err="1"/>
              <a:t>Minikube</a:t>
            </a:r>
            <a:r>
              <a:rPr lang="ru-RU" dirty="0"/>
              <a:t> мы пройдем весь путь запроса руками, чтобы в реальных проектах мгновенно понимать, где именно застрял трафик.</a:t>
            </a:r>
          </a:p>
        </p:txBody>
      </p:sp>
    </p:spTree>
    <p:extLst>
      <p:ext uri="{BB962C8B-B14F-4D97-AF65-F5344CB8AC3E}">
        <p14:creationId xmlns:p14="http://schemas.microsoft.com/office/powerpoint/2010/main" val="498594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B30F7B-D609-099F-A451-D8E8DD7930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8BBF66-6306-5D9F-1B9B-7E5804D09D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chemeClr val="accent1"/>
                </a:solidFill>
              </a:rPr>
              <a:t>Предварительная</a:t>
            </a:r>
            <a:r>
              <a:rPr lang="ru-RU" dirty="0"/>
              <a:t> </a:t>
            </a:r>
            <a:r>
              <a:rPr lang="ru-RU" b="1" dirty="0">
                <a:solidFill>
                  <a:schemeClr val="accent1"/>
                </a:solidFill>
              </a:rPr>
              <a:t>установка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B5B4EBD-639F-4E05-0C88-8AA1412788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Должны быть установлены (стандартными средствами):</a:t>
            </a:r>
          </a:p>
          <a:p>
            <a:r>
              <a:rPr lang="en-US" dirty="0"/>
              <a:t>Docker Desktop</a:t>
            </a:r>
          </a:p>
          <a:p>
            <a:r>
              <a:rPr lang="en-US" dirty="0"/>
              <a:t>Lens – </a:t>
            </a:r>
            <a:r>
              <a:rPr lang="ru-RU" dirty="0"/>
              <a:t>популярная IDE с GU</a:t>
            </a:r>
            <a:r>
              <a:rPr lang="en-US" dirty="0"/>
              <a:t>I</a:t>
            </a:r>
            <a:r>
              <a:rPr lang="ru-RU" dirty="0"/>
              <a:t>, созданная для полноценного управления, мониторинга и отладки кластеров Kubernetes</a:t>
            </a:r>
            <a:r>
              <a:rPr lang="en-US" dirty="0"/>
              <a:t> </a:t>
            </a:r>
            <a:endParaRPr lang="ru-RU" dirty="0"/>
          </a:p>
        </p:txBody>
      </p:sp>
      <p:pic>
        <p:nvPicPr>
          <p:cNvPr id="4" name="Рисунок 3" descr="Docker Desktop - Download and install on Windows | Microsoft Store">
            <a:extLst>
              <a:ext uri="{FF2B5EF4-FFF2-40B4-BE49-F238E27FC236}">
                <a16:creationId xmlns:a16="http://schemas.microsoft.com/office/drawing/2014/main" id="{7D180717-20F7-7FC7-6771-B5934969D2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169" y="3765137"/>
            <a:ext cx="1684782" cy="1684782"/>
          </a:xfrm>
          <a:prstGeom prst="rect">
            <a:avLst/>
          </a:prstGeom>
        </p:spPr>
      </p:pic>
      <p:pic>
        <p:nvPicPr>
          <p:cNvPr id="5" name="Рисунок 4" descr="Mirantis Lens Pro Annual">
            <a:extLst>
              <a:ext uri="{FF2B5EF4-FFF2-40B4-BE49-F238E27FC236}">
                <a16:creationId xmlns:a16="http://schemas.microsoft.com/office/drawing/2014/main" id="{92817C1E-7EE7-FE24-F157-9E5176DB72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6102" y="4898433"/>
            <a:ext cx="1347698" cy="1349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03224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769D75-625A-FEB6-3919-018D8914F9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chemeClr val="accent1"/>
                </a:solidFill>
              </a:rPr>
              <a:t>Установка </a:t>
            </a:r>
            <a:r>
              <a:rPr lang="de-DE" b="1" dirty="0" err="1">
                <a:solidFill>
                  <a:schemeClr val="accent1"/>
                </a:solidFill>
              </a:rPr>
              <a:t>kubectl</a:t>
            </a:r>
            <a:endParaRPr lang="ru-RU" b="1" dirty="0">
              <a:solidFill>
                <a:schemeClr val="accent1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5A5EA4A-6A09-5464-697C-5F5C7155FF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5336"/>
            <a:ext cx="10515600" cy="4631627"/>
          </a:xfrm>
        </p:spPr>
        <p:txBody>
          <a:bodyPr/>
          <a:lstStyle/>
          <a:p>
            <a:pPr marL="0" indent="0">
              <a:buNone/>
            </a:pPr>
            <a:r>
              <a:rPr lang="ru-RU" b="1" dirty="0" err="1"/>
              <a:t>Kubectl</a:t>
            </a:r>
            <a:r>
              <a:rPr lang="ru-RU" b="1" dirty="0"/>
              <a:t> – </a:t>
            </a:r>
            <a:r>
              <a:rPr lang="ru-RU" dirty="0"/>
              <a:t>это главный инструмент командной строки для управления кластерами </a:t>
            </a:r>
            <a:r>
              <a:rPr lang="ru-RU" dirty="0" err="1"/>
              <a:t>Kubernetes</a:t>
            </a:r>
            <a:r>
              <a:rPr lang="ru-RU" dirty="0"/>
              <a:t>. Он выступает в роли пульта управления, который отправляет команды на API-сервер кластера. </a:t>
            </a:r>
          </a:p>
          <a:p>
            <a:pPr marL="0" indent="0">
              <a:buNone/>
            </a:pPr>
            <a:r>
              <a:rPr lang="ru-RU" dirty="0"/>
              <a:t>Все команды лабораторной выполняются в </a:t>
            </a:r>
            <a:r>
              <a:rPr lang="en-US" dirty="0"/>
              <a:t>PowerShell </a:t>
            </a:r>
            <a:br>
              <a:rPr lang="ru-RU" dirty="0"/>
            </a:br>
            <a:r>
              <a:rPr lang="ru-RU" dirty="0"/>
              <a:t>(с правами администратора).</a:t>
            </a:r>
          </a:p>
          <a:p>
            <a:pPr marL="0" indent="0">
              <a:buNone/>
            </a:pPr>
            <a:r>
              <a:rPr lang="de-DE" dirty="0" err="1"/>
              <a:t>winget</a:t>
            </a:r>
            <a:r>
              <a:rPr lang="de-DE" dirty="0"/>
              <a:t> </a:t>
            </a:r>
            <a:r>
              <a:rPr lang="de-DE" dirty="0" err="1"/>
              <a:t>install</a:t>
            </a:r>
            <a:r>
              <a:rPr lang="de-DE" dirty="0"/>
              <a:t> -e --</a:t>
            </a:r>
            <a:r>
              <a:rPr lang="de-DE" dirty="0" err="1"/>
              <a:t>id</a:t>
            </a:r>
            <a:r>
              <a:rPr lang="de-DE" dirty="0"/>
              <a:t> </a:t>
            </a:r>
            <a:r>
              <a:rPr lang="de-DE" dirty="0" err="1"/>
              <a:t>Kubernetes.kubectl</a:t>
            </a:r>
            <a:r>
              <a:rPr lang="de-DE" dirty="0"/>
              <a:t> (</a:t>
            </a:r>
            <a:r>
              <a:rPr lang="ru-RU" dirty="0"/>
              <a:t>установка)</a:t>
            </a:r>
            <a:endParaRPr lang="de-DE" dirty="0"/>
          </a:p>
          <a:p>
            <a:pPr marL="0" indent="0">
              <a:buNone/>
            </a:pPr>
            <a:r>
              <a:rPr lang="de-DE" dirty="0" err="1"/>
              <a:t>kubectl</a:t>
            </a:r>
            <a:r>
              <a:rPr lang="de-DE" dirty="0"/>
              <a:t> </a:t>
            </a:r>
            <a:r>
              <a:rPr lang="de-DE" dirty="0" err="1"/>
              <a:t>version</a:t>
            </a:r>
            <a:r>
              <a:rPr lang="de-DE" dirty="0"/>
              <a:t> </a:t>
            </a:r>
            <a:r>
              <a:rPr lang="ru-RU" dirty="0"/>
              <a:t>-</a:t>
            </a:r>
            <a:r>
              <a:rPr lang="de-DE" dirty="0" err="1"/>
              <a:t>client</a:t>
            </a:r>
            <a:r>
              <a:rPr lang="ru-RU" dirty="0"/>
              <a:t> (проверка версии)</a:t>
            </a:r>
            <a:endParaRPr lang="de-DE" dirty="0"/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4" name="Рисунок 3" descr="Как эффективнее использовать kubectl: подробное руководство / Хабр">
            <a:extLst>
              <a:ext uri="{FF2B5EF4-FFF2-40B4-BE49-F238E27FC236}">
                <a16:creationId xmlns:a16="http://schemas.microsoft.com/office/drawing/2014/main" id="{41C1F67E-5629-A25C-93D4-55BD963D31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8702" b="91851" l="5356" r="96151">
                        <a14:foregroundMark x1="15649" y1="57597" x2="14393" y2="54834"/>
                        <a14:foregroundMark x1="16736" y1="48343" x2="34728" y2="46961"/>
                        <a14:foregroundMark x1="34728" y1="46961" x2="53389" y2="48343"/>
                        <a14:foregroundMark x1="28619" y1="61050" x2="53389" y2="61050"/>
                        <a14:foregroundMark x1="14812" y1="57320" x2="14812" y2="57320"/>
                        <a14:foregroundMark x1="34393" y1="55249" x2="44854" y2="55249"/>
                        <a14:foregroundMark x1="44854" y1="55249" x2="44854" y2="55249"/>
                        <a14:foregroundMark x1="8954" y1="16022" x2="11883" y2="14917"/>
                        <a14:foregroundMark x1="11883" y1="14917" x2="26444" y2="13260"/>
                        <a14:foregroundMark x1="26444" y1="13260" x2="28619" y2="13260"/>
                        <a14:foregroundMark x1="28619" y1="13260" x2="28619" y2="13260"/>
                        <a14:foregroundMark x1="75063" y1="16298" x2="81590" y2="13260"/>
                        <a14:foregroundMark x1="65941" y1="13260" x2="81172" y2="18785"/>
                        <a14:foregroundMark x1="81172" y1="18785" x2="87615" y2="17403"/>
                        <a14:foregroundMark x1="87615" y1="17403" x2="65188" y2="14227"/>
                        <a14:foregroundMark x1="65188" y1="14227" x2="64854" y2="16022"/>
                        <a14:foregroundMark x1="12552" y1="10497" x2="31967" y2="20856"/>
                        <a14:foregroundMark x1="31967" y1="20856" x2="17741" y2="8702"/>
                        <a14:foregroundMark x1="17741" y1="8702" x2="7782" y2="12845"/>
                        <a14:foregroundMark x1="27364" y1="10083" x2="14310" y2="10497"/>
                        <a14:foregroundMark x1="14310" y1="10497" x2="26946" y2="16713"/>
                        <a14:foregroundMark x1="27531" y1="16022" x2="27531" y2="16022"/>
                        <a14:foregroundMark x1="11464" y1="13260" x2="10042" y2="18094"/>
                        <a14:foregroundMark x1="20084" y1="13260" x2="20084" y2="13260"/>
                        <a14:foregroundMark x1="20084" y1="13260" x2="12720" y2="14917"/>
                        <a14:foregroundMark x1="10209" y1="16022" x2="19665" y2="18785"/>
                        <a14:foregroundMark x1="20084" y1="18785" x2="20084" y2="18785"/>
                        <a14:foregroundMark x1="18828" y1="18785" x2="21255" y2="16022"/>
                        <a14:foregroundMark x1="21255" y1="16022" x2="21255" y2="16022"/>
                        <a14:foregroundMark x1="10209" y1="17403" x2="5439" y2="17403"/>
                        <a14:foregroundMark x1="5439" y1="17403" x2="5439" y2="17403"/>
                        <a14:foregroundMark x1="7950" y1="16713" x2="10628" y2="16989"/>
                        <a14:foregroundMark x1="6946" y1="16989" x2="17741" y2="16713"/>
                        <a14:foregroundMark x1="7364" y1="19475" x2="16318" y2="13536"/>
                        <a14:foregroundMark x1="12971" y1="47928" x2="11715" y2="49033"/>
                        <a14:foregroundMark x1="6695" y1="44890" x2="19833" y2="56630"/>
                        <a14:foregroundMark x1="10042" y1="63812" x2="27364" y2="44199"/>
                        <a14:foregroundMark x1="71967" y1="38398" x2="90711" y2="65193"/>
                        <a14:foregroundMark x1="88870" y1="36326" x2="72552" y2="67541"/>
                        <a14:foregroundMark x1="72552" y1="67541" x2="72552" y2="67541"/>
                        <a14:foregroundMark x1="70126" y1="40746" x2="73389" y2="65884"/>
                        <a14:foregroundMark x1="74644" y1="45580" x2="77992" y2="63812"/>
                        <a14:foregroundMark x1="73640" y1="42127" x2="76569" y2="67956"/>
                        <a14:foregroundMark x1="10460" y1="56906" x2="10209" y2="50000"/>
                        <a14:foregroundMark x1="14393" y1="43094" x2="25021" y2="50552"/>
                        <a14:foregroundMark x1="25021" y1="50552" x2="11464" y2="55939"/>
                        <a14:foregroundMark x1="11464" y1="55939" x2="11464" y2="55939"/>
                        <a14:foregroundMark x1="17741" y1="43785" x2="21590" y2="63398"/>
                        <a14:foregroundMark x1="21590" y1="63398" x2="8201" y2="61740"/>
                        <a14:foregroundMark x1="8201" y1="61740" x2="5439" y2="56630"/>
                        <a14:foregroundMark x1="10042" y1="45580" x2="25774" y2="50691"/>
                        <a14:foregroundMark x1="25774" y1="50691" x2="26109" y2="51381"/>
                        <a14:foregroundMark x1="28368" y1="50414" x2="14895" y2="42818"/>
                        <a14:foregroundMark x1="14895" y1="42818" x2="5774" y2="54972"/>
                        <a14:foregroundMark x1="5774" y1="54972" x2="18326" y2="64365"/>
                        <a14:foregroundMark x1="18326" y1="64365" x2="23515" y2="46547"/>
                        <a14:foregroundMark x1="23515" y1="46547" x2="12720" y2="42818"/>
                        <a14:foregroundMark x1="44268" y1="57597" x2="39833" y2="59669"/>
                        <a14:foregroundMark x1="38828" y1="50000" x2="33556" y2="49033"/>
                        <a14:foregroundMark x1="38159" y1="51381" x2="44435" y2="52486"/>
                        <a14:foregroundMark x1="31548" y1="53453" x2="46527" y2="53453"/>
                        <a14:foregroundMark x1="46527" y1="53453" x2="46527" y2="53453"/>
                        <a14:foregroundMark x1="35230" y1="59669" x2="40084" y2="48619"/>
                        <a14:foregroundMark x1="71297" y1="45580" x2="81590" y2="56215"/>
                        <a14:foregroundMark x1="76569" y1="41436" x2="79916" y2="61740"/>
                        <a14:foregroundMark x1="82008" y1="40055" x2="80753" y2="62431"/>
                        <a14:foregroundMark x1="81590" y1="49309" x2="76736" y2="68923"/>
                        <a14:foregroundMark x1="65523" y1="15608" x2="81590" y2="11878"/>
                        <a14:foregroundMark x1="72552" y1="16713" x2="87615" y2="16713"/>
                        <a14:foregroundMark x1="72385" y1="16713" x2="90293" y2="14641"/>
                        <a14:foregroundMark x1="68870" y1="14641" x2="96151" y2="13950"/>
                        <a14:foregroundMark x1="68619" y1="14227" x2="86109" y2="13950"/>
                        <a14:foregroundMark x1="68201" y1="13950" x2="83849" y2="13260"/>
                        <a14:foregroundMark x1="60921" y1="15608" x2="59414" y2="90608"/>
                        <a14:foregroundMark x1="57573" y1="18370" x2="58410" y2="91851"/>
                        <a14:foregroundMark x1="58410" y1="91851" x2="58410" y2="91298"/>
                        <a14:foregroundMark x1="61088" y1="19061" x2="60084" y2="84807"/>
                        <a14:foregroundMark x1="60084" y1="84807" x2="59833" y2="85773"/>
                        <a14:foregroundMark x1="26276" y1="57597" x2="40251" y2="57597"/>
                        <a14:foregroundMark x1="30042" y1="48343" x2="31548" y2="55525"/>
                        <a14:foregroundMark x1="26695" y1="45580" x2="35230" y2="51381"/>
                        <a14:foregroundMark x1="12971" y1="52072" x2="9205" y2="44890"/>
                        <a14:foregroundMark x1="8954" y1="44890" x2="7950" y2="56215"/>
                        <a14:foregroundMark x1="6109" y1="51105" x2="24603" y2="45166"/>
                        <a14:foregroundMark x1="14226" y1="14917" x2="25858" y2="14917"/>
                        <a14:foregroundMark x1="9372" y1="20166" x2="29038" y2="20166"/>
                        <a14:foregroundMark x1="7782" y1="19751" x2="23180" y2="15331"/>
                        <a14:foregroundMark x1="8954" y1="52762" x2="6276" y2="49033"/>
                        <a14:foregroundMark x1="9623" y1="45856" x2="10209" y2="51796"/>
                        <a14:foregroundMark x1="11464" y1="57597" x2="35063" y2="58702"/>
                        <a14:foregroundMark x1="35063" y1="58702" x2="19833" y2="59669"/>
                        <a14:foregroundMark x1="19247" y1="59669" x2="52134" y2="59669"/>
                        <a14:foregroundMark x1="52134" y1="59669" x2="52134" y2="59669"/>
                        <a14:foregroundMark x1="82176" y1="57320" x2="84686" y2="54834"/>
                        <a14:foregroundMark x1="84686" y1="55249" x2="84686" y2="55249"/>
                        <a14:foregroundMark x1="84686" y1="55249" x2="83013" y2="44475"/>
                        <a14:foregroundMark x1="83013" y1="50000" x2="84017" y2="60083"/>
                        <a14:foregroundMark x1="33222" y1="53453" x2="41757" y2="52486"/>
                        <a14:foregroundMark x1="41757" y1="50691" x2="44435" y2="52072"/>
                        <a14:foregroundMark x1="45272" y1="50414" x2="46276" y2="53453"/>
                        <a14:foregroundMark x1="46695" y1="51796" x2="47113" y2="50414"/>
                        <a14:foregroundMark x1="47113" y1="50414" x2="49456" y2="49724"/>
                        <a14:foregroundMark x1="50879" y1="45580" x2="52134" y2="50000"/>
                        <a14:foregroundMark x1="52134" y1="50000" x2="48619" y2="54144"/>
                        <a14:foregroundMark x1="48201" y1="54144" x2="49205" y2="51105"/>
                        <a14:foregroundMark x1="49205" y1="51105" x2="49205" y2="5690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808976" y="4141354"/>
            <a:ext cx="3881310" cy="2351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18853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9D8B6C-550C-AA2B-CC25-B1EAD96BC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chemeClr val="accent1"/>
                </a:solidFill>
              </a:rPr>
              <a:t>Установка </a:t>
            </a:r>
            <a:r>
              <a:rPr lang="en-US" b="1" dirty="0" err="1">
                <a:solidFill>
                  <a:schemeClr val="accent1"/>
                </a:solidFill>
              </a:rPr>
              <a:t>minikube</a:t>
            </a:r>
            <a:endParaRPr lang="ru-RU" b="1" dirty="0">
              <a:solidFill>
                <a:schemeClr val="accent1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CF3A014-B51F-6221-10C5-E5B01B616D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b="1" dirty="0" err="1"/>
              <a:t>Minikube</a:t>
            </a:r>
            <a:r>
              <a:rPr lang="ru-RU" dirty="0"/>
              <a:t> </a:t>
            </a:r>
            <a:r>
              <a:rPr lang="en-US" dirty="0"/>
              <a:t>–</a:t>
            </a:r>
            <a:r>
              <a:rPr lang="ru-RU" dirty="0"/>
              <a:t> это инструмент, который позволяет запускать локальный кластер </a:t>
            </a:r>
            <a:r>
              <a:rPr lang="ru-RU" dirty="0" err="1"/>
              <a:t>Kubernetes</a:t>
            </a:r>
            <a:r>
              <a:rPr lang="ru-RU" dirty="0"/>
              <a:t> из одного узла (</a:t>
            </a:r>
            <a:r>
              <a:rPr lang="ru-RU" dirty="0" err="1"/>
              <a:t>node</a:t>
            </a:r>
            <a:r>
              <a:rPr lang="ru-RU" dirty="0"/>
              <a:t>)</a:t>
            </a:r>
            <a:r>
              <a:rPr lang="en-US" dirty="0"/>
              <a:t>.</a:t>
            </a:r>
            <a:r>
              <a:rPr lang="ru-RU" dirty="0"/>
              <a:t> </a:t>
            </a:r>
          </a:p>
          <a:p>
            <a:pPr marL="0" indent="0">
              <a:buNone/>
            </a:pPr>
            <a:r>
              <a:rPr lang="ru-RU" dirty="0"/>
              <a:t>Чтобы запустить </a:t>
            </a:r>
            <a:r>
              <a:rPr lang="ru-RU" dirty="0" err="1"/>
              <a:t>Kubernetes</a:t>
            </a:r>
            <a:r>
              <a:rPr lang="ru-RU" dirty="0"/>
              <a:t>, </a:t>
            </a:r>
            <a:r>
              <a:rPr lang="ru-RU" dirty="0" err="1"/>
              <a:t>Minikube</a:t>
            </a:r>
            <a:r>
              <a:rPr lang="ru-RU" dirty="0"/>
              <a:t> создает изолированную среду. Он может делать это тремя способами (их называют драйверами):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ru-RU" b="1" dirty="0"/>
              <a:t>Внутри контейнера</a:t>
            </a:r>
            <a:r>
              <a:rPr lang="ru-RU" dirty="0"/>
              <a:t> (по умолчанию через </a:t>
            </a:r>
            <a:r>
              <a:rPr lang="ru-RU" dirty="0" err="1"/>
              <a:t>Docker</a:t>
            </a:r>
            <a:r>
              <a:rPr lang="ru-RU" dirty="0"/>
              <a:t> или </a:t>
            </a:r>
            <a:r>
              <a:rPr lang="ru-RU" dirty="0" err="1"/>
              <a:t>Podman</a:t>
            </a:r>
            <a:r>
              <a:rPr lang="ru-RU" dirty="0"/>
              <a:t>) </a:t>
            </a:r>
            <a:r>
              <a:rPr lang="en-US" dirty="0"/>
              <a:t>–</a:t>
            </a:r>
            <a:r>
              <a:rPr lang="ru-RU" dirty="0"/>
              <a:t> самый быстрый и современный способ.</a:t>
            </a:r>
          </a:p>
          <a:p>
            <a:r>
              <a:rPr lang="ru-RU" b="1" dirty="0"/>
              <a:t>Внутри виртуальной машины</a:t>
            </a:r>
            <a:r>
              <a:rPr lang="ru-RU" dirty="0"/>
              <a:t> (через </a:t>
            </a:r>
            <a:r>
              <a:rPr lang="ru-RU" dirty="0" err="1"/>
              <a:t>VirtualBox</a:t>
            </a:r>
            <a:r>
              <a:rPr lang="ru-RU" dirty="0"/>
              <a:t>, VMware, Hyper-V).</a:t>
            </a:r>
          </a:p>
          <a:p>
            <a:r>
              <a:rPr lang="ru-RU" b="1" dirty="0"/>
              <a:t>Напрямую на хосте</a:t>
            </a:r>
            <a:r>
              <a:rPr lang="ru-RU" dirty="0"/>
              <a:t> (</a:t>
            </a:r>
            <a:r>
              <a:rPr lang="ru-RU" dirty="0" err="1"/>
              <a:t>bare-metal</a:t>
            </a:r>
            <a:r>
              <a:rPr lang="ru-RU" dirty="0"/>
              <a:t>, режим </a:t>
            </a:r>
            <a:r>
              <a:rPr lang="ru-RU" dirty="0" err="1"/>
              <a:t>none</a:t>
            </a:r>
            <a:r>
              <a:rPr lang="ru-RU" dirty="0"/>
              <a:t>) </a:t>
            </a:r>
            <a:r>
              <a:rPr lang="en-US" dirty="0"/>
              <a:t>–</a:t>
            </a:r>
            <a:r>
              <a:rPr lang="ru-RU" dirty="0"/>
              <a:t> используется редко, в основном на Linux.</a:t>
            </a:r>
          </a:p>
          <a:p>
            <a:pPr marL="0" indent="0">
              <a:buNone/>
            </a:pPr>
            <a:r>
              <a:rPr lang="ru-RU" dirty="0" err="1"/>
              <a:t>winget</a:t>
            </a:r>
            <a:r>
              <a:rPr lang="ru-RU" dirty="0"/>
              <a:t> </a:t>
            </a:r>
            <a:r>
              <a:rPr lang="ru-RU" dirty="0" err="1"/>
              <a:t>install</a:t>
            </a:r>
            <a:r>
              <a:rPr lang="ru-RU" dirty="0"/>
              <a:t> </a:t>
            </a:r>
            <a:r>
              <a:rPr lang="ru-RU" dirty="0" err="1"/>
              <a:t>Kubernetes.minikube</a:t>
            </a:r>
            <a:r>
              <a:rPr lang="en-US" dirty="0"/>
              <a:t> (</a:t>
            </a:r>
            <a:r>
              <a:rPr lang="ru-RU" dirty="0"/>
              <a:t>установка)</a:t>
            </a:r>
            <a:endParaRPr lang="en-US" dirty="0"/>
          </a:p>
          <a:p>
            <a:pPr marL="0" indent="0">
              <a:buNone/>
            </a:pPr>
            <a:r>
              <a:rPr lang="ru-RU" dirty="0" err="1"/>
              <a:t>minikube</a:t>
            </a:r>
            <a:r>
              <a:rPr lang="ru-RU" dirty="0"/>
              <a:t> </a:t>
            </a:r>
            <a:r>
              <a:rPr lang="ru-RU" dirty="0" err="1"/>
              <a:t>version</a:t>
            </a:r>
            <a:r>
              <a:rPr lang="en-US" dirty="0"/>
              <a:t> </a:t>
            </a:r>
            <a:r>
              <a:rPr lang="ru-RU" dirty="0"/>
              <a:t>(проверка версии)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3885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580809-F307-9CFF-DF1E-3D443AE834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77A70D-FFE8-066D-48E1-DC31964D47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chemeClr val="accent1"/>
                </a:solidFill>
              </a:rPr>
              <a:t>Архитектура </a:t>
            </a:r>
            <a:r>
              <a:rPr lang="en-US" b="1" dirty="0" err="1">
                <a:solidFill>
                  <a:schemeClr val="accent1"/>
                </a:solidFill>
              </a:rPr>
              <a:t>Minikube</a:t>
            </a:r>
            <a:endParaRPr lang="ru-RU" b="1" dirty="0">
              <a:solidFill>
                <a:schemeClr val="accent1"/>
              </a:solidFill>
            </a:endParaRP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FE36AC64-8036-4356-E4C9-6ED817E2E6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24497" y="1825625"/>
            <a:ext cx="934300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45885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90DE09-CD0B-1701-BB74-9C5D84ED05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chemeClr val="accent1"/>
                </a:solidFill>
              </a:rPr>
              <a:t>Запуск </a:t>
            </a:r>
            <a:r>
              <a:rPr lang="en-US" b="1" dirty="0" err="1">
                <a:solidFill>
                  <a:schemeClr val="accent1"/>
                </a:solidFill>
              </a:rPr>
              <a:t>minikube</a:t>
            </a:r>
            <a:endParaRPr lang="ru-RU" b="1" dirty="0">
              <a:solidFill>
                <a:schemeClr val="accent1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9CF6741-137A-5160-8F8D-9A8F3C05A9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 err="1"/>
              <a:t>minikube</a:t>
            </a:r>
            <a:r>
              <a:rPr lang="en-US" dirty="0"/>
              <a:t> start --driver=docker (</a:t>
            </a:r>
            <a:r>
              <a:rPr lang="ru-RU" dirty="0"/>
              <a:t>здесь уже очевидно, кто выступает драйвером)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9297DE1-FFBD-759F-1C19-6DD27643D0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544" y="2669840"/>
            <a:ext cx="6117188" cy="317776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4DC078C-DBB2-186D-B5D6-303A27140B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7902" y="2985752"/>
            <a:ext cx="6219298" cy="3507123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DEB2DFE-23A3-CC5C-6E50-1AE209152E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9532" y="5299288"/>
            <a:ext cx="5635752" cy="1425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18020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65EFE0-DDCB-7BEA-B513-9F6A9F2D5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chemeClr val="accent1"/>
                </a:solidFill>
              </a:rPr>
              <a:t>Запуск </a:t>
            </a:r>
            <a:r>
              <a:rPr lang="en-US" b="1" dirty="0" err="1">
                <a:solidFill>
                  <a:schemeClr val="accent1"/>
                </a:solidFill>
              </a:rPr>
              <a:t>minikube</a:t>
            </a:r>
            <a:endParaRPr lang="ru-RU" b="1" dirty="0">
              <a:solidFill>
                <a:schemeClr val="accent1"/>
              </a:solidFill>
            </a:endParaRP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0ABA85C4-031D-2897-476F-8D245AD12E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10264604" cy="4802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14019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16A630-55A3-0FF0-90A6-A1B10545E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chemeClr val="accent1"/>
                </a:solidFill>
              </a:rPr>
              <a:t>Разбор запущенных </a:t>
            </a:r>
            <a:r>
              <a:rPr lang="en-US" b="1" dirty="0">
                <a:solidFill>
                  <a:schemeClr val="accent1"/>
                </a:solidFill>
              </a:rPr>
              <a:t>pods</a:t>
            </a:r>
            <a:endParaRPr lang="ru-RU" b="1" dirty="0">
              <a:solidFill>
                <a:schemeClr val="accent1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1FE723A-AFD7-EBCF-7BB6-F0D6C05C80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781145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000" dirty="0"/>
              <a:t>Что уже запустил </a:t>
            </a:r>
            <a:r>
              <a:rPr lang="en-US" sz="2000" dirty="0"/>
              <a:t>Kubernetes?</a:t>
            </a:r>
            <a:endParaRPr lang="ru-RU" sz="2000" dirty="0"/>
          </a:p>
          <a:p>
            <a:pPr marL="0" indent="0">
              <a:buNone/>
            </a:pPr>
            <a:r>
              <a:rPr lang="ru-RU" sz="2000" dirty="0" err="1"/>
              <a:t>kubectl</a:t>
            </a:r>
            <a:r>
              <a:rPr lang="ru-RU" sz="2000" dirty="0"/>
              <a:t> </a:t>
            </a:r>
            <a:r>
              <a:rPr lang="ru-RU" sz="2000" dirty="0" err="1"/>
              <a:t>get</a:t>
            </a:r>
            <a:r>
              <a:rPr lang="ru-RU" sz="2000" dirty="0"/>
              <a:t> </a:t>
            </a:r>
            <a:r>
              <a:rPr lang="ru-RU" sz="2000" dirty="0" err="1"/>
              <a:t>pods</a:t>
            </a:r>
            <a:r>
              <a:rPr lang="ru-RU" sz="2000" dirty="0"/>
              <a:t> -A (команда для вывода всех подов)</a:t>
            </a:r>
          </a:p>
          <a:p>
            <a:r>
              <a:rPr lang="ru-RU" sz="2000" dirty="0" err="1"/>
              <a:t>CoreDNS</a:t>
            </a:r>
            <a:r>
              <a:rPr lang="ru-RU" sz="2000" dirty="0"/>
              <a:t> помогает сервисам находить друг друга</a:t>
            </a:r>
          </a:p>
          <a:p>
            <a:r>
              <a:rPr lang="ru-RU" sz="2000" dirty="0" err="1"/>
              <a:t>kube-proxy</a:t>
            </a:r>
            <a:r>
              <a:rPr lang="ru-RU" sz="2000" dirty="0"/>
              <a:t> направляет сетевой трафик</a:t>
            </a:r>
          </a:p>
          <a:p>
            <a:r>
              <a:rPr lang="ru-RU" sz="2000" dirty="0" err="1"/>
              <a:t>etcd</a:t>
            </a:r>
            <a:r>
              <a:rPr lang="ru-RU" sz="2000" dirty="0"/>
              <a:t> хранит состояние кластера</a:t>
            </a:r>
          </a:p>
          <a:p>
            <a:r>
              <a:rPr lang="ru-RU" sz="2000" dirty="0" err="1"/>
              <a:t>kube-apiserver</a:t>
            </a:r>
            <a:r>
              <a:rPr lang="ru-RU" sz="2000" dirty="0"/>
              <a:t> принимает команды </a:t>
            </a:r>
            <a:r>
              <a:rPr lang="ru-RU" sz="2000" dirty="0" err="1"/>
              <a:t>kubectl</a:t>
            </a:r>
            <a:endParaRPr lang="ru-RU" sz="2000" dirty="0"/>
          </a:p>
          <a:p>
            <a:endParaRPr lang="ru-RU" sz="2000" dirty="0"/>
          </a:p>
          <a:p>
            <a:pPr marL="0" indent="0">
              <a:buNone/>
            </a:pPr>
            <a:r>
              <a:rPr lang="ru-RU" sz="2000" dirty="0"/>
              <a:t>В этой лабораторной нас будут интересовать только </a:t>
            </a:r>
            <a:r>
              <a:rPr lang="ru-RU" sz="2000" dirty="0" err="1"/>
              <a:t>Pod'ы</a:t>
            </a:r>
            <a:r>
              <a:rPr lang="ru-RU" sz="2000" dirty="0"/>
              <a:t> нашего приложения. </a:t>
            </a:r>
          </a:p>
        </p:txBody>
      </p:sp>
    </p:spTree>
    <p:extLst>
      <p:ext uri="{BB962C8B-B14F-4D97-AF65-F5344CB8AC3E}">
        <p14:creationId xmlns:p14="http://schemas.microsoft.com/office/powerpoint/2010/main" val="8476926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821157-18B2-6818-D9E3-C16289F6DC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/>
                </a:solidFill>
              </a:rPr>
              <a:t>1. </a:t>
            </a:r>
            <a:r>
              <a:rPr lang="ru-RU" b="1" dirty="0">
                <a:solidFill>
                  <a:schemeClr val="accent1"/>
                </a:solidFill>
              </a:rPr>
              <a:t>Создаем наше первое приложение </a:t>
            </a:r>
            <a:br>
              <a:rPr lang="en-US" b="1" dirty="0">
                <a:solidFill>
                  <a:schemeClr val="accent1"/>
                </a:solidFill>
              </a:rPr>
            </a:br>
            <a:r>
              <a:rPr lang="ru-RU" b="1" dirty="0">
                <a:solidFill>
                  <a:schemeClr val="accent1"/>
                </a:solidFill>
              </a:rPr>
              <a:t>«Банк котиков»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11E63E0-198F-87C1-E73C-93CAF670F4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Создадим файл - cat-bank-stage1.yaml</a:t>
            </a:r>
          </a:p>
          <a:p>
            <a:pPr marL="0" indent="0">
              <a:buNone/>
            </a:pPr>
            <a:r>
              <a:rPr lang="ru-RU" dirty="0"/>
              <a:t>Каждый предлагаемый в лабораторной работе файл необходимо внимательно изучить. Что внутри файла:</a:t>
            </a:r>
          </a:p>
          <a:p>
            <a:r>
              <a:rPr lang="ru-RU" b="1" dirty="0" err="1"/>
              <a:t>ConfigMap</a:t>
            </a:r>
            <a:r>
              <a:rPr lang="ru-RU" dirty="0"/>
              <a:t> – здесь лежит HTML-код главной страницы нашего «Банка Котиков».</a:t>
            </a:r>
          </a:p>
          <a:p>
            <a:r>
              <a:rPr lang="ru-RU" b="1" dirty="0" err="1"/>
              <a:t>Deployment</a:t>
            </a:r>
            <a:r>
              <a:rPr lang="ru-RU" dirty="0"/>
              <a:t> – шаблон, который создает </a:t>
            </a:r>
            <a:r>
              <a:rPr lang="en-US" dirty="0"/>
              <a:t>pod</a:t>
            </a:r>
            <a:r>
              <a:rPr lang="ru-RU" dirty="0"/>
              <a:t> с контейнером </a:t>
            </a:r>
            <a:r>
              <a:rPr lang="ru-RU" dirty="0" err="1"/>
              <a:t>Nginx</a:t>
            </a:r>
            <a:r>
              <a:rPr lang="ru-RU" dirty="0"/>
              <a:t> и монтирует туда HTML-код из </a:t>
            </a:r>
            <a:r>
              <a:rPr lang="ru-RU" dirty="0" err="1"/>
              <a:t>ConfigMap</a:t>
            </a:r>
            <a:r>
              <a:rPr lang="ru-RU" dirty="0"/>
              <a:t>.</a:t>
            </a:r>
          </a:p>
          <a:p>
            <a:pPr marL="0" indent="0">
              <a:buNone/>
            </a:pPr>
            <a:r>
              <a:rPr lang="ru-RU" dirty="0"/>
              <a:t>*В </a:t>
            </a:r>
            <a:r>
              <a:rPr lang="ru-RU" dirty="0" err="1"/>
              <a:t>Kubernetes</a:t>
            </a:r>
            <a:r>
              <a:rPr lang="ru-RU" dirty="0"/>
              <a:t> можно разделять разные сущности через три дефиса (---), и K8s применит их по очереди одной командой.</a:t>
            </a: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CED81D2-9A8E-B90A-309C-36BC483D51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330" y="491872"/>
            <a:ext cx="1478470" cy="1478470"/>
          </a:xfrm>
          <a:prstGeom prst="rect">
            <a:avLst/>
          </a:prstGeom>
        </p:spPr>
      </p:pic>
      <p:graphicFrame>
        <p:nvGraphicFramePr>
          <p:cNvPr id="6" name="Объект 5">
            <a:extLst>
              <a:ext uri="{FF2B5EF4-FFF2-40B4-BE49-F238E27FC236}">
                <a16:creationId xmlns:a16="http://schemas.microsoft.com/office/drawing/2014/main" id="{013ED772-3A90-E54E-8DE7-57C9B556435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63758687"/>
              </p:ext>
            </p:extLst>
          </p:nvPr>
        </p:nvGraphicFramePr>
        <p:xfrm>
          <a:off x="10407205" y="1848104"/>
          <a:ext cx="1381125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Объект упаковщика для оболочки" showAsIcon="1" r:id="rId3" imgW="1381169" imgH="514350" progId="Package">
                  <p:embed/>
                </p:oleObj>
              </mc:Choice>
              <mc:Fallback>
                <p:oleObj name="Объект упаковщика для оболочки" showAsIcon="1" r:id="rId3" imgW="1381169" imgH="51435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407205" y="1848104"/>
                        <a:ext cx="1381125" cy="514350"/>
                      </a:xfrm>
                      <a:prstGeom prst="rect">
                        <a:avLst/>
                      </a:prstGeom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718203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F2BFA3-6D80-4686-7640-059DC539AE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771CB75-9AF3-5C72-1140-DC927EF64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chemeClr val="accent1"/>
                </a:solidFill>
              </a:rPr>
              <a:t>1. Создаем наше первое приложение </a:t>
            </a:r>
            <a:br>
              <a:rPr lang="en-US" b="1" dirty="0">
                <a:solidFill>
                  <a:schemeClr val="accent1"/>
                </a:solidFill>
              </a:rPr>
            </a:br>
            <a:r>
              <a:rPr lang="ru-RU" b="1" dirty="0">
                <a:solidFill>
                  <a:schemeClr val="accent1"/>
                </a:solidFill>
              </a:rPr>
              <a:t>«Банк котиков»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E8F79D6-BB36-636C-D8B7-3323DE248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1) </a:t>
            </a:r>
            <a:r>
              <a:rPr lang="en-US" dirty="0" err="1"/>
              <a:t>kubectl</a:t>
            </a:r>
            <a:r>
              <a:rPr lang="en-US" dirty="0"/>
              <a:t> apply -f cat-bank-stage1.yaml (</a:t>
            </a:r>
            <a:r>
              <a:rPr lang="ru-RU" dirty="0"/>
              <a:t>применяем манифест из каталога с файлом)</a:t>
            </a:r>
          </a:p>
          <a:p>
            <a:pPr marL="0" indent="0">
              <a:buNone/>
            </a:pPr>
            <a:r>
              <a:rPr lang="ru-RU" dirty="0"/>
              <a:t>Кластер сам создаст </a:t>
            </a:r>
            <a:r>
              <a:rPr lang="ru-RU" dirty="0" err="1"/>
              <a:t>ConfigMap</a:t>
            </a:r>
            <a:r>
              <a:rPr lang="ru-RU" dirty="0"/>
              <a:t>, запустит под с </a:t>
            </a:r>
            <a:r>
              <a:rPr lang="ru-RU" dirty="0" err="1"/>
              <a:t>КотоБанком</a:t>
            </a:r>
            <a:r>
              <a:rPr lang="ru-RU" dirty="0"/>
              <a:t>.</a:t>
            </a:r>
          </a:p>
          <a:p>
            <a:pPr marL="0" indent="0">
              <a:buNone/>
            </a:pPr>
            <a:r>
              <a:rPr lang="ru-RU" dirty="0"/>
              <a:t>2) Найти запущенный под напрямую (в </a:t>
            </a:r>
            <a:r>
              <a:rPr lang="ru-RU" dirty="0" err="1"/>
              <a:t>Lens</a:t>
            </a:r>
            <a:r>
              <a:rPr lang="ru-RU" dirty="0"/>
              <a:t> или через </a:t>
            </a:r>
            <a:r>
              <a:rPr lang="ru-RU" dirty="0" err="1"/>
              <a:t>kubectl</a:t>
            </a:r>
            <a:r>
              <a:rPr lang="ru-RU" dirty="0"/>
              <a:t> </a:t>
            </a:r>
            <a:r>
              <a:rPr lang="ru-RU" dirty="0" err="1"/>
              <a:t>get</a:t>
            </a:r>
            <a:r>
              <a:rPr lang="ru-RU" dirty="0"/>
              <a:t> </a:t>
            </a:r>
            <a:r>
              <a:rPr lang="ru-RU" dirty="0" err="1"/>
              <a:t>pods</a:t>
            </a:r>
            <a:r>
              <a:rPr lang="ru-RU" dirty="0"/>
              <a:t> -o </a:t>
            </a:r>
            <a:r>
              <a:rPr lang="ru-RU" dirty="0" err="1"/>
              <a:t>wide</a:t>
            </a:r>
            <a:r>
              <a:rPr lang="ru-RU" dirty="0"/>
              <a:t>).</a:t>
            </a:r>
          </a:p>
          <a:p>
            <a:pPr marL="0" indent="0">
              <a:buNone/>
            </a:pPr>
            <a:r>
              <a:rPr lang="ru-RU" dirty="0"/>
              <a:t>3) Запомнить его текущий IP-адрес (например, 10.244.0.15).</a:t>
            </a:r>
          </a:p>
          <a:p>
            <a:pPr marL="0" indent="0">
              <a:buNone/>
            </a:pPr>
            <a:r>
              <a:rPr lang="ru-RU" dirty="0"/>
              <a:t>4) Пробросить порт </a:t>
            </a:r>
            <a:r>
              <a:rPr lang="ru-RU" b="1" dirty="0"/>
              <a:t>напрямую к поду</a:t>
            </a:r>
            <a:r>
              <a:rPr lang="ru-RU" dirty="0"/>
              <a:t>:</a:t>
            </a:r>
            <a:br>
              <a:rPr lang="ru-RU" dirty="0"/>
            </a:br>
            <a:r>
              <a:rPr lang="ru-RU" dirty="0" err="1"/>
              <a:t>kubectl</a:t>
            </a:r>
            <a:r>
              <a:rPr lang="ru-RU" dirty="0"/>
              <a:t> </a:t>
            </a:r>
            <a:r>
              <a:rPr lang="ru-RU" dirty="0" err="1"/>
              <a:t>port-forward</a:t>
            </a:r>
            <a:r>
              <a:rPr lang="ru-RU" dirty="0"/>
              <a:t> </a:t>
            </a:r>
            <a:r>
              <a:rPr lang="ru-RU" dirty="0" err="1"/>
              <a:t>pod</a:t>
            </a:r>
            <a:r>
              <a:rPr lang="ru-RU" dirty="0"/>
              <a:t>/ИМЯ_ПОДА 8080:80</a:t>
            </a:r>
          </a:p>
          <a:p>
            <a:pPr marL="0" indent="0">
              <a:buNone/>
            </a:pPr>
            <a:r>
              <a:rPr lang="ru-RU" dirty="0"/>
              <a:t>5) Открыть localhost:8080 – банк работает. 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263457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AA2A76-B56F-DC91-D88A-34BE2A743D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02B6C1-D8DF-6614-AEC1-32934A290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chemeClr val="accent1"/>
                </a:solidFill>
              </a:rPr>
              <a:t>1. Создаем наше первое приложение </a:t>
            </a:r>
            <a:br>
              <a:rPr lang="en-US" b="1" dirty="0">
                <a:solidFill>
                  <a:schemeClr val="accent1"/>
                </a:solidFill>
              </a:rPr>
            </a:br>
            <a:r>
              <a:rPr lang="ru-RU" b="1" dirty="0">
                <a:solidFill>
                  <a:schemeClr val="accent1"/>
                </a:solidFill>
              </a:rPr>
              <a:t>«Банк котиков»</a:t>
            </a:r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0EC33A01-2571-7824-9E31-22CA742008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17120" y="1825625"/>
            <a:ext cx="675776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48518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2D5B6F-1194-7C1D-0A74-6E12D79C64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670147-C0A2-58B2-AD26-D9F7ED2DF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chemeClr val="accent1"/>
                </a:solidFill>
              </a:rPr>
              <a:t>2. Авария «Банка котиков»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3930227-9C5E-2521-32A1-4B0A1E44CF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Представьте, что под завис или обновился. </a:t>
            </a:r>
          </a:p>
          <a:p>
            <a:pPr marL="514350" indent="-514350">
              <a:buAutoNum type="arabicParenR"/>
            </a:pPr>
            <a:r>
              <a:rPr lang="ru-RU" dirty="0"/>
              <a:t>Убить под (через корзину в </a:t>
            </a:r>
            <a:r>
              <a:rPr lang="ru-RU" dirty="0" err="1"/>
              <a:t>Lens</a:t>
            </a:r>
            <a:r>
              <a:rPr lang="ru-RU" dirty="0"/>
              <a:t> или </a:t>
            </a:r>
            <a:r>
              <a:rPr lang="ru-RU" dirty="0" err="1"/>
              <a:t>kubectl</a:t>
            </a:r>
            <a:r>
              <a:rPr lang="ru-RU" dirty="0"/>
              <a:t> </a:t>
            </a:r>
            <a:r>
              <a:rPr lang="ru-RU" dirty="0" err="1"/>
              <a:t>delete</a:t>
            </a:r>
            <a:r>
              <a:rPr lang="ru-RU" dirty="0"/>
              <a:t> </a:t>
            </a:r>
            <a:r>
              <a:rPr lang="ru-RU" dirty="0" err="1"/>
              <a:t>pod</a:t>
            </a:r>
            <a:r>
              <a:rPr lang="ru-RU" dirty="0"/>
              <a:t> ИМЯ_ПОДА).</a:t>
            </a:r>
          </a:p>
          <a:p>
            <a:pPr marL="514350" indent="-514350">
              <a:buAutoNum type="arabicParenR"/>
            </a:pPr>
            <a:r>
              <a:rPr lang="ru-RU" dirty="0" err="1"/>
              <a:t>Deployment</a:t>
            </a:r>
            <a:r>
              <a:rPr lang="ru-RU" dirty="0"/>
              <a:t> мгновенно создаст новый под взамен удаленного (ведь он обязан поддерживать </a:t>
            </a:r>
            <a:r>
              <a:rPr lang="ru-RU" dirty="0" err="1"/>
              <a:t>replicas</a:t>
            </a:r>
            <a:r>
              <a:rPr lang="ru-RU" dirty="0"/>
              <a:t>)</a:t>
            </a:r>
          </a:p>
          <a:p>
            <a:pPr marL="514350" indent="-514350">
              <a:buAutoNum type="arabicParenR"/>
            </a:pPr>
            <a:r>
              <a:rPr lang="ru-RU" b="1" dirty="0"/>
              <a:t>Главное наблюдение:</a:t>
            </a:r>
            <a:r>
              <a:rPr lang="ru-RU" dirty="0"/>
              <a:t> у нового пода другие IP-адрес и имя!</a:t>
            </a:r>
          </a:p>
          <a:p>
            <a:pPr marL="514350" indent="-514350">
              <a:buAutoNum type="arabicParenR"/>
            </a:pPr>
            <a:r>
              <a:rPr lang="ru-RU" dirty="0"/>
              <a:t>Команда </a:t>
            </a:r>
            <a:r>
              <a:rPr lang="ru-RU" dirty="0" err="1"/>
              <a:t>port-forward</a:t>
            </a:r>
            <a:r>
              <a:rPr lang="ru-RU" dirty="0"/>
              <a:t> отвалилась с ошибкой, а если бы это был </a:t>
            </a:r>
            <a:r>
              <a:rPr lang="ru-RU" dirty="0" err="1"/>
              <a:t>автотест</a:t>
            </a:r>
            <a:r>
              <a:rPr lang="ru-RU" dirty="0"/>
              <a:t>, завязанный на IP – он бы упал (теперь и банк недоступен по адресу).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D273495-6514-F8B0-5B68-51FFA459303C}"/>
              </a:ext>
            </a:extLst>
          </p:cNvPr>
          <p:cNvSpPr txBox="1"/>
          <p:nvPr/>
        </p:nvSpPr>
        <p:spPr>
          <a:xfrm>
            <a:off x="662511" y="4199029"/>
            <a:ext cx="35137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000" dirty="0">
                <a:solidFill>
                  <a:srgbClr val="FF0000"/>
                </a:solidFill>
              </a:rPr>
              <a:t>!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28BEA65-A8BB-4A43-DD3F-87656BBF6DB7}"/>
              </a:ext>
            </a:extLst>
          </p:cNvPr>
          <p:cNvSpPr txBox="1"/>
          <p:nvPr/>
        </p:nvSpPr>
        <p:spPr>
          <a:xfrm>
            <a:off x="662511" y="3356206"/>
            <a:ext cx="35137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000" dirty="0">
                <a:solidFill>
                  <a:srgbClr val="FF0000"/>
                </a:solidFill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27356592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F563A8-5071-8802-10E3-D914CB1397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821ECF-16C6-88F4-4502-5EF9A5E59A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/>
                </a:solidFill>
              </a:rPr>
              <a:t>3</a:t>
            </a:r>
            <a:r>
              <a:rPr lang="ru-RU" b="1" dirty="0">
                <a:solidFill>
                  <a:schemeClr val="accent1"/>
                </a:solidFill>
              </a:rPr>
              <a:t>. Добавляем </a:t>
            </a:r>
            <a:r>
              <a:rPr lang="en-US" b="1" dirty="0">
                <a:solidFill>
                  <a:schemeClr val="accent1"/>
                </a:solidFill>
              </a:rPr>
              <a:t>Service</a:t>
            </a:r>
            <a:endParaRPr lang="ru-RU" b="1" dirty="0">
              <a:solidFill>
                <a:schemeClr val="accent1"/>
              </a:solidFill>
            </a:endParaRP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4E7B013-59E8-8E30-FE69-9B8A703FFF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dirty="0"/>
              <a:t>1) Применить сервис: </a:t>
            </a:r>
            <a:r>
              <a:rPr lang="ru-RU" dirty="0" err="1"/>
              <a:t>kubectl</a:t>
            </a:r>
            <a:r>
              <a:rPr lang="ru-RU" dirty="0"/>
              <a:t> </a:t>
            </a:r>
            <a:r>
              <a:rPr lang="ru-RU" dirty="0" err="1"/>
              <a:t>apply</a:t>
            </a:r>
            <a:r>
              <a:rPr lang="ru-RU" dirty="0"/>
              <a:t> -f </a:t>
            </a:r>
            <a:r>
              <a:rPr lang="ru-RU" dirty="0" err="1"/>
              <a:t>cat-bank-service.yaml</a:t>
            </a:r>
            <a:r>
              <a:rPr lang="ru-RU" dirty="0"/>
              <a:t> </a:t>
            </a:r>
            <a:r>
              <a:rPr lang="en-US" dirty="0"/>
              <a:t>(</a:t>
            </a:r>
            <a:r>
              <a:rPr lang="ru-RU" dirty="0"/>
              <a:t>применяем манифест из каталога с файлом сервиса)</a:t>
            </a:r>
          </a:p>
          <a:p>
            <a:pPr marL="0" indent="0">
              <a:buNone/>
            </a:pPr>
            <a:r>
              <a:rPr lang="ru-RU" dirty="0"/>
              <a:t>2) Зайти в </a:t>
            </a:r>
            <a:r>
              <a:rPr lang="ru-RU" dirty="0" err="1"/>
              <a:t>Lens</a:t>
            </a:r>
            <a:r>
              <a:rPr lang="ru-RU" dirty="0"/>
              <a:t> в раздел </a:t>
            </a:r>
            <a:r>
              <a:rPr lang="ru-RU" b="1" dirty="0"/>
              <a:t>Network - Services - </a:t>
            </a:r>
            <a:r>
              <a:rPr lang="ru-RU" b="1" dirty="0" err="1"/>
              <a:t>cat-bank-service</a:t>
            </a:r>
            <a:r>
              <a:rPr lang="ru-RU" dirty="0"/>
              <a:t>.</a:t>
            </a:r>
          </a:p>
          <a:p>
            <a:pPr marL="0" indent="0">
              <a:buNone/>
            </a:pPr>
            <a:r>
              <a:rPr lang="ru-RU" dirty="0"/>
              <a:t>3) Проверить вкладку </a:t>
            </a:r>
            <a:r>
              <a:rPr lang="ru-RU" b="1" dirty="0" err="1"/>
              <a:t>Endpoints</a:t>
            </a:r>
            <a:r>
              <a:rPr lang="ru-RU" dirty="0"/>
              <a:t>: там будет текущий (новый) IP-адрес пода. Обратить внимание на </a:t>
            </a:r>
            <a:r>
              <a:rPr lang="en-US" dirty="0"/>
              <a:t>selector!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4) </a:t>
            </a:r>
            <a:r>
              <a:rPr lang="ru-RU" dirty="0"/>
              <a:t>Пробросить порт уже </a:t>
            </a:r>
            <a:r>
              <a:rPr lang="ru-RU" b="1" dirty="0"/>
              <a:t>до Сервиса</a:t>
            </a:r>
            <a:r>
              <a:rPr lang="ru-RU" dirty="0"/>
              <a:t>: </a:t>
            </a:r>
            <a:r>
              <a:rPr lang="ru-RU" dirty="0" err="1"/>
              <a:t>kubectl</a:t>
            </a:r>
            <a:r>
              <a:rPr lang="ru-RU" dirty="0"/>
              <a:t> </a:t>
            </a:r>
            <a:r>
              <a:rPr lang="ru-RU" dirty="0" err="1"/>
              <a:t>port-forward</a:t>
            </a:r>
            <a:r>
              <a:rPr lang="ru-RU" dirty="0"/>
              <a:t> </a:t>
            </a:r>
            <a:r>
              <a:rPr lang="ru-RU" dirty="0" err="1"/>
              <a:t>svc</a:t>
            </a:r>
            <a:r>
              <a:rPr lang="ru-RU" dirty="0"/>
              <a:t>/</a:t>
            </a:r>
            <a:r>
              <a:rPr lang="ru-RU" dirty="0" err="1"/>
              <a:t>cat-bank-service</a:t>
            </a:r>
            <a:r>
              <a:rPr lang="ru-RU" dirty="0"/>
              <a:t> 8080:80</a:t>
            </a:r>
          </a:p>
          <a:p>
            <a:pPr marL="0" indent="0">
              <a:buNone/>
            </a:pPr>
            <a:r>
              <a:rPr lang="ru-RU" dirty="0"/>
              <a:t>5) Открыть localhost:8080 — банк снова доступен.</a:t>
            </a:r>
          </a:p>
          <a:p>
            <a:pPr marL="0" indent="0">
              <a:buNone/>
            </a:pPr>
            <a:r>
              <a:rPr lang="ru-RU" b="1" dirty="0"/>
              <a:t>6) Финальный эксперимент:</a:t>
            </a:r>
            <a:r>
              <a:rPr lang="ru-RU" dirty="0"/>
              <a:t> Снова убить под приложения. </a:t>
            </a:r>
            <a:br>
              <a:rPr lang="ru-RU" dirty="0"/>
            </a:br>
            <a:r>
              <a:rPr lang="ru-RU" dirty="0" err="1"/>
              <a:t>Deployment</a:t>
            </a:r>
            <a:r>
              <a:rPr lang="ru-RU" dirty="0"/>
              <a:t> создает еще один под (новые адрес и имя). Но сервис сам мгновенно поменял IP внутри вкладки </a:t>
            </a:r>
            <a:r>
              <a:rPr lang="ru-RU" dirty="0" err="1"/>
              <a:t>Endpoints</a:t>
            </a:r>
            <a:r>
              <a:rPr lang="ru-RU" dirty="0"/>
              <a:t>, и страница продолжает работать без перенастройки со стороны QA (можно перезапустить </a:t>
            </a:r>
            <a:r>
              <a:rPr lang="ru-RU" dirty="0" err="1"/>
              <a:t>форвардинг</a:t>
            </a:r>
            <a:r>
              <a:rPr lang="ru-RU" dirty="0"/>
              <a:t> при необходимости).</a:t>
            </a:r>
          </a:p>
        </p:txBody>
      </p:sp>
      <p:graphicFrame>
        <p:nvGraphicFramePr>
          <p:cNvPr id="8" name="Объект 7">
            <a:extLst>
              <a:ext uri="{FF2B5EF4-FFF2-40B4-BE49-F238E27FC236}">
                <a16:creationId xmlns:a16="http://schemas.microsoft.com/office/drawing/2014/main" id="{05D2D4B5-D17D-ED6C-4596-6BDCE4F2174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36129873"/>
              </p:ext>
            </p:extLst>
          </p:nvPr>
        </p:nvGraphicFramePr>
        <p:xfrm>
          <a:off x="10653712" y="2169397"/>
          <a:ext cx="1400175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Объект упаковщика для оболочки" showAsIcon="1" r:id="rId2" imgW="1400308" imgH="514350" progId="Package">
                  <p:embed/>
                </p:oleObj>
              </mc:Choice>
              <mc:Fallback>
                <p:oleObj name="Объект упаковщика для оболочки" showAsIcon="1" r:id="rId2" imgW="1400308" imgH="51435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0653712" y="2169397"/>
                        <a:ext cx="1400175" cy="514350"/>
                      </a:xfrm>
                      <a:prstGeom prst="rect">
                        <a:avLst/>
                      </a:prstGeom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664902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8098EC-63C8-1A50-DCD5-A145E387FE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937E04-02E0-1757-2179-798DAD893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/>
                </a:solidFill>
              </a:rPr>
              <a:t>3</a:t>
            </a:r>
            <a:r>
              <a:rPr lang="ru-RU" b="1" dirty="0">
                <a:solidFill>
                  <a:schemeClr val="accent1"/>
                </a:solidFill>
              </a:rPr>
              <a:t>. Добавляем </a:t>
            </a:r>
            <a:r>
              <a:rPr lang="en-US" b="1" dirty="0">
                <a:solidFill>
                  <a:schemeClr val="accent1"/>
                </a:solidFill>
              </a:rPr>
              <a:t>Service</a:t>
            </a:r>
            <a:endParaRPr lang="ru-RU" b="1" dirty="0">
              <a:solidFill>
                <a:schemeClr val="accent1"/>
              </a:solidFill>
            </a:endParaRP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713AD45-0136-9DCC-4879-672B0DD3FF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0062"/>
            <a:ext cx="105156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200" b="1" dirty="0"/>
              <a:t>Эксперименты:</a:t>
            </a:r>
          </a:p>
          <a:p>
            <a:pPr marL="514350" indent="-514350">
              <a:buAutoNum type="arabicParenR"/>
            </a:pPr>
            <a:r>
              <a:rPr lang="ru-RU" sz="2200" dirty="0"/>
              <a:t>Изменить количество котиков на счету и указать статус «Под с сервисом».</a:t>
            </a:r>
            <a:br>
              <a:rPr lang="ru-RU" sz="2200" dirty="0"/>
            </a:br>
            <a:r>
              <a:rPr lang="ru-RU" sz="2200" dirty="0"/>
              <a:t>Подсказка: найти в </a:t>
            </a:r>
            <a:r>
              <a:rPr lang="en-US" sz="2200" dirty="0" err="1"/>
              <a:t>ConfigMaps</a:t>
            </a:r>
            <a:r>
              <a:rPr lang="en-US" sz="2200" dirty="0"/>
              <a:t> </a:t>
            </a:r>
            <a:r>
              <a:rPr lang="ru-RU" sz="2200" dirty="0"/>
              <a:t>соответствующие настройки, изменить и сохранить число, перезапустить под, восстановить подключение</a:t>
            </a:r>
            <a:br>
              <a:rPr lang="ru-RU" sz="2200" dirty="0"/>
            </a:br>
            <a:r>
              <a:rPr lang="ru-RU" sz="2200" dirty="0"/>
              <a:t>и проверить результат.</a:t>
            </a:r>
            <a:br>
              <a:rPr lang="ru-RU" sz="2200" dirty="0"/>
            </a:br>
            <a:r>
              <a:rPr lang="ru-RU" sz="2200" dirty="0" err="1"/>
              <a:t>kubectl</a:t>
            </a:r>
            <a:r>
              <a:rPr lang="ru-RU" sz="2200" dirty="0"/>
              <a:t> </a:t>
            </a:r>
            <a:r>
              <a:rPr lang="ru-RU" sz="2200" dirty="0" err="1"/>
              <a:t>rollout</a:t>
            </a:r>
            <a:r>
              <a:rPr lang="ru-RU" sz="2200" dirty="0"/>
              <a:t> </a:t>
            </a:r>
            <a:r>
              <a:rPr lang="ru-RU" sz="2200" dirty="0" err="1"/>
              <a:t>restart</a:t>
            </a:r>
            <a:r>
              <a:rPr lang="ru-RU" sz="2200" dirty="0"/>
              <a:t> </a:t>
            </a:r>
            <a:r>
              <a:rPr lang="ru-RU" sz="2200" dirty="0" err="1"/>
              <a:t>deployment</a:t>
            </a:r>
            <a:r>
              <a:rPr lang="ru-RU" sz="2200" dirty="0"/>
              <a:t> </a:t>
            </a:r>
            <a:r>
              <a:rPr lang="en-US" sz="2200" dirty="0"/>
              <a:t>&lt;</a:t>
            </a:r>
            <a:r>
              <a:rPr lang="ru-RU" sz="2200" dirty="0"/>
              <a:t>имя</a:t>
            </a:r>
            <a:r>
              <a:rPr lang="en-US" sz="2200" dirty="0"/>
              <a:t>&gt;</a:t>
            </a:r>
            <a:br>
              <a:rPr lang="ru-RU" sz="2200" dirty="0"/>
            </a:br>
            <a:r>
              <a:rPr lang="ru-RU" sz="2200" i="1" dirty="0"/>
              <a:t>При реальной работе вы не будете удалять поды руками, вы делаете рестарт деплоя.</a:t>
            </a:r>
          </a:p>
          <a:p>
            <a:pPr marL="514350" indent="-514350">
              <a:buAutoNum type="arabicParenR"/>
            </a:pPr>
            <a:r>
              <a:rPr lang="ru-RU" sz="2200" dirty="0"/>
              <a:t>Изменить целевое количество реплик для нашего </a:t>
            </a:r>
            <a:r>
              <a:rPr lang="en-US" sz="2200" dirty="0"/>
              <a:t>cat-bank</a:t>
            </a:r>
            <a:br>
              <a:rPr lang="ru-RU" sz="2200" dirty="0"/>
            </a:br>
            <a:r>
              <a:rPr lang="ru-RU" sz="2200" dirty="0" err="1"/>
              <a:t>kubectl</a:t>
            </a:r>
            <a:r>
              <a:rPr lang="ru-RU" sz="2200" dirty="0"/>
              <a:t> </a:t>
            </a:r>
            <a:r>
              <a:rPr lang="ru-RU" sz="2200" dirty="0" err="1"/>
              <a:t>scale</a:t>
            </a:r>
            <a:r>
              <a:rPr lang="ru-RU" sz="2200" dirty="0"/>
              <a:t> </a:t>
            </a:r>
            <a:r>
              <a:rPr lang="ru-RU" sz="2200" dirty="0" err="1"/>
              <a:t>deployment</a:t>
            </a:r>
            <a:r>
              <a:rPr lang="ru-RU" sz="2200" dirty="0"/>
              <a:t>/</a:t>
            </a:r>
            <a:r>
              <a:rPr lang="ru-RU" sz="2200" dirty="0" err="1"/>
              <a:t>cat-bank-deployment</a:t>
            </a:r>
            <a:r>
              <a:rPr lang="ru-RU" sz="2200" dirty="0"/>
              <a:t> --</a:t>
            </a:r>
            <a:r>
              <a:rPr lang="ru-RU" sz="2200" dirty="0" err="1"/>
              <a:t>replicas</a:t>
            </a:r>
            <a:r>
              <a:rPr lang="ru-RU" sz="2200" dirty="0"/>
              <a:t>=3</a:t>
            </a:r>
            <a:br>
              <a:rPr lang="en-US" sz="2200" dirty="0"/>
            </a:br>
            <a:r>
              <a:rPr lang="en-US" sz="2200" b="1" dirty="0"/>
              <a:t>GUI Lens</a:t>
            </a:r>
            <a:r>
              <a:rPr lang="en-US" sz="2200" dirty="0"/>
              <a:t>: </a:t>
            </a:r>
            <a:r>
              <a:rPr lang="ru-RU" sz="2200" dirty="0"/>
              <a:t>три точки - </a:t>
            </a:r>
            <a:r>
              <a:rPr lang="en-US" sz="2200" dirty="0"/>
              <a:t>scale</a:t>
            </a:r>
            <a:br>
              <a:rPr lang="en-US" sz="2200" dirty="0"/>
            </a:br>
            <a:r>
              <a:rPr lang="ru-RU" sz="2200" dirty="0"/>
              <a:t>Либо изменить файл с cat-bank-stage1.yaml, указав </a:t>
            </a:r>
            <a:br>
              <a:rPr lang="ru-RU" sz="2200" dirty="0"/>
            </a:br>
            <a:r>
              <a:rPr lang="ru-RU" sz="2200" dirty="0"/>
              <a:t>3 реплики</a:t>
            </a:r>
            <a:r>
              <a:rPr lang="en-US" sz="2200" dirty="0"/>
              <a:t>, </a:t>
            </a:r>
            <a:r>
              <a:rPr lang="ru-RU" sz="2200" dirty="0"/>
              <a:t>обновить той же командой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D2FAA56-F672-0ADA-A054-EC69AD235A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2412" y="91340"/>
            <a:ext cx="2016183" cy="1861376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A83D178-0B6D-334F-8457-966546D9EE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27983" y="4925187"/>
            <a:ext cx="2723782" cy="1567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85286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9B00DC-8719-FF72-7676-D7040BFEBC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E4725D-3E1D-9889-036F-765FD64E6B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chemeClr val="accent1"/>
                </a:solidFill>
              </a:rPr>
              <a:t>4. Добавляем </a:t>
            </a:r>
            <a:r>
              <a:rPr lang="en-US" b="1" dirty="0">
                <a:solidFill>
                  <a:schemeClr val="accent1"/>
                </a:solidFill>
              </a:rPr>
              <a:t>Ingress</a:t>
            </a:r>
            <a:endParaRPr lang="ru-RU" b="1" dirty="0">
              <a:solidFill>
                <a:schemeClr val="accent1"/>
              </a:solidFill>
            </a:endParaRP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C4257AC-558D-4C30-1128-0A03E58E2F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3528"/>
            <a:ext cx="105156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200" dirty="0"/>
              <a:t>C</a:t>
            </a:r>
            <a:r>
              <a:rPr lang="ru-RU" sz="2200" dirty="0"/>
              <a:t>делаем так, чтобы </a:t>
            </a:r>
            <a:r>
              <a:rPr lang="ru-RU" sz="2200" dirty="0" err="1"/>
              <a:t>КотоБанк</a:t>
            </a:r>
            <a:r>
              <a:rPr lang="ru-RU" sz="2200" dirty="0"/>
              <a:t> открывался в браузере по красивому доменному имени: </a:t>
            </a:r>
            <a:r>
              <a:rPr lang="ru-RU" sz="2200" dirty="0">
                <a:hlinkClick r:id="rId2"/>
              </a:rPr>
              <a:t>http://cat-bank.local</a:t>
            </a:r>
            <a:r>
              <a:rPr lang="ru-RU" sz="2200" dirty="0"/>
              <a:t>.</a:t>
            </a:r>
          </a:p>
          <a:p>
            <a:pPr marL="457200" indent="-457200">
              <a:buAutoNum type="arabicParenR"/>
            </a:pPr>
            <a:r>
              <a:rPr lang="ru-RU" sz="2200" dirty="0"/>
              <a:t>Разрешить </a:t>
            </a:r>
            <a:r>
              <a:rPr lang="en-US" sz="2200" dirty="0"/>
              <a:t>Ingress</a:t>
            </a:r>
            <a:r>
              <a:rPr lang="ru-RU" sz="2200" dirty="0"/>
              <a:t> в</a:t>
            </a:r>
            <a:r>
              <a:rPr lang="en-US" sz="2200" dirty="0"/>
              <a:t> </a:t>
            </a:r>
            <a:r>
              <a:rPr lang="en-US" sz="2200" dirty="0" err="1"/>
              <a:t>Minikube</a:t>
            </a:r>
            <a:r>
              <a:rPr lang="ru-RU" sz="2200" dirty="0"/>
              <a:t>: </a:t>
            </a:r>
            <a:r>
              <a:rPr lang="ru-RU" sz="2200" dirty="0" err="1"/>
              <a:t>minikube</a:t>
            </a:r>
            <a:r>
              <a:rPr lang="ru-RU" sz="2200" dirty="0"/>
              <a:t> </a:t>
            </a:r>
            <a:r>
              <a:rPr lang="ru-RU" sz="2200" dirty="0" err="1"/>
              <a:t>addons</a:t>
            </a:r>
            <a:r>
              <a:rPr lang="ru-RU" sz="2200" dirty="0"/>
              <a:t> </a:t>
            </a:r>
            <a:r>
              <a:rPr lang="ru-RU" sz="2200" dirty="0" err="1"/>
              <a:t>enable</a:t>
            </a:r>
            <a:r>
              <a:rPr lang="ru-RU" sz="2200" dirty="0"/>
              <a:t> </a:t>
            </a:r>
            <a:r>
              <a:rPr lang="ru-RU" sz="2200" dirty="0" err="1"/>
              <a:t>ingress</a:t>
            </a:r>
            <a:br>
              <a:rPr lang="en-US" sz="2200" dirty="0"/>
            </a:br>
            <a:r>
              <a:rPr lang="ru-RU" sz="2200" dirty="0"/>
              <a:t>Займет пару минут.</a:t>
            </a:r>
          </a:p>
          <a:p>
            <a:pPr marL="457200" indent="-457200">
              <a:buAutoNum type="arabicParenR"/>
            </a:pPr>
            <a:r>
              <a:rPr lang="ru-RU" sz="2200" dirty="0"/>
              <a:t>Создать манифест </a:t>
            </a:r>
            <a:r>
              <a:rPr lang="en-US" sz="2200" dirty="0"/>
              <a:t>Ingress: </a:t>
            </a:r>
            <a:r>
              <a:rPr lang="ru-RU" sz="2200" dirty="0" err="1"/>
              <a:t>cat-bank-ingress.yaml</a:t>
            </a:r>
            <a:endParaRPr lang="ru-RU" sz="2200" dirty="0"/>
          </a:p>
          <a:p>
            <a:pPr marL="457200" indent="-457200">
              <a:buAutoNum type="arabicParenR"/>
            </a:pPr>
            <a:r>
              <a:rPr lang="ru-RU" sz="2200" dirty="0"/>
              <a:t>Применить этот файл в терминале: </a:t>
            </a:r>
            <a:r>
              <a:rPr lang="ru-RU" sz="2200" dirty="0" err="1"/>
              <a:t>kubectl</a:t>
            </a:r>
            <a:r>
              <a:rPr lang="ru-RU" sz="2200" dirty="0"/>
              <a:t> </a:t>
            </a:r>
            <a:r>
              <a:rPr lang="ru-RU" sz="2200" dirty="0" err="1"/>
              <a:t>apply</a:t>
            </a:r>
            <a:r>
              <a:rPr lang="ru-RU" sz="2200" dirty="0"/>
              <a:t> -f </a:t>
            </a:r>
            <a:r>
              <a:rPr lang="ru-RU" sz="2200" dirty="0" err="1"/>
              <a:t>cat-bank-ingress.yaml</a:t>
            </a:r>
            <a:endParaRPr lang="en-US" sz="2200" dirty="0"/>
          </a:p>
          <a:p>
            <a:pPr marL="457200" indent="-457200">
              <a:buAutoNum type="arabicParenR"/>
            </a:pPr>
            <a:r>
              <a:rPr lang="ru-RU" sz="2200" dirty="0"/>
              <a:t>Добавить в файл </a:t>
            </a:r>
            <a:r>
              <a:rPr lang="en-US" sz="2200" dirty="0"/>
              <a:t>hosts </a:t>
            </a:r>
            <a:r>
              <a:rPr lang="ru-RU" sz="2200" dirty="0"/>
              <a:t>строку 127.0.0.1 </a:t>
            </a:r>
            <a:r>
              <a:rPr lang="ru-RU" sz="2200" dirty="0" err="1"/>
              <a:t>cat-bank.local</a:t>
            </a:r>
            <a:r>
              <a:rPr lang="ru-RU" sz="2200" dirty="0"/>
              <a:t> (</a:t>
            </a:r>
            <a:r>
              <a:rPr lang="en-US" sz="2200" dirty="0"/>
              <a:t>Windows)</a:t>
            </a:r>
            <a:br>
              <a:rPr lang="en-US" sz="2200" dirty="0"/>
            </a:br>
            <a:r>
              <a:rPr lang="ru-RU" sz="2200" b="1" dirty="0"/>
              <a:t>Для Linux/</a:t>
            </a:r>
            <a:r>
              <a:rPr lang="ru-RU" sz="2200" b="1" dirty="0" err="1"/>
              <a:t>macOS</a:t>
            </a:r>
            <a:r>
              <a:rPr lang="ru-RU" sz="2200" b="1" dirty="0"/>
              <a:t>:</a:t>
            </a:r>
            <a:r>
              <a:rPr lang="ru-RU" sz="2200" dirty="0"/>
              <a:t> в </a:t>
            </a:r>
            <a:r>
              <a:rPr lang="ru-RU" sz="2200" dirty="0" err="1"/>
              <a:t>hosts</a:t>
            </a:r>
            <a:r>
              <a:rPr lang="ru-RU" sz="2200" dirty="0"/>
              <a:t> прописывается результат выполнения команды </a:t>
            </a:r>
            <a:r>
              <a:rPr lang="ru-RU" sz="2200" dirty="0" err="1"/>
              <a:t>minikube</a:t>
            </a:r>
            <a:r>
              <a:rPr lang="ru-RU" sz="2200" dirty="0"/>
              <a:t> </a:t>
            </a:r>
            <a:r>
              <a:rPr lang="ru-RU" sz="2200" dirty="0" err="1"/>
              <a:t>ip</a:t>
            </a:r>
            <a:endParaRPr lang="ru-RU" sz="2200" dirty="0"/>
          </a:p>
          <a:p>
            <a:pPr marL="457200" indent="-457200">
              <a:buAutoNum type="arabicParenR"/>
            </a:pPr>
            <a:r>
              <a:rPr lang="ru-RU" sz="2200" dirty="0" err="1"/>
              <a:t>minikube</a:t>
            </a:r>
            <a:r>
              <a:rPr lang="ru-RU" sz="2200" dirty="0"/>
              <a:t> </a:t>
            </a:r>
            <a:r>
              <a:rPr lang="ru-RU" sz="2200" dirty="0" err="1"/>
              <a:t>tunnel</a:t>
            </a:r>
            <a:br>
              <a:rPr lang="ru-RU" sz="2200" dirty="0"/>
            </a:br>
            <a:r>
              <a:rPr lang="ru-RU" sz="2200" dirty="0"/>
              <a:t>Для пользователей Windows + </a:t>
            </a:r>
            <a:r>
              <a:rPr lang="ru-RU" sz="2200" dirty="0" err="1"/>
              <a:t>Docker</a:t>
            </a:r>
            <a:r>
              <a:rPr lang="ru-RU" sz="2200" dirty="0"/>
              <a:t> Desktop команда </a:t>
            </a:r>
            <a:r>
              <a:rPr lang="ru-RU" sz="2200" b="1" dirty="0" err="1"/>
              <a:t>minikube</a:t>
            </a:r>
            <a:r>
              <a:rPr lang="ru-RU" sz="2200" b="1" dirty="0"/>
              <a:t> </a:t>
            </a:r>
            <a:r>
              <a:rPr lang="ru-RU" sz="2200" b="1" dirty="0" err="1"/>
              <a:t>tunnel</a:t>
            </a:r>
            <a:r>
              <a:rPr lang="ru-RU" sz="2200" dirty="0"/>
              <a:t> в отдельном терминале </a:t>
            </a:r>
            <a:r>
              <a:rPr lang="ru-RU" sz="2200" b="1" dirty="0"/>
              <a:t>ОБЯЗАТЕЛЬНА</a:t>
            </a:r>
            <a:r>
              <a:rPr lang="ru-RU" sz="2200" dirty="0"/>
              <a:t>, иначе </a:t>
            </a:r>
            <a:r>
              <a:rPr lang="ru-RU" sz="2200" dirty="0" err="1"/>
              <a:t>Ingress</a:t>
            </a:r>
            <a:r>
              <a:rPr lang="ru-RU" sz="2200" dirty="0"/>
              <a:t> не пропустит трафик внутрь кластера</a:t>
            </a:r>
          </a:p>
          <a:p>
            <a:pPr marL="457200" indent="-457200">
              <a:buAutoNum type="arabicParenR"/>
            </a:pPr>
            <a:r>
              <a:rPr lang="ru-RU" sz="2200" dirty="0"/>
              <a:t>Открыть </a:t>
            </a:r>
            <a:r>
              <a:rPr lang="ru-RU" sz="2200" dirty="0" err="1"/>
              <a:t>Котобанк</a:t>
            </a:r>
            <a:r>
              <a:rPr lang="ru-RU" sz="2200" dirty="0"/>
              <a:t> в браузере по адресу: </a:t>
            </a:r>
            <a:r>
              <a:rPr lang="ru-RU" sz="2200" dirty="0" err="1"/>
              <a:t>cat-bank.local</a:t>
            </a:r>
            <a:endParaRPr lang="ru-RU" sz="2200" dirty="0"/>
          </a:p>
        </p:txBody>
      </p:sp>
      <p:graphicFrame>
        <p:nvGraphicFramePr>
          <p:cNvPr id="8" name="Объект 7">
            <a:extLst>
              <a:ext uri="{FF2B5EF4-FFF2-40B4-BE49-F238E27FC236}">
                <a16:creationId xmlns:a16="http://schemas.microsoft.com/office/drawing/2014/main" id="{617B8C62-4169-ADDD-2399-F339018D54D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43574047"/>
              </p:ext>
            </p:extLst>
          </p:nvPr>
        </p:nvGraphicFramePr>
        <p:xfrm>
          <a:off x="10549504" y="2198213"/>
          <a:ext cx="1409700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Объект упаковщика для оболочки" showAsIcon="1" r:id="rId3" imgW="1409877" imgH="514350" progId="Package">
                  <p:embed/>
                </p:oleObj>
              </mc:Choice>
              <mc:Fallback>
                <p:oleObj name="Объект упаковщика для оболочки" showAsIcon="1" r:id="rId3" imgW="1409877" imgH="51435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549504" y="2198213"/>
                        <a:ext cx="1409700" cy="514350"/>
                      </a:xfrm>
                      <a:prstGeom prst="rect">
                        <a:avLst/>
                      </a:prstGeom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017539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D6DD83-6B2A-38E0-C4DD-10FC88D936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9BA6A75-EC07-5D5B-1F27-76FFC5D2FA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chemeClr val="accent1"/>
                </a:solidFill>
              </a:rPr>
              <a:t>5. Добавляем </a:t>
            </a:r>
            <a:r>
              <a:rPr lang="ru-RU" b="1" dirty="0" err="1">
                <a:solidFill>
                  <a:schemeClr val="accent1"/>
                </a:solidFill>
              </a:rPr>
              <a:t>Котобанку</a:t>
            </a:r>
            <a:r>
              <a:rPr lang="ru-RU" b="1" dirty="0">
                <a:solidFill>
                  <a:schemeClr val="accent1"/>
                </a:solidFill>
              </a:rPr>
              <a:t> работу с внешними сервисами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2262CD6-FB2D-8929-6C4C-F90462D8E8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457200" indent="-457200">
              <a:buFont typeface="Arial" panose="020B0604020202020204" pitchFamily="34" charset="0"/>
              <a:buAutoNum type="arabicParenR"/>
            </a:pPr>
            <a:r>
              <a:rPr lang="ru-RU" sz="2400" dirty="0"/>
              <a:t>Обновить конфигурацию </a:t>
            </a:r>
            <a:r>
              <a:rPr lang="ru-RU" sz="2400" dirty="0" err="1"/>
              <a:t>КотоБанка</a:t>
            </a:r>
            <a:r>
              <a:rPr lang="ru-RU" sz="2400" dirty="0"/>
              <a:t>. </a:t>
            </a:r>
            <a:br>
              <a:rPr lang="ru-RU" sz="2400" dirty="0"/>
            </a:br>
            <a:r>
              <a:rPr lang="en-US" sz="2400" dirty="0" err="1"/>
              <a:t>kubectl</a:t>
            </a:r>
            <a:r>
              <a:rPr lang="en-US" sz="2400" dirty="0"/>
              <a:t> apply -f cat-bank-stage</a:t>
            </a:r>
            <a:r>
              <a:rPr lang="ru-RU" sz="2400" dirty="0"/>
              <a:t>2</a:t>
            </a:r>
            <a:r>
              <a:rPr lang="en-US" sz="2400" dirty="0"/>
              <a:t>.yaml (</a:t>
            </a:r>
            <a:r>
              <a:rPr lang="ru-RU" sz="2400" dirty="0"/>
              <a:t>применяем манифест </a:t>
            </a:r>
            <a:br>
              <a:rPr lang="ru-RU" sz="2400" dirty="0"/>
            </a:br>
            <a:r>
              <a:rPr lang="ru-RU" sz="2400" dirty="0"/>
              <a:t>из каталога с файлом)</a:t>
            </a:r>
            <a:br>
              <a:rPr lang="ru-RU" sz="2400" dirty="0"/>
            </a:br>
            <a:r>
              <a:rPr lang="ru-RU" sz="2400" dirty="0"/>
              <a:t>Теперь на странице появится блок для вывода полезных советов и кнопка для их обновления, которая отправляет HTTP-запросы на внутренний /</a:t>
            </a:r>
            <a:r>
              <a:rPr lang="ru-RU" sz="2400" dirty="0" err="1"/>
              <a:t>advice</a:t>
            </a:r>
            <a:endParaRPr lang="ru-RU" sz="2400" dirty="0"/>
          </a:p>
          <a:p>
            <a:pPr marL="457200" indent="-457200">
              <a:buFont typeface="Arial" panose="020B0604020202020204" pitchFamily="34" charset="0"/>
              <a:buAutoNum type="arabicParenR"/>
            </a:pPr>
            <a:r>
              <a:rPr lang="ru-RU" sz="2400" dirty="0"/>
              <a:t>Проверить работу </a:t>
            </a:r>
            <a:r>
              <a:rPr lang="ru-RU" sz="2400" dirty="0" err="1"/>
              <a:t>Котобанка</a:t>
            </a:r>
            <a:r>
              <a:rPr lang="ru-RU" sz="2400" dirty="0"/>
              <a:t>: </a:t>
            </a:r>
            <a:r>
              <a:rPr lang="en-US" sz="2400" dirty="0"/>
              <a:t>http://cat-bank.local/</a:t>
            </a:r>
          </a:p>
          <a:p>
            <a:pPr marL="457200" indent="-457200">
              <a:buFont typeface="Arial" panose="020B0604020202020204" pitchFamily="34" charset="0"/>
              <a:buAutoNum type="arabicParenR"/>
            </a:pPr>
            <a:endParaRPr lang="ru-RU" sz="2400" b="1" dirty="0"/>
          </a:p>
          <a:p>
            <a:pPr marL="457200" indent="-457200">
              <a:buAutoNum type="arabicParenR"/>
            </a:pPr>
            <a:endParaRPr lang="ru-RU" sz="2400" dirty="0"/>
          </a:p>
          <a:p>
            <a:pPr marL="0" indent="0">
              <a:buNone/>
            </a:pPr>
            <a:endParaRPr lang="ru-RU" sz="2400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DCD03611-D91E-895F-4B89-62B727335D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77656" y="3710748"/>
            <a:ext cx="3081222" cy="2847070"/>
          </a:xfrm>
          <a:prstGeom prst="rect">
            <a:avLst/>
          </a:prstGeom>
        </p:spPr>
      </p:pic>
      <p:graphicFrame>
        <p:nvGraphicFramePr>
          <p:cNvPr id="10" name="Объект 9">
            <a:extLst>
              <a:ext uri="{FF2B5EF4-FFF2-40B4-BE49-F238E27FC236}">
                <a16:creationId xmlns:a16="http://schemas.microsoft.com/office/drawing/2014/main" id="{6DC2946D-F919-766F-439B-8C26F9145FE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43561071"/>
              </p:ext>
            </p:extLst>
          </p:nvPr>
        </p:nvGraphicFramePr>
        <p:xfrm>
          <a:off x="10377753" y="1996662"/>
          <a:ext cx="1381125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Объект упаковщика для оболочки" showAsIcon="1" r:id="rId3" imgW="1381169" imgH="514350" progId="Package">
                  <p:embed/>
                </p:oleObj>
              </mc:Choice>
              <mc:Fallback>
                <p:oleObj name="Объект упаковщика для оболочки" showAsIcon="1" r:id="rId3" imgW="1381169" imgH="51435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377753" y="1996662"/>
                        <a:ext cx="1381125" cy="514350"/>
                      </a:xfrm>
                      <a:prstGeom prst="rect">
                        <a:avLst/>
                      </a:prstGeom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383570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8658D0-6644-D128-CBF5-A91AFAFA64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2453763-246E-3C48-C1D6-27A91AA3E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chemeClr val="accent1"/>
                </a:solidFill>
              </a:rPr>
              <a:t>6. Заменим сервис на мок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510A636-73E5-F513-5EF1-6F2B4D43DA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7007"/>
            <a:ext cx="10515600" cy="4351338"/>
          </a:xfrm>
        </p:spPr>
        <p:txBody>
          <a:bodyPr>
            <a:noAutofit/>
          </a:bodyPr>
          <a:lstStyle/>
          <a:p>
            <a:pPr marL="457200" indent="-457200">
              <a:buFont typeface="Arial" panose="020B0604020202020204" pitchFamily="34" charset="0"/>
              <a:buAutoNum type="arabicParenR"/>
            </a:pPr>
            <a:r>
              <a:rPr lang="ru-RU" sz="2000" dirty="0"/>
              <a:t>Создать манифест для </a:t>
            </a:r>
            <a:r>
              <a:rPr lang="ru-RU" sz="2000" dirty="0" err="1"/>
              <a:t>мока</a:t>
            </a:r>
            <a:r>
              <a:rPr lang="en-US" sz="2000" dirty="0"/>
              <a:t>: mock</a:t>
            </a:r>
            <a:r>
              <a:rPr lang="ru-RU" sz="2000" dirty="0"/>
              <a:t>.</a:t>
            </a:r>
            <a:r>
              <a:rPr lang="ru-RU" sz="2000" dirty="0" err="1"/>
              <a:t>yaml</a:t>
            </a:r>
            <a:r>
              <a:rPr lang="en-US" sz="2000" dirty="0"/>
              <a:t> (deployment + service</a:t>
            </a:r>
            <a:r>
              <a:rPr lang="ru-RU" sz="2000" dirty="0"/>
              <a:t> + конфиги</a:t>
            </a:r>
            <a:r>
              <a:rPr lang="en-US" sz="2000" dirty="0"/>
              <a:t>)</a:t>
            </a:r>
            <a:br>
              <a:rPr lang="ru-RU" sz="2000" dirty="0"/>
            </a:br>
            <a:r>
              <a:rPr lang="ru-RU" sz="2000" dirty="0"/>
              <a:t>Внимательно изучить содержимое файла.</a:t>
            </a:r>
            <a:br>
              <a:rPr lang="ru-RU" sz="2000" dirty="0"/>
            </a:br>
            <a:r>
              <a:rPr lang="ru-RU" sz="2000" i="1" dirty="0"/>
              <a:t>На самом деле, вместо того чтобы редактировать </a:t>
            </a:r>
            <a:r>
              <a:rPr lang="ru-RU" sz="2000" i="1" dirty="0" err="1"/>
              <a:t>ConfigMap</a:t>
            </a:r>
            <a:r>
              <a:rPr lang="ru-RU" sz="2000" i="1" dirty="0"/>
              <a:t> каждый раз, можно создать </a:t>
            </a:r>
            <a:r>
              <a:rPr lang="ru-RU" sz="2000" b="1" i="1" dirty="0"/>
              <a:t>несколько </a:t>
            </a:r>
            <a:r>
              <a:rPr lang="ru-RU" sz="2000" b="1" i="1" dirty="0" err="1"/>
              <a:t>ConfigMap</a:t>
            </a:r>
            <a:r>
              <a:rPr lang="ru-RU" sz="2000" b="1" i="1" dirty="0"/>
              <a:t> (для разных сценариев!). </a:t>
            </a:r>
            <a:r>
              <a:rPr lang="ru-RU" sz="2000" i="1" dirty="0"/>
              <a:t>И менять только одну строчку в </a:t>
            </a:r>
            <a:r>
              <a:rPr lang="en-US" sz="2000" i="1" dirty="0"/>
              <a:t>Deployment, </a:t>
            </a:r>
            <a:r>
              <a:rPr lang="ru-RU" sz="2000" i="1" dirty="0"/>
              <a:t>например,</a:t>
            </a:r>
            <a:r>
              <a:rPr lang="en-US" sz="2000" b="1" i="1" dirty="0"/>
              <a:t> </a:t>
            </a:r>
            <a:r>
              <a:rPr lang="ru-RU" sz="2000" i="1" dirty="0" err="1"/>
              <a:t>configMap</a:t>
            </a:r>
            <a:r>
              <a:rPr lang="ru-RU" sz="2000" i="1" dirty="0"/>
              <a:t>: </a:t>
            </a:r>
            <a:r>
              <a:rPr lang="ru-RU" sz="2000" i="1" dirty="0" err="1"/>
              <a:t>name</a:t>
            </a:r>
            <a:r>
              <a:rPr lang="ru-RU" sz="2000" i="1" dirty="0"/>
              <a:t>: </a:t>
            </a:r>
            <a:r>
              <a:rPr lang="ru-RU" sz="2000" i="1" dirty="0" err="1"/>
              <a:t>wiremock-config-delay</a:t>
            </a:r>
            <a:endParaRPr lang="ru-RU" sz="2000" i="1" dirty="0"/>
          </a:p>
          <a:p>
            <a:pPr marL="457200" indent="-457200">
              <a:buAutoNum type="arabicParenR"/>
            </a:pPr>
            <a:r>
              <a:rPr lang="ru-RU" sz="2000" dirty="0"/>
              <a:t>Применить этот файл в терминале: </a:t>
            </a:r>
            <a:r>
              <a:rPr lang="ru-RU" sz="2000" dirty="0" err="1"/>
              <a:t>kubectl</a:t>
            </a:r>
            <a:r>
              <a:rPr lang="ru-RU" sz="2000" dirty="0"/>
              <a:t> </a:t>
            </a:r>
            <a:r>
              <a:rPr lang="ru-RU" sz="2000" dirty="0" err="1"/>
              <a:t>apply</a:t>
            </a:r>
            <a:r>
              <a:rPr lang="ru-RU" sz="2000" dirty="0"/>
              <a:t> -f </a:t>
            </a:r>
            <a:r>
              <a:rPr lang="en-US" sz="2000" dirty="0"/>
              <a:t>mock</a:t>
            </a:r>
            <a:r>
              <a:rPr lang="ru-RU" sz="2000" dirty="0"/>
              <a:t>.</a:t>
            </a:r>
            <a:r>
              <a:rPr lang="ru-RU" sz="2000" dirty="0" err="1"/>
              <a:t>yaml</a:t>
            </a:r>
            <a:r>
              <a:rPr lang="en-US" sz="2000" dirty="0"/>
              <a:t> (</a:t>
            </a:r>
            <a:r>
              <a:rPr lang="ru-RU" sz="2000" dirty="0"/>
              <a:t>опять же, из каталога)</a:t>
            </a:r>
          </a:p>
          <a:p>
            <a:pPr marL="457200" indent="-457200">
              <a:buFont typeface="Arial" panose="020B0604020202020204" pitchFamily="34" charset="0"/>
              <a:buAutoNum type="arabicParenR"/>
            </a:pPr>
            <a:r>
              <a:rPr lang="ru-RU" sz="2000" dirty="0"/>
              <a:t>Изменить в </a:t>
            </a:r>
            <a:r>
              <a:rPr lang="en-US" sz="2000" dirty="0"/>
              <a:t>deployment </a:t>
            </a:r>
            <a:r>
              <a:rPr lang="ru-RU" sz="2000" dirty="0" err="1"/>
              <a:t>Котобанка</a:t>
            </a:r>
            <a:r>
              <a:rPr lang="ru-RU" sz="2000" dirty="0"/>
              <a:t> (можно через </a:t>
            </a:r>
            <a:r>
              <a:rPr lang="ru-RU" sz="2000" dirty="0" err="1"/>
              <a:t>apply</a:t>
            </a:r>
            <a:r>
              <a:rPr lang="ru-RU" sz="2000" dirty="0"/>
              <a:t>):</a:t>
            </a:r>
            <a:br>
              <a:rPr lang="ru-RU" sz="2000" dirty="0"/>
            </a:br>
            <a:r>
              <a:rPr lang="ru-RU" sz="2000" dirty="0" err="1"/>
              <a:t>proxy_pass</a:t>
            </a:r>
            <a:r>
              <a:rPr lang="ru-RU" sz="2000" dirty="0"/>
              <a:t> </a:t>
            </a:r>
            <a:r>
              <a:rPr lang="ru-RU" sz="2000" dirty="0">
                <a:hlinkClick r:id="rId2"/>
              </a:rPr>
              <a:t>https://api.adviceslip.com/advice</a:t>
            </a:r>
            <a:r>
              <a:rPr lang="ru-RU" sz="2000" dirty="0"/>
              <a:t>; </a:t>
            </a:r>
            <a:br>
              <a:rPr lang="ru-RU" sz="2000" dirty="0"/>
            </a:br>
            <a:r>
              <a:rPr lang="ru-RU" sz="2000" dirty="0"/>
              <a:t>на </a:t>
            </a:r>
            <a:br>
              <a:rPr lang="ru-RU" sz="2000" dirty="0"/>
            </a:br>
            <a:r>
              <a:rPr lang="ru-RU" sz="2000" dirty="0" err="1"/>
              <a:t>proxy_pass</a:t>
            </a:r>
            <a:r>
              <a:rPr lang="ru-RU" sz="2000" dirty="0"/>
              <a:t> http://wiremock-service:8080/advice;</a:t>
            </a:r>
          </a:p>
          <a:p>
            <a:pPr marL="457200" indent="-457200">
              <a:buFont typeface="Arial" panose="020B0604020202020204" pitchFamily="34" charset="0"/>
              <a:buAutoNum type="arabicParenR"/>
            </a:pPr>
            <a:r>
              <a:rPr lang="ru-RU" sz="2000" dirty="0"/>
              <a:t>Перезапустить под с </a:t>
            </a:r>
            <a:r>
              <a:rPr lang="ru-RU" sz="2000" dirty="0" err="1"/>
              <a:t>Котобанком</a:t>
            </a:r>
            <a:r>
              <a:rPr lang="ru-RU" sz="2000" dirty="0"/>
              <a:t>:</a:t>
            </a:r>
            <a:br>
              <a:rPr lang="ru-RU" sz="2000" dirty="0"/>
            </a:br>
            <a:r>
              <a:rPr lang="ru-RU" sz="2000" dirty="0" err="1"/>
              <a:t>kubectl</a:t>
            </a:r>
            <a:r>
              <a:rPr lang="ru-RU" sz="2000" dirty="0"/>
              <a:t> </a:t>
            </a:r>
            <a:r>
              <a:rPr lang="ru-RU" sz="2000" dirty="0" err="1"/>
              <a:t>rollout</a:t>
            </a:r>
            <a:r>
              <a:rPr lang="ru-RU" sz="2000" dirty="0"/>
              <a:t> </a:t>
            </a:r>
            <a:r>
              <a:rPr lang="ru-RU" sz="2000" dirty="0" err="1"/>
              <a:t>restart</a:t>
            </a:r>
            <a:r>
              <a:rPr lang="ru-RU" sz="2000" dirty="0"/>
              <a:t> </a:t>
            </a:r>
            <a:r>
              <a:rPr lang="ru-RU" sz="2000" dirty="0" err="1"/>
              <a:t>deployment</a:t>
            </a:r>
            <a:r>
              <a:rPr lang="ru-RU" sz="2000" dirty="0"/>
              <a:t> </a:t>
            </a:r>
            <a:r>
              <a:rPr lang="ru-RU" sz="2000" dirty="0" err="1"/>
              <a:t>cat-bank-deployment</a:t>
            </a:r>
            <a:endParaRPr lang="ru-RU" sz="2000" dirty="0"/>
          </a:p>
          <a:p>
            <a:pPr marL="457200" indent="-457200">
              <a:buFont typeface="Arial" panose="020B0604020202020204" pitchFamily="34" charset="0"/>
              <a:buAutoNum type="arabicParenR"/>
            </a:pPr>
            <a:r>
              <a:rPr lang="ru-RU" sz="2000" dirty="0"/>
              <a:t>Проверить результат: </a:t>
            </a:r>
            <a:r>
              <a:rPr lang="en-US" sz="2000" dirty="0"/>
              <a:t>http://cat-bank.local/</a:t>
            </a:r>
          </a:p>
        </p:txBody>
      </p:sp>
      <p:graphicFrame>
        <p:nvGraphicFramePr>
          <p:cNvPr id="3" name="Объект 2">
            <a:extLst>
              <a:ext uri="{FF2B5EF4-FFF2-40B4-BE49-F238E27FC236}">
                <a16:creationId xmlns:a16="http://schemas.microsoft.com/office/drawing/2014/main" id="{B8CC38C8-CBEB-9B56-0A7C-A7491C24FD5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29880771"/>
              </p:ext>
            </p:extLst>
          </p:nvPr>
        </p:nvGraphicFramePr>
        <p:xfrm>
          <a:off x="11353800" y="1567007"/>
          <a:ext cx="714375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Объект упаковщика для оболочки" showAsIcon="1" r:id="rId3" imgW="714508" imgH="514350" progId="Package">
                  <p:embed/>
                </p:oleObj>
              </mc:Choice>
              <mc:Fallback>
                <p:oleObj name="Объект упаковщика для оболочки" showAsIcon="1" r:id="rId3" imgW="714508" imgH="51435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353800" y="1567007"/>
                        <a:ext cx="714375" cy="514350"/>
                      </a:xfrm>
                      <a:prstGeom prst="rect">
                        <a:avLst/>
                      </a:prstGeom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Объект 4">
            <a:extLst>
              <a:ext uri="{FF2B5EF4-FFF2-40B4-BE49-F238E27FC236}">
                <a16:creationId xmlns:a16="http://schemas.microsoft.com/office/drawing/2014/main" id="{1D7D60A0-24A7-3983-18AB-F070637132A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74060053"/>
              </p:ext>
            </p:extLst>
          </p:nvPr>
        </p:nvGraphicFramePr>
        <p:xfrm>
          <a:off x="10794711" y="3990254"/>
          <a:ext cx="1381125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Объект упаковщика для оболочки" showAsIcon="1" r:id="rId5" imgW="1381169" imgH="514350" progId="Package">
                  <p:embed/>
                </p:oleObj>
              </mc:Choice>
              <mc:Fallback>
                <p:oleObj name="Объект упаковщика для оболочки" showAsIcon="1" r:id="rId5" imgW="1381169" imgH="51435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0794711" y="3990254"/>
                        <a:ext cx="1381125" cy="514350"/>
                      </a:xfrm>
                      <a:prstGeom prst="rect">
                        <a:avLst/>
                      </a:prstGeom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582197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0752DC-3478-B940-9314-F7D20418A9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E54D6A-1CFD-4D9B-2FD0-0AF95FF5E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chemeClr val="accent1"/>
                </a:solidFill>
              </a:rPr>
              <a:t>6. Заменим сервис на мок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DF65E29-5263-FF84-6B55-17A312E336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7007"/>
            <a:ext cx="105156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ru-RU" sz="2400" dirty="0"/>
          </a:p>
          <a:p>
            <a:pPr marL="457200" indent="-457200">
              <a:buAutoNum type="arabicParenR"/>
            </a:pPr>
            <a:endParaRPr lang="ru-RU" sz="2400" dirty="0"/>
          </a:p>
          <a:p>
            <a:pPr marL="0" indent="0">
              <a:buNone/>
            </a:pPr>
            <a:endParaRPr lang="ru-RU" sz="2400" dirty="0"/>
          </a:p>
          <a:p>
            <a:pPr marL="457200" indent="-457200">
              <a:buAutoNum type="arabicParenR"/>
            </a:pPr>
            <a:endParaRPr lang="en-US" sz="24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BCD0F49-3F79-8026-2B64-979E3779CF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3018" y="1690688"/>
            <a:ext cx="4622800" cy="4523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32002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4E1038-6B38-B8C1-B204-74A1B75AB0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915B6E-86EB-3955-EB65-879B5517A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chemeClr val="accent1"/>
                </a:solidFill>
              </a:rPr>
              <a:t>6. Заменим сервис на мок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19660E9-7BA7-F19A-5233-AAFE0C23A6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7007"/>
            <a:ext cx="10515600" cy="4351338"/>
          </a:xfrm>
        </p:spPr>
        <p:txBody>
          <a:bodyPr>
            <a:noAutofit/>
          </a:bodyPr>
          <a:lstStyle/>
          <a:p>
            <a:pPr marL="457200" indent="-457200">
              <a:buAutoNum type="arabicParenR"/>
            </a:pPr>
            <a:r>
              <a:rPr lang="ru-RU" sz="2400" dirty="0"/>
              <a:t>Создать файл с «негативными» сценариями работы мок</a:t>
            </a:r>
            <a:br>
              <a:rPr lang="ru-RU" sz="2400" dirty="0"/>
            </a:br>
            <a:r>
              <a:rPr lang="en-US" sz="2400" dirty="0"/>
              <a:t>mock-negative-</a:t>
            </a:r>
            <a:r>
              <a:rPr lang="en-US" sz="2400" dirty="0" err="1"/>
              <a:t>config.yaml</a:t>
            </a:r>
            <a:endParaRPr lang="en-US" sz="2400" dirty="0"/>
          </a:p>
          <a:p>
            <a:pPr marL="457200" indent="-457200">
              <a:buFont typeface="Arial" panose="020B0604020202020204" pitchFamily="34" charset="0"/>
              <a:buAutoNum type="arabicParenR"/>
            </a:pPr>
            <a:r>
              <a:rPr lang="ru-RU" sz="2400" dirty="0"/>
              <a:t>Применить его: </a:t>
            </a:r>
            <a:r>
              <a:rPr lang="ru-RU" sz="2400" dirty="0" err="1"/>
              <a:t>kubectl</a:t>
            </a:r>
            <a:r>
              <a:rPr lang="ru-RU" sz="2400" dirty="0"/>
              <a:t> </a:t>
            </a:r>
            <a:r>
              <a:rPr lang="ru-RU" sz="2400" dirty="0" err="1"/>
              <a:t>apply</a:t>
            </a:r>
            <a:r>
              <a:rPr lang="ru-RU" sz="2400" dirty="0"/>
              <a:t> -f </a:t>
            </a:r>
            <a:r>
              <a:rPr lang="en-US" sz="2400" dirty="0"/>
              <a:t>mock-negative-</a:t>
            </a:r>
            <a:r>
              <a:rPr lang="en-US" sz="2400" dirty="0" err="1"/>
              <a:t>config.yaml</a:t>
            </a:r>
            <a:r>
              <a:rPr lang="en-US" sz="2400" dirty="0"/>
              <a:t> (</a:t>
            </a:r>
            <a:r>
              <a:rPr lang="ru-RU" sz="2400" dirty="0"/>
              <a:t>из каталога)</a:t>
            </a:r>
          </a:p>
          <a:p>
            <a:pPr marL="457200" indent="-457200">
              <a:buFont typeface="Arial" panose="020B0604020202020204" pitchFamily="34" charset="0"/>
              <a:buAutoNum type="arabicParenR"/>
            </a:pPr>
            <a:r>
              <a:rPr lang="ru-RU" sz="2400" dirty="0"/>
              <a:t>Убедиться, что созданы соответствующие </a:t>
            </a:r>
            <a:r>
              <a:rPr lang="en-US" sz="2400" dirty="0" err="1"/>
              <a:t>configmap</a:t>
            </a:r>
            <a:endParaRPr lang="ru-RU" sz="2400" dirty="0"/>
          </a:p>
          <a:p>
            <a:pPr marL="457200" indent="-457200">
              <a:buFont typeface="Arial" panose="020B0604020202020204" pitchFamily="34" charset="0"/>
              <a:buAutoNum type="arabicParenR"/>
            </a:pPr>
            <a:r>
              <a:rPr lang="ru-RU" sz="2400" dirty="0"/>
              <a:t>Изменить в настройках </a:t>
            </a:r>
            <a:r>
              <a:rPr lang="en-US" sz="2400" dirty="0"/>
              <a:t>deployment </a:t>
            </a:r>
            <a:r>
              <a:rPr lang="ru-RU" sz="2400" dirty="0"/>
              <a:t>мок конфиг на любой с ошибкой запроса (и перезапустить мок).</a:t>
            </a:r>
          </a:p>
          <a:p>
            <a:pPr marL="457200" indent="-457200">
              <a:buFont typeface="Arial" panose="020B0604020202020204" pitchFamily="34" charset="0"/>
              <a:buAutoNum type="arabicParenR"/>
            </a:pPr>
            <a:r>
              <a:rPr lang="ru-RU" sz="2400" dirty="0"/>
              <a:t>Проверить результат: </a:t>
            </a:r>
            <a:r>
              <a:rPr lang="en-US" sz="2400" dirty="0"/>
              <a:t>http://cat-bank.local/</a:t>
            </a:r>
            <a:endParaRPr lang="ru-RU" sz="2400" dirty="0"/>
          </a:p>
          <a:p>
            <a:pPr marL="457200" indent="-457200">
              <a:buAutoNum type="arabicParenR"/>
            </a:pPr>
            <a:endParaRPr lang="ru-RU" sz="2400" dirty="0"/>
          </a:p>
          <a:p>
            <a:pPr marL="457200" indent="-457200">
              <a:buAutoNum type="arabicParenR"/>
            </a:pPr>
            <a:endParaRPr lang="en-US" sz="2400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3C7070F-D81F-702C-40C3-D9A24BE66D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454" y="3742676"/>
            <a:ext cx="3384948" cy="2980527"/>
          </a:xfrm>
          <a:prstGeom prst="rect">
            <a:avLst/>
          </a:prstGeom>
        </p:spPr>
      </p:pic>
      <p:graphicFrame>
        <p:nvGraphicFramePr>
          <p:cNvPr id="7" name="Объект 6">
            <a:extLst>
              <a:ext uri="{FF2B5EF4-FFF2-40B4-BE49-F238E27FC236}">
                <a16:creationId xmlns:a16="http://schemas.microsoft.com/office/drawing/2014/main" id="{1B5A3830-BF7E-71DD-75BE-06DE7775DCC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18035169"/>
              </p:ext>
            </p:extLst>
          </p:nvPr>
        </p:nvGraphicFramePr>
        <p:xfrm>
          <a:off x="10208752" y="1690688"/>
          <a:ext cx="1771650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Объект упаковщика для оболочки" showAsIcon="1" r:id="rId3" imgW="1771916" imgH="514350" progId="Package">
                  <p:embed/>
                </p:oleObj>
              </mc:Choice>
              <mc:Fallback>
                <p:oleObj name="Объект упаковщика для оболочки" showAsIcon="1" r:id="rId3" imgW="1771916" imgH="51435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208752" y="1690688"/>
                        <a:ext cx="1771650" cy="514350"/>
                      </a:xfrm>
                      <a:prstGeom prst="rect">
                        <a:avLst/>
                      </a:prstGeom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613424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0E5BF5-4C68-575B-CED6-F58EE7CC30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4BF16D3-1817-8E13-37E1-943EEA4038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chemeClr val="accent1"/>
                </a:solidFill>
              </a:rPr>
              <a:t>Самые частые команды </a:t>
            </a:r>
            <a:r>
              <a:rPr lang="en-US" b="1" dirty="0">
                <a:solidFill>
                  <a:schemeClr val="accent1"/>
                </a:solidFill>
              </a:rPr>
              <a:t>QA</a:t>
            </a:r>
            <a:endParaRPr lang="ru-RU" b="1" dirty="0">
              <a:solidFill>
                <a:schemeClr val="accent1"/>
              </a:solidFill>
            </a:endParaRP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2949F5A-6A18-7801-1A76-91B42724DF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7007"/>
            <a:ext cx="10515600" cy="4351338"/>
          </a:xfrm>
        </p:spPr>
        <p:txBody>
          <a:bodyPr>
            <a:noAutofit/>
          </a:bodyPr>
          <a:lstStyle/>
          <a:p>
            <a:r>
              <a:rPr lang="ru-RU" dirty="0" err="1"/>
              <a:t>kubectl</a:t>
            </a:r>
            <a:r>
              <a:rPr lang="ru-RU" dirty="0"/>
              <a:t> </a:t>
            </a:r>
            <a:r>
              <a:rPr lang="ru-RU" dirty="0" err="1"/>
              <a:t>get</a:t>
            </a:r>
            <a:r>
              <a:rPr lang="ru-RU" dirty="0"/>
              <a:t> </a:t>
            </a:r>
            <a:r>
              <a:rPr lang="ru-RU" dirty="0" err="1"/>
              <a:t>pods</a:t>
            </a:r>
            <a:r>
              <a:rPr lang="ru-RU" dirty="0"/>
              <a:t> -n &lt;</a:t>
            </a:r>
            <a:r>
              <a:rPr lang="ru-RU" dirty="0" err="1"/>
              <a:t>ns</a:t>
            </a:r>
            <a:r>
              <a:rPr lang="ru-RU" dirty="0"/>
              <a:t>&gt; -w (смотреть в реальном времени)</a:t>
            </a:r>
          </a:p>
          <a:p>
            <a:r>
              <a:rPr lang="ru-RU" dirty="0" err="1"/>
              <a:t>kubectl</a:t>
            </a:r>
            <a:r>
              <a:rPr lang="ru-RU" dirty="0"/>
              <a:t> </a:t>
            </a:r>
            <a:r>
              <a:rPr lang="ru-RU" dirty="0" err="1"/>
              <a:t>describe</a:t>
            </a:r>
            <a:r>
              <a:rPr lang="ru-RU" dirty="0"/>
              <a:t> </a:t>
            </a:r>
            <a:r>
              <a:rPr lang="ru-RU" dirty="0" err="1"/>
              <a:t>pod</a:t>
            </a:r>
            <a:r>
              <a:rPr lang="ru-RU" dirty="0"/>
              <a:t> (смотреть ивенты)</a:t>
            </a:r>
          </a:p>
          <a:p>
            <a:r>
              <a:rPr lang="ru-RU" dirty="0" err="1"/>
              <a:t>kubectl</a:t>
            </a:r>
            <a:r>
              <a:rPr lang="ru-RU" dirty="0"/>
              <a:t> </a:t>
            </a:r>
            <a:r>
              <a:rPr lang="ru-RU" dirty="0" err="1"/>
              <a:t>logs</a:t>
            </a:r>
            <a:r>
              <a:rPr lang="ru-RU" dirty="0"/>
              <a:t> -f --</a:t>
            </a:r>
            <a:r>
              <a:rPr lang="ru-RU" dirty="0" err="1"/>
              <a:t>tail</a:t>
            </a:r>
            <a:r>
              <a:rPr lang="ru-RU" dirty="0"/>
              <a:t>=100 (смотреть последние логи)</a:t>
            </a:r>
          </a:p>
          <a:p>
            <a:r>
              <a:rPr lang="ru-RU" dirty="0" err="1"/>
              <a:t>kubectl</a:t>
            </a:r>
            <a:r>
              <a:rPr lang="ru-RU" dirty="0"/>
              <a:t> </a:t>
            </a:r>
            <a:r>
              <a:rPr lang="ru-RU" dirty="0" err="1"/>
              <a:t>exec</a:t>
            </a:r>
            <a:r>
              <a:rPr lang="ru-RU" dirty="0"/>
              <a:t> -</a:t>
            </a:r>
            <a:r>
              <a:rPr lang="ru-RU" dirty="0" err="1"/>
              <a:t>it</a:t>
            </a:r>
            <a:r>
              <a:rPr lang="ru-RU" dirty="0"/>
              <a:t> &lt;</a:t>
            </a:r>
            <a:r>
              <a:rPr lang="ru-RU" dirty="0" err="1"/>
              <a:t>pod</a:t>
            </a:r>
            <a:r>
              <a:rPr lang="ru-RU" dirty="0"/>
              <a:t>&gt; -- </a:t>
            </a:r>
            <a:r>
              <a:rPr lang="ru-RU" dirty="0" err="1"/>
              <a:t>sh</a:t>
            </a:r>
            <a:r>
              <a:rPr lang="ru-RU" dirty="0"/>
              <a:t> (залезть внутрь контейнера проверить переменные)</a:t>
            </a:r>
            <a:endParaRPr lang="ru-RU" sz="2400" dirty="0"/>
          </a:p>
          <a:p>
            <a:pPr marL="457200" indent="-457200">
              <a:buAutoNum type="arabicParenR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7968421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9767A9-850A-123B-AC0D-C7B6216367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F967BD-63ED-3F55-E944-050E97F322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chemeClr val="accent1">
                    <a:lumMod val="75000"/>
                  </a:schemeClr>
                </a:solidFill>
              </a:rPr>
              <a:t>Чему мы научились?</a:t>
            </a:r>
            <a:endParaRPr lang="ru-RU" b="1" dirty="0">
              <a:solidFill>
                <a:schemeClr val="accent1"/>
              </a:solidFill>
            </a:endParaRP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3E2F41E-9813-7FF1-1785-18562D440B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7007"/>
            <a:ext cx="10515600" cy="4351338"/>
          </a:xfrm>
        </p:spPr>
        <p:txBody>
          <a:bodyPr>
            <a:noAutofit/>
          </a:bodyPr>
          <a:lstStyle/>
          <a:p>
            <a:r>
              <a:rPr lang="ru-RU" sz="2200" dirty="0"/>
              <a:t>Развернуть локальный кластер </a:t>
            </a:r>
            <a:r>
              <a:rPr lang="ru-RU" sz="2200" dirty="0" err="1"/>
              <a:t>Kubernetes</a:t>
            </a:r>
            <a:r>
              <a:rPr lang="ru-RU" sz="2200" dirty="0"/>
              <a:t> </a:t>
            </a:r>
            <a:br>
              <a:rPr lang="ru-RU" sz="2200" dirty="0"/>
            </a:br>
            <a:r>
              <a:rPr lang="ru-RU" sz="2200" dirty="0"/>
              <a:t>с помощью </a:t>
            </a:r>
            <a:r>
              <a:rPr lang="ru-RU" sz="2200" dirty="0" err="1"/>
              <a:t>Minikube</a:t>
            </a:r>
            <a:r>
              <a:rPr lang="ru-RU" sz="2200" dirty="0"/>
              <a:t>.</a:t>
            </a:r>
          </a:p>
          <a:p>
            <a:r>
              <a:rPr lang="ru-RU" sz="2200" dirty="0"/>
              <a:t>Развернуть приложение в </a:t>
            </a:r>
            <a:r>
              <a:rPr lang="ru-RU" sz="2200" dirty="0" err="1"/>
              <a:t>Kubernetes</a:t>
            </a:r>
            <a:r>
              <a:rPr lang="ru-RU" sz="2200" dirty="0"/>
              <a:t> и обновить </a:t>
            </a:r>
            <a:br>
              <a:rPr lang="ru-RU" sz="2200" dirty="0"/>
            </a:br>
            <a:r>
              <a:rPr lang="ru-RU" sz="2200" dirty="0"/>
              <a:t>его конфигурацию.</a:t>
            </a:r>
          </a:p>
          <a:p>
            <a:r>
              <a:rPr lang="ru-RU" sz="2200" dirty="0"/>
              <a:t>Понимать назначение </a:t>
            </a:r>
            <a:r>
              <a:rPr lang="ru-RU" sz="2200" b="1" dirty="0" err="1"/>
              <a:t>Pod</a:t>
            </a:r>
            <a:r>
              <a:rPr lang="ru-RU" sz="2200" b="1" dirty="0"/>
              <a:t>, </a:t>
            </a:r>
            <a:r>
              <a:rPr lang="ru-RU" sz="2200" b="1" dirty="0" err="1"/>
              <a:t>Deployment</a:t>
            </a:r>
            <a:r>
              <a:rPr lang="ru-RU" sz="2200" b="1" dirty="0"/>
              <a:t>, </a:t>
            </a:r>
            <a:br>
              <a:rPr lang="ru-RU" sz="2200" b="1" dirty="0"/>
            </a:br>
            <a:r>
              <a:rPr lang="ru-RU" sz="2200" b="1" dirty="0"/>
              <a:t>Service и </a:t>
            </a:r>
            <a:r>
              <a:rPr lang="ru-RU" sz="2200" b="1" dirty="0" err="1"/>
              <a:t>Ingress</a:t>
            </a:r>
            <a:r>
              <a:rPr lang="ru-RU" sz="2200" dirty="0"/>
              <a:t> и видеть их взаимосвязь.</a:t>
            </a:r>
          </a:p>
          <a:p>
            <a:r>
              <a:rPr lang="ru-RU" sz="2200" dirty="0"/>
              <a:t>Использовать Service для стабильного доступа </a:t>
            </a:r>
            <a:br>
              <a:rPr lang="ru-RU" sz="2200" dirty="0"/>
            </a:br>
            <a:r>
              <a:rPr lang="ru-RU" sz="2200" dirty="0"/>
              <a:t>к приложению.</a:t>
            </a:r>
          </a:p>
          <a:p>
            <a:r>
              <a:rPr lang="ru-RU" sz="2200" dirty="0"/>
              <a:t>Подключать приложение по доменному имени </a:t>
            </a:r>
            <a:br>
              <a:rPr lang="ru-RU" sz="2200" dirty="0"/>
            </a:br>
            <a:r>
              <a:rPr lang="ru-RU" sz="2200" dirty="0"/>
              <a:t>через </a:t>
            </a:r>
            <a:r>
              <a:rPr lang="ru-RU" sz="2200" dirty="0" err="1"/>
              <a:t>Ingress</a:t>
            </a:r>
            <a:r>
              <a:rPr lang="ru-RU" sz="2200" dirty="0"/>
              <a:t>.</a:t>
            </a:r>
          </a:p>
          <a:p>
            <a:r>
              <a:rPr lang="ru-RU" sz="2200" dirty="0"/>
              <a:t>Подменять внешние сервисы </a:t>
            </a:r>
            <a:r>
              <a:rPr lang="ru-RU" sz="2200" dirty="0" err="1"/>
              <a:t>моками</a:t>
            </a:r>
            <a:r>
              <a:rPr lang="ru-RU" sz="2200" dirty="0"/>
              <a:t> и тестировать </a:t>
            </a:r>
            <a:br>
              <a:rPr lang="ru-RU" sz="2200" dirty="0"/>
            </a:br>
            <a:r>
              <a:rPr lang="ru-RU" sz="2200" dirty="0"/>
              <a:t>различные сценарии их работы.</a:t>
            </a:r>
          </a:p>
          <a:p>
            <a:r>
              <a:rPr lang="ru-RU" sz="2200" dirty="0"/>
              <a:t>Выполнять базовую диагностику приложения с помощью </a:t>
            </a:r>
            <a:r>
              <a:rPr lang="ru-RU" sz="2200" dirty="0" err="1"/>
              <a:t>kubectl</a:t>
            </a:r>
            <a:r>
              <a:rPr lang="ru-RU" sz="2200" dirty="0"/>
              <a:t>.</a:t>
            </a:r>
          </a:p>
          <a:p>
            <a:pPr marL="0" indent="0">
              <a:buNone/>
            </a:pPr>
            <a:endParaRPr lang="en-US" sz="2200" dirty="0"/>
          </a:p>
        </p:txBody>
      </p:sp>
      <p:pic>
        <p:nvPicPr>
          <p:cNvPr id="5" name="Рисунок 4" descr="Fallout vault boy">
            <a:extLst>
              <a:ext uri="{FF2B5EF4-FFF2-40B4-BE49-F238E27FC236}">
                <a16:creationId xmlns:a16="http://schemas.microsoft.com/office/drawing/2014/main" id="{02DEE362-5C95-57F7-951F-E73D20CA58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244" b="92315" l="9783" r="89946">
                        <a14:foregroundMark x1="44701" y1="10759" x2="57745" y2="10855"/>
                        <a14:foregroundMark x1="52853" y1="8357" x2="52038" y2="6436"/>
                        <a14:foregroundMark x1="51223" y1="24015" x2="51630" y2="22767"/>
                        <a14:foregroundMark x1="56658" y1="21614" x2="44701" y2="24976"/>
                        <a14:foregroundMark x1="34375" y1="90010" x2="43071" y2="88088"/>
                        <a14:foregroundMark x1="72011" y1="88280" x2="74864" y2="92315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150518" y="1466818"/>
            <a:ext cx="3076451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422870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8445</TotalTime>
  <Words>1375</Words>
  <Application>Microsoft Office PowerPoint</Application>
  <PresentationFormat>Широкоэкранный</PresentationFormat>
  <Paragraphs>108</Paragraphs>
  <Slides>22</Slides>
  <Notes>0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22</vt:i4>
      </vt:variant>
    </vt:vector>
  </HeadingPairs>
  <TitlesOfParts>
    <vt:vector size="28" baseType="lpstr">
      <vt:lpstr>Arial</vt:lpstr>
      <vt:lpstr>Calibri</vt:lpstr>
      <vt:lpstr>Calibri Light</vt:lpstr>
      <vt:lpstr>Wingdings</vt:lpstr>
      <vt:lpstr>Тема Office</vt:lpstr>
      <vt:lpstr>Объект упаковщика для оболочки</vt:lpstr>
      <vt:lpstr>K8s взглядом специалиста по качеству</vt:lpstr>
      <vt:lpstr>Зачем нам разбираться с Minikube?</vt:lpstr>
      <vt:lpstr>Предварительная установка</vt:lpstr>
      <vt:lpstr>Установка kubectl</vt:lpstr>
      <vt:lpstr>Установка minikube</vt:lpstr>
      <vt:lpstr>Архитектура Minikube</vt:lpstr>
      <vt:lpstr>Запуск minikube</vt:lpstr>
      <vt:lpstr>Запуск minikube</vt:lpstr>
      <vt:lpstr>Разбор запущенных pods</vt:lpstr>
      <vt:lpstr>1. Создаем наше первое приложение  «Банк котиков»</vt:lpstr>
      <vt:lpstr>1. Создаем наше первое приложение  «Банк котиков»</vt:lpstr>
      <vt:lpstr>1. Создаем наше первое приложение  «Банк котиков»</vt:lpstr>
      <vt:lpstr>2. Авария «Банка котиков»</vt:lpstr>
      <vt:lpstr>3. Добавляем Service</vt:lpstr>
      <vt:lpstr>3. Добавляем Service</vt:lpstr>
      <vt:lpstr>4. Добавляем Ingress</vt:lpstr>
      <vt:lpstr>5. Добавляем Котобанку работу с внешними сервисами</vt:lpstr>
      <vt:lpstr>6. Заменим сервис на мок</vt:lpstr>
      <vt:lpstr>6. Заменим сервис на мок</vt:lpstr>
      <vt:lpstr>6. Заменим сервис на мок</vt:lpstr>
      <vt:lpstr>Самые частые команды QA</vt:lpstr>
      <vt:lpstr>Чему мы научились?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Алена Собина</dc:creator>
  <cp:lastModifiedBy>Алена Собина</cp:lastModifiedBy>
  <cp:revision>81</cp:revision>
  <dcterms:created xsi:type="dcterms:W3CDTF">2026-07-03T04:37:23Z</dcterms:created>
  <dcterms:modified xsi:type="dcterms:W3CDTF">2026-07-17T14:12:38Z</dcterms:modified>
</cp:coreProperties>
</file>