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Default Extension="ZP_RWwdBWYpf0JJ0UnkOiO0F6gKQigNPh9LLw2s-&amp;format=source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70" r:id="rId4"/>
    <p:sldId id="257" r:id="rId5"/>
    <p:sldId id="258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19ABB-629B-BE3D-0969-EFA02880AF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5A43CBF-8275-0548-CC21-9D9D33C30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516748-57CC-1BE2-CB13-A137FE26C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AE57A8-0FED-7B07-8726-4259B9B2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8A5708-92BD-7AAE-60A3-54707ADF5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8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50A1F4-6006-6019-23B0-35D4735A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74F196-33C1-AF63-9F83-0F18E915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87FB51-E8EF-3484-03DC-1545C0527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50F4DF-56AE-149A-9129-D1E22ACF4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548275-C2FD-0D60-B204-60DEF5B53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65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7F08BC-B20E-4DF3-3247-8199E898D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958AC5-5816-E0AD-2F73-8337DA710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649311-0EE0-8D17-ADD9-DD3ED6E0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02F322-709B-F179-DCFE-AA1A8E0A4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1D4E44-AE15-1F54-97BC-1DB89B7C3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1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BDF857-35DC-6E89-2DB6-3AC1DF50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09A46-E308-F0B2-D7A1-30A22ED80C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DEE2410-9E67-E70F-0067-26B821CF9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F692C9-D0B3-46E0-7B72-B1D5077E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AEC304-54E5-7827-5842-29D57CC6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26E3C7-15AA-B7C0-0583-EF284EE2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75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E9381-FF0E-69E9-1542-09D08A4D8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7C5D5D-CB5D-DD04-AA00-B26910E9F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780D45-AA96-3B15-C5CB-CAC399B7A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B4A92ED-0F99-3AF6-C95D-9B0304CE3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0DCC5F-EA02-9CA3-7768-B8C822A35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1F9A82-997F-A589-7A55-6CCD0B7BD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A1B2454-A946-5284-6631-C5386EA68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5E4A86B-9FCF-E824-B0DE-EC4B9BC18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051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14FC13-284D-AF04-2F3A-B504D70E3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8CF76A5-61C4-138C-8876-B20928B25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FAC579-D24F-F93E-2810-1106E7538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DDDEB1-C227-93D0-B5B3-C682B10C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0333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08A306D-FB60-76F3-E28B-FC4DFF2E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D9C9E3D-A6C1-2FF6-C860-0442D01B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D2218-6844-3191-3C6D-5E4B6319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99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7AE2E-78C7-178E-9819-C7BC83E6A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181171-EB53-3F8D-F683-35DCD4A07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D80245-1C01-0DEC-D202-2A21221314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28CF93F-3AAC-FDF6-8C2C-5D8B0AF2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D064720-5242-4F30-ED86-845116535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9795A-2615-EB28-8C20-BFB48A529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326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3FAA14-36F9-4182-98FA-24CC90ED1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4A1C291-6E9B-F5C3-300F-2A03CE6EF2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C62D865-0D24-48C3-97CC-DC0E3AA6B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197DFF-01A6-0D53-91EC-89A4E378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5275B6E-8538-F121-11E7-013A1F6F8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5CDC21-16AE-51E7-7866-5C0E8A30D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90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26B3E7-E946-618A-B50C-8A24DDA9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0BA08E-F714-E7B6-C0A8-E234050B47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5A9CC2-824B-4777-81FF-C7FC1EFC0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09BB28-E24D-1524-44B0-10E874E60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C8A964-2652-9D7B-94D6-A4F3FCCE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3988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DA4FE6-9FBE-DEAB-567C-F4B1EB7A7B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4CA4EE-4EEF-3ABC-63C5-11658517F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D4502F-67D9-3AD2-3AEF-1EF870C91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9DB5D3-F04A-5378-8C87-42325A76E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8D0C39-176E-017F-5186-CEE7E79D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36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FDED0-2524-B405-858C-178A55503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C4CF30-EE6A-0358-B9A5-A0BB75B72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828358-8BDD-0DBF-128C-D6363C0881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9BAEA6-88FC-4542-B3BF-F11A57CC5938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C6891A-FD5C-E089-B882-8C0F2F3C7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698368-1739-3D95-C1AA-7BECAEF4A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6BFDC9-673D-4E3D-B5C9-043B2826EF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859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ZP_RWwdBWYpf0JJ0UnkOiO0F6gKQigNPh9LLw2s-&amp;format=source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hyperlink" Target="http://cat-bank.local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hyperlink" Target="https://api.adviceslip.com/advic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19.e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3D78B-1A8E-39B9-88F7-50FC8ACD94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K8s </a:t>
            </a:r>
            <a:r>
              <a:rPr lang="ru-RU" b="1" dirty="0">
                <a:solidFill>
                  <a:srgbClr val="7030A0"/>
                </a:solidFill>
              </a:rPr>
              <a:t>взглядом специалиста по качеству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80E006-3C6F-16AF-B8CA-F5C4C4F490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Labs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175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2728A-8816-AE1F-F2F2-A6037E0F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нам разбираться с </a:t>
            </a:r>
            <a:r>
              <a:rPr lang="en-US" dirty="0" err="1"/>
              <a:t>Minikube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7775D7-D33B-C6B3-A0BD-4483F7598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Полная свобода действий:</a:t>
            </a:r>
            <a:r>
              <a:rPr lang="ru-RU" dirty="0"/>
              <a:t> Вы получаете личный полноценный кластер на своем ноутбуке. Здесь можно перезапускать поды, менять конфиги, ломать и чинить окружение — и никто не придет ругаться, что «сломали стенд».</a:t>
            </a:r>
          </a:p>
          <a:p>
            <a:r>
              <a:rPr lang="ru-RU" b="1" dirty="0"/>
              <a:t>Понимание процессов изнутри:</a:t>
            </a:r>
            <a:r>
              <a:rPr lang="ru-RU" dirty="0"/>
              <a:t> В </a:t>
            </a:r>
            <a:r>
              <a:rPr lang="ru-RU" dirty="0" err="1"/>
              <a:t>Minikube</a:t>
            </a:r>
            <a:r>
              <a:rPr lang="ru-RU" dirty="0"/>
              <a:t> мы пройдем весь путь запроса руками, чтобы в реальных проектах мгновенно понимать, где именно застрял трафик.</a:t>
            </a:r>
          </a:p>
        </p:txBody>
      </p:sp>
    </p:spTree>
    <p:extLst>
      <p:ext uri="{BB962C8B-B14F-4D97-AF65-F5344CB8AC3E}">
        <p14:creationId xmlns:p14="http://schemas.microsoft.com/office/powerpoint/2010/main" val="49859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0F7B-D609-099F-A451-D8E8DD79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BBF66-6306-5D9F-1B9B-7E5804D09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Предварительная установка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5B4EBD-639F-4E05-0C88-8AA141278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 Desktop</a:t>
            </a:r>
          </a:p>
          <a:p>
            <a:r>
              <a:rPr lang="en-US" dirty="0"/>
              <a:t>Lens – </a:t>
            </a:r>
            <a:r>
              <a:rPr lang="ru-RU" dirty="0"/>
              <a:t>популярная IDE с GU</a:t>
            </a:r>
            <a:r>
              <a:rPr lang="en-US" dirty="0"/>
              <a:t>I</a:t>
            </a:r>
            <a:r>
              <a:rPr lang="ru-RU" dirty="0"/>
              <a:t>, созданная для полноценного управления, мониторинга и отладки кластеров Kubernetes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4" name="Рисунок 3" descr="Docker Desktop - Download and install on Windows | Microsoft Store">
            <a:extLst>
              <a:ext uri="{FF2B5EF4-FFF2-40B4-BE49-F238E27FC236}">
                <a16:creationId xmlns:a16="http://schemas.microsoft.com/office/drawing/2014/main" id="{7D180717-20F7-7FC7-6771-B5934969D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169" y="3765137"/>
            <a:ext cx="1684782" cy="1684782"/>
          </a:xfrm>
          <a:prstGeom prst="rect">
            <a:avLst/>
          </a:prstGeom>
        </p:spPr>
      </p:pic>
      <p:pic>
        <p:nvPicPr>
          <p:cNvPr id="5" name="Рисунок 4" descr="Mirantis Lens Pro Annual">
            <a:extLst>
              <a:ext uri="{FF2B5EF4-FFF2-40B4-BE49-F238E27FC236}">
                <a16:creationId xmlns:a16="http://schemas.microsoft.com/office/drawing/2014/main" id="{92817C1E-7EE7-FE24-F157-9E5176DB7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6102" y="4898433"/>
            <a:ext cx="1347698" cy="134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322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769D75-625A-FEB6-3919-018D8914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Установка </a:t>
            </a:r>
            <a:r>
              <a:rPr lang="de-DE" dirty="0" err="1"/>
              <a:t>kubectl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A5EA4A-6A09-5464-697C-5F5C7155F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336"/>
            <a:ext cx="10515600" cy="4631627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В </a:t>
            </a:r>
            <a:r>
              <a:rPr lang="en-US" dirty="0"/>
              <a:t>PowerShell </a:t>
            </a:r>
            <a:r>
              <a:rPr lang="ru-RU" dirty="0"/>
              <a:t>(с правами администратора)</a:t>
            </a:r>
          </a:p>
          <a:p>
            <a:pPr marL="0" indent="0">
              <a:buNone/>
            </a:pPr>
            <a:r>
              <a:rPr lang="de-DE" dirty="0" err="1"/>
              <a:t>winget</a:t>
            </a:r>
            <a:r>
              <a:rPr lang="de-DE" dirty="0"/>
              <a:t> </a:t>
            </a:r>
            <a:r>
              <a:rPr lang="de-DE" dirty="0" err="1"/>
              <a:t>install</a:t>
            </a:r>
            <a:r>
              <a:rPr lang="de-DE" dirty="0"/>
              <a:t> -e --</a:t>
            </a:r>
            <a:r>
              <a:rPr lang="de-DE" dirty="0" err="1"/>
              <a:t>id</a:t>
            </a:r>
            <a:r>
              <a:rPr lang="de-DE" dirty="0"/>
              <a:t> </a:t>
            </a:r>
            <a:r>
              <a:rPr lang="de-DE" dirty="0" err="1"/>
              <a:t>Kubernetes.kubectl</a:t>
            </a:r>
            <a:r>
              <a:rPr lang="de-DE" dirty="0"/>
              <a:t> (</a:t>
            </a:r>
            <a:r>
              <a:rPr lang="ru-RU" dirty="0"/>
              <a:t>установка)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kubectl</a:t>
            </a:r>
            <a:r>
              <a:rPr lang="de-DE" dirty="0"/>
              <a:t> </a:t>
            </a:r>
            <a:r>
              <a:rPr lang="de-DE" dirty="0" err="1"/>
              <a:t>version</a:t>
            </a:r>
            <a:r>
              <a:rPr lang="de-DE" dirty="0"/>
              <a:t> </a:t>
            </a:r>
            <a:r>
              <a:rPr lang="ru-RU" dirty="0"/>
              <a:t>-</a:t>
            </a:r>
            <a:r>
              <a:rPr lang="de-DE" dirty="0" err="1"/>
              <a:t>client</a:t>
            </a:r>
            <a:r>
              <a:rPr lang="ru-RU" dirty="0"/>
              <a:t> (проверка версии)</a:t>
            </a:r>
            <a:endParaRPr lang="de-DE" dirty="0"/>
          </a:p>
          <a:p>
            <a:pPr marL="0" indent="0">
              <a:buNone/>
            </a:pPr>
            <a:r>
              <a:rPr lang="ru-RU" b="1" dirty="0" err="1"/>
              <a:t>Kubectl</a:t>
            </a:r>
            <a:r>
              <a:rPr lang="ru-RU" b="1" dirty="0"/>
              <a:t> -</a:t>
            </a:r>
            <a:r>
              <a:rPr lang="ru-RU" dirty="0"/>
              <a:t> это главный инструмент командной строки для управления кластерами Kubernetes. Он выступает в роли пульта управления, который отправляет команды на API-сервер кластера.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 descr="Как эффективнее использовать kubectl: подробное руководство / Хабр">
            <a:extLst>
              <a:ext uri="{FF2B5EF4-FFF2-40B4-BE49-F238E27FC236}">
                <a16:creationId xmlns:a16="http://schemas.microsoft.com/office/drawing/2014/main" id="{41C1F67E-5629-A25C-93D4-55BD963D3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702" b="91851" l="5356" r="96151">
                        <a14:foregroundMark x1="15649" y1="57597" x2="14393" y2="54834"/>
                        <a14:foregroundMark x1="16736" y1="48343" x2="34728" y2="46961"/>
                        <a14:foregroundMark x1="34728" y1="46961" x2="53389" y2="48343"/>
                        <a14:foregroundMark x1="28619" y1="61050" x2="53389" y2="61050"/>
                        <a14:foregroundMark x1="14812" y1="57320" x2="14812" y2="57320"/>
                        <a14:foregroundMark x1="34393" y1="55249" x2="44854" y2="55249"/>
                        <a14:foregroundMark x1="44854" y1="55249" x2="44854" y2="55249"/>
                        <a14:foregroundMark x1="8954" y1="16022" x2="11883" y2="14917"/>
                        <a14:foregroundMark x1="11883" y1="14917" x2="26444" y2="13260"/>
                        <a14:foregroundMark x1="26444" y1="13260" x2="28619" y2="13260"/>
                        <a14:foregroundMark x1="28619" y1="13260" x2="28619" y2="13260"/>
                        <a14:foregroundMark x1="75063" y1="16298" x2="81590" y2="13260"/>
                        <a14:foregroundMark x1="65941" y1="13260" x2="81172" y2="18785"/>
                        <a14:foregroundMark x1="81172" y1="18785" x2="87615" y2="17403"/>
                        <a14:foregroundMark x1="87615" y1="17403" x2="65188" y2="14227"/>
                        <a14:foregroundMark x1="65188" y1="14227" x2="64854" y2="16022"/>
                        <a14:foregroundMark x1="12552" y1="10497" x2="31967" y2="20856"/>
                        <a14:foregroundMark x1="31967" y1="20856" x2="17741" y2="8702"/>
                        <a14:foregroundMark x1="17741" y1="8702" x2="7782" y2="12845"/>
                        <a14:foregroundMark x1="27364" y1="10083" x2="14310" y2="10497"/>
                        <a14:foregroundMark x1="14310" y1="10497" x2="26946" y2="16713"/>
                        <a14:foregroundMark x1="27531" y1="16022" x2="27531" y2="16022"/>
                        <a14:foregroundMark x1="11464" y1="13260" x2="10042" y2="18094"/>
                        <a14:foregroundMark x1="20084" y1="13260" x2="20084" y2="13260"/>
                        <a14:foregroundMark x1="20084" y1="13260" x2="12720" y2="14917"/>
                        <a14:foregroundMark x1="10209" y1="16022" x2="19665" y2="18785"/>
                        <a14:foregroundMark x1="20084" y1="18785" x2="20084" y2="18785"/>
                        <a14:foregroundMark x1="18828" y1="18785" x2="21255" y2="16022"/>
                        <a14:foregroundMark x1="21255" y1="16022" x2="21255" y2="16022"/>
                        <a14:foregroundMark x1="10209" y1="17403" x2="5439" y2="17403"/>
                        <a14:foregroundMark x1="5439" y1="17403" x2="5439" y2="17403"/>
                        <a14:foregroundMark x1="7950" y1="16713" x2="10628" y2="16989"/>
                        <a14:foregroundMark x1="6946" y1="16989" x2="17741" y2="16713"/>
                        <a14:foregroundMark x1="7364" y1="19475" x2="16318" y2="13536"/>
                        <a14:foregroundMark x1="12971" y1="47928" x2="11715" y2="49033"/>
                        <a14:foregroundMark x1="6695" y1="44890" x2="19833" y2="56630"/>
                        <a14:foregroundMark x1="10042" y1="63812" x2="27364" y2="44199"/>
                        <a14:foregroundMark x1="71967" y1="38398" x2="90711" y2="65193"/>
                        <a14:foregroundMark x1="88870" y1="36326" x2="72552" y2="67541"/>
                        <a14:foregroundMark x1="72552" y1="67541" x2="72552" y2="67541"/>
                        <a14:foregroundMark x1="70126" y1="40746" x2="73389" y2="65884"/>
                        <a14:foregroundMark x1="74644" y1="45580" x2="77992" y2="63812"/>
                        <a14:foregroundMark x1="73640" y1="42127" x2="76569" y2="67956"/>
                        <a14:foregroundMark x1="10460" y1="56906" x2="10209" y2="50000"/>
                        <a14:foregroundMark x1="14393" y1="43094" x2="25021" y2="50552"/>
                        <a14:foregroundMark x1="25021" y1="50552" x2="11464" y2="55939"/>
                        <a14:foregroundMark x1="11464" y1="55939" x2="11464" y2="55939"/>
                        <a14:foregroundMark x1="17741" y1="43785" x2="21590" y2="63398"/>
                        <a14:foregroundMark x1="21590" y1="63398" x2="8201" y2="61740"/>
                        <a14:foregroundMark x1="8201" y1="61740" x2="5439" y2="56630"/>
                        <a14:foregroundMark x1="10042" y1="45580" x2="25774" y2="50691"/>
                        <a14:foregroundMark x1="25774" y1="50691" x2="26109" y2="51381"/>
                        <a14:foregroundMark x1="28368" y1="50414" x2="14895" y2="42818"/>
                        <a14:foregroundMark x1="14895" y1="42818" x2="5774" y2="54972"/>
                        <a14:foregroundMark x1="5774" y1="54972" x2="18326" y2="64365"/>
                        <a14:foregroundMark x1="18326" y1="64365" x2="23515" y2="46547"/>
                        <a14:foregroundMark x1="23515" y1="46547" x2="12720" y2="42818"/>
                        <a14:foregroundMark x1="44268" y1="57597" x2="39833" y2="59669"/>
                        <a14:foregroundMark x1="38828" y1="50000" x2="33556" y2="49033"/>
                        <a14:foregroundMark x1="38159" y1="51381" x2="44435" y2="52486"/>
                        <a14:foregroundMark x1="31548" y1="53453" x2="46527" y2="53453"/>
                        <a14:foregroundMark x1="46527" y1="53453" x2="46527" y2="53453"/>
                        <a14:foregroundMark x1="35230" y1="59669" x2="40084" y2="48619"/>
                        <a14:foregroundMark x1="71297" y1="45580" x2="81590" y2="56215"/>
                        <a14:foregroundMark x1="76569" y1="41436" x2="79916" y2="61740"/>
                        <a14:foregroundMark x1="82008" y1="40055" x2="80753" y2="62431"/>
                        <a14:foregroundMark x1="81590" y1="49309" x2="76736" y2="68923"/>
                        <a14:foregroundMark x1="65523" y1="15608" x2="81590" y2="11878"/>
                        <a14:foregroundMark x1="72552" y1="16713" x2="87615" y2="16713"/>
                        <a14:foregroundMark x1="72385" y1="16713" x2="90293" y2="14641"/>
                        <a14:foregroundMark x1="68870" y1="14641" x2="96151" y2="13950"/>
                        <a14:foregroundMark x1="68619" y1="14227" x2="86109" y2="13950"/>
                        <a14:foregroundMark x1="68201" y1="13950" x2="83849" y2="13260"/>
                        <a14:foregroundMark x1="60921" y1="15608" x2="59414" y2="90608"/>
                        <a14:foregroundMark x1="57573" y1="18370" x2="58410" y2="91851"/>
                        <a14:foregroundMark x1="58410" y1="91851" x2="58410" y2="91298"/>
                        <a14:foregroundMark x1="61088" y1="19061" x2="60084" y2="84807"/>
                        <a14:foregroundMark x1="60084" y1="84807" x2="59833" y2="85773"/>
                        <a14:foregroundMark x1="26276" y1="57597" x2="40251" y2="57597"/>
                        <a14:foregroundMark x1="30042" y1="48343" x2="31548" y2="55525"/>
                        <a14:foregroundMark x1="26695" y1="45580" x2="35230" y2="51381"/>
                        <a14:foregroundMark x1="12971" y1="52072" x2="9205" y2="44890"/>
                        <a14:foregroundMark x1="8954" y1="44890" x2="7950" y2="56215"/>
                        <a14:foregroundMark x1="6109" y1="51105" x2="24603" y2="45166"/>
                        <a14:foregroundMark x1="14226" y1="14917" x2="25858" y2="14917"/>
                        <a14:foregroundMark x1="9372" y1="20166" x2="29038" y2="20166"/>
                        <a14:foregroundMark x1="7782" y1="19751" x2="23180" y2="15331"/>
                        <a14:foregroundMark x1="8954" y1="52762" x2="6276" y2="49033"/>
                        <a14:foregroundMark x1="9623" y1="45856" x2="10209" y2="51796"/>
                        <a14:foregroundMark x1="11464" y1="57597" x2="35063" y2="58702"/>
                        <a14:foregroundMark x1="35063" y1="58702" x2="19833" y2="59669"/>
                        <a14:foregroundMark x1="19247" y1="59669" x2="52134" y2="59669"/>
                        <a14:foregroundMark x1="52134" y1="59669" x2="52134" y2="59669"/>
                        <a14:foregroundMark x1="82176" y1="57320" x2="84686" y2="54834"/>
                        <a14:foregroundMark x1="84686" y1="55249" x2="84686" y2="55249"/>
                        <a14:foregroundMark x1="84686" y1="55249" x2="83013" y2="44475"/>
                        <a14:foregroundMark x1="83013" y1="50000" x2="84017" y2="60083"/>
                        <a14:foregroundMark x1="33222" y1="53453" x2="41757" y2="52486"/>
                        <a14:foregroundMark x1="41757" y1="50691" x2="44435" y2="52072"/>
                        <a14:foregroundMark x1="45272" y1="50414" x2="46276" y2="53453"/>
                        <a14:foregroundMark x1="46695" y1="51796" x2="47113" y2="50414"/>
                        <a14:foregroundMark x1="47113" y1="50414" x2="49456" y2="49724"/>
                        <a14:foregroundMark x1="50879" y1="45580" x2="52134" y2="50000"/>
                        <a14:foregroundMark x1="52134" y1="50000" x2="48619" y2="54144"/>
                        <a14:foregroundMark x1="48201" y1="54144" x2="49205" y2="51105"/>
                        <a14:foregroundMark x1="49205" y1="51105" x2="49205" y2="5690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03282" y="4091322"/>
            <a:ext cx="4385436" cy="265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885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9D8B6C-550C-AA2B-CC25-B1EAD96B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Установка </a:t>
            </a:r>
            <a:r>
              <a:rPr lang="en-US" dirty="0" err="1"/>
              <a:t>minikube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F3A014-B51F-6221-10C5-E5B01B616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err="1"/>
              <a:t>winget</a:t>
            </a:r>
            <a:r>
              <a:rPr lang="ru-RU" dirty="0"/>
              <a:t> </a:t>
            </a:r>
            <a:r>
              <a:rPr lang="ru-RU" dirty="0" err="1"/>
              <a:t>install</a:t>
            </a:r>
            <a:r>
              <a:rPr lang="ru-RU" dirty="0"/>
              <a:t> </a:t>
            </a:r>
            <a:r>
              <a:rPr lang="ru-RU" dirty="0" err="1"/>
              <a:t>Kubernetes.minikube</a:t>
            </a:r>
            <a:r>
              <a:rPr lang="en-US" dirty="0"/>
              <a:t> (</a:t>
            </a:r>
            <a:r>
              <a:rPr lang="ru-RU" dirty="0"/>
              <a:t>установка)</a:t>
            </a:r>
            <a:endParaRPr lang="en-US" dirty="0"/>
          </a:p>
          <a:p>
            <a:pPr marL="0" indent="0">
              <a:buNone/>
            </a:pPr>
            <a:r>
              <a:rPr lang="ru-RU" dirty="0" err="1"/>
              <a:t>minikube</a:t>
            </a:r>
            <a:r>
              <a:rPr lang="ru-RU" dirty="0"/>
              <a:t> </a:t>
            </a:r>
            <a:r>
              <a:rPr lang="ru-RU" dirty="0" err="1"/>
              <a:t>version</a:t>
            </a:r>
            <a:r>
              <a:rPr lang="en-US" dirty="0"/>
              <a:t> </a:t>
            </a:r>
            <a:r>
              <a:rPr lang="ru-RU" dirty="0"/>
              <a:t>(проверка версии)</a:t>
            </a:r>
            <a:endParaRPr lang="en-US" dirty="0"/>
          </a:p>
          <a:p>
            <a:pPr marL="0" indent="0">
              <a:buNone/>
            </a:pPr>
            <a:r>
              <a:rPr lang="ru-RU" b="1" dirty="0" err="1"/>
              <a:t>Minikube</a:t>
            </a:r>
            <a:r>
              <a:rPr lang="ru-RU" dirty="0"/>
              <a:t> </a:t>
            </a:r>
            <a:r>
              <a:rPr lang="en-US" dirty="0"/>
              <a:t>-</a:t>
            </a:r>
            <a:r>
              <a:rPr lang="ru-RU" dirty="0"/>
              <a:t> это инструмент, который позволяет запускать локальный кластер Kubernetes из одного узла (</a:t>
            </a:r>
            <a:r>
              <a:rPr lang="ru-RU" dirty="0" err="1"/>
              <a:t>node</a:t>
            </a:r>
            <a:r>
              <a:rPr lang="ru-RU" dirty="0"/>
              <a:t>)</a:t>
            </a:r>
            <a:r>
              <a:rPr lang="en-US" dirty="0"/>
              <a:t>.</a:t>
            </a:r>
            <a:r>
              <a:rPr lang="ru-RU" dirty="0"/>
              <a:t> </a:t>
            </a:r>
          </a:p>
          <a:p>
            <a:pPr marL="0" indent="0">
              <a:buNone/>
            </a:pPr>
            <a:r>
              <a:rPr lang="ru-RU" dirty="0"/>
              <a:t>Чтобы запустить Kubernetes, </a:t>
            </a:r>
            <a:r>
              <a:rPr lang="ru-RU" dirty="0" err="1"/>
              <a:t>Minikube</a:t>
            </a:r>
            <a:r>
              <a:rPr lang="ru-RU" dirty="0"/>
              <a:t> создает изолированную среду. Он может делать это тремя способами (их называют драйверами):</a:t>
            </a:r>
          </a:p>
          <a:p>
            <a:r>
              <a:rPr lang="ru-RU" b="1" dirty="0"/>
              <a:t>Внутри контейнера</a:t>
            </a:r>
            <a:r>
              <a:rPr lang="ru-RU" dirty="0"/>
              <a:t> (по умолчанию через </a:t>
            </a:r>
            <a:r>
              <a:rPr lang="ru-RU" dirty="0" err="1"/>
              <a:t>Docker</a:t>
            </a:r>
            <a:r>
              <a:rPr lang="ru-RU" dirty="0"/>
              <a:t> или </a:t>
            </a:r>
            <a:r>
              <a:rPr lang="ru-RU" dirty="0" err="1"/>
              <a:t>Podman</a:t>
            </a:r>
            <a:r>
              <a:rPr lang="ru-RU" dirty="0"/>
              <a:t>) — самый быстрый и современный способ.</a:t>
            </a:r>
          </a:p>
          <a:p>
            <a:r>
              <a:rPr lang="ru-RU" b="1" dirty="0"/>
              <a:t>Внутри виртуальной машины</a:t>
            </a:r>
            <a:r>
              <a:rPr lang="ru-RU" dirty="0"/>
              <a:t> (через </a:t>
            </a:r>
            <a:r>
              <a:rPr lang="ru-RU" dirty="0" err="1"/>
              <a:t>VirtualBox</a:t>
            </a:r>
            <a:r>
              <a:rPr lang="ru-RU" dirty="0"/>
              <a:t>, VMware, Hyper-V).</a:t>
            </a:r>
          </a:p>
          <a:p>
            <a:r>
              <a:rPr lang="ru-RU" b="1" dirty="0"/>
              <a:t>Напрямую на хосте</a:t>
            </a:r>
            <a:r>
              <a:rPr lang="ru-RU" dirty="0"/>
              <a:t> (</a:t>
            </a:r>
            <a:r>
              <a:rPr lang="ru-RU" dirty="0" err="1"/>
              <a:t>bare-metal</a:t>
            </a:r>
            <a:r>
              <a:rPr lang="ru-RU" dirty="0"/>
              <a:t>, режим </a:t>
            </a:r>
            <a:r>
              <a:rPr lang="ru-RU" dirty="0" err="1"/>
              <a:t>none</a:t>
            </a:r>
            <a:r>
              <a:rPr lang="ru-RU" dirty="0"/>
              <a:t>) — используется редко, в основном на Linux.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88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69FF08-2A5A-F691-4E2A-E77DF49E5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Установка </a:t>
            </a:r>
            <a:r>
              <a:rPr lang="en-US" dirty="0" err="1"/>
              <a:t>minikube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DA6D6C-EB97-733A-4B2C-04A2516AB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 descr="screen1">
            <a:extLst>
              <a:ext uri="{FF2B5EF4-FFF2-40B4-BE49-F238E27FC236}">
                <a16:creationId xmlns:a16="http://schemas.microsoft.com/office/drawing/2014/main" id="{50746551-2570-C7F4-89B8-A50127D881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755"/>
          <a:stretch>
            <a:fillRect/>
          </a:stretch>
        </p:blipFill>
        <p:spPr>
          <a:xfrm>
            <a:off x="2336028" y="2241005"/>
            <a:ext cx="7018283" cy="352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605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90DE09-CD0B-1701-BB74-9C5D84ED0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 </a:t>
            </a:r>
            <a:r>
              <a:rPr lang="en-US" dirty="0" err="1"/>
              <a:t>minikube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CF6741-137A-5160-8F8D-9A8F3C05A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minikube</a:t>
            </a:r>
            <a:r>
              <a:rPr lang="en-US" dirty="0"/>
              <a:t> start --driver=docker (</a:t>
            </a:r>
            <a:r>
              <a:rPr lang="ru-RU" dirty="0"/>
              <a:t>здесь уже очевидно, кто выступает драйвером)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297DE1-FFBD-759F-1C19-6DD27643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69840"/>
            <a:ext cx="6117188" cy="317776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4DC078C-DBB2-186D-B5D6-303A27140B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902" y="2985752"/>
            <a:ext cx="6219298" cy="350712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EB2DFE-23A3-CC5C-6E50-1AE209152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9532" y="5299288"/>
            <a:ext cx="5635752" cy="142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802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65EFE0-DDCB-7BEA-B513-9F6A9F2D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 </a:t>
            </a:r>
            <a:r>
              <a:rPr lang="en-US" dirty="0" err="1"/>
              <a:t>minikube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ABA85C4-031D-2897-476F-8D245AD12E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264604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401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16A630-55A3-0FF0-90A6-A1B10545E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Разбор запущенных </a:t>
            </a:r>
            <a:r>
              <a:rPr lang="en-US" dirty="0"/>
              <a:t>pods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FE723A-AFD7-EBCF-7BB6-F0D6C05C8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8114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 err="1"/>
              <a:t>CoreDNS</a:t>
            </a:r>
            <a:r>
              <a:rPr lang="ru-RU" sz="2000" dirty="0"/>
              <a:t> разворачивается как </a:t>
            </a:r>
            <a:r>
              <a:rPr lang="ru-RU" sz="2000" dirty="0" err="1"/>
              <a:t>Deployment</a:t>
            </a:r>
            <a:r>
              <a:rPr lang="ru-RU" sz="2000" dirty="0"/>
              <a:t>, потому что нам важна высокая доступность: если один под (</a:t>
            </a:r>
            <a:r>
              <a:rPr lang="ru-RU" sz="2000" dirty="0" err="1"/>
              <a:t>pod</a:t>
            </a:r>
            <a:r>
              <a:rPr lang="ru-RU" sz="2000" dirty="0"/>
              <a:t>) упадет, должен подняться другой, а если вырастет нагрузка — количество подов должно автоматически увеличиться.</a:t>
            </a:r>
          </a:p>
          <a:p>
            <a:pPr marL="0" indent="0">
              <a:buNone/>
            </a:pPr>
            <a:r>
              <a:rPr lang="ru-RU" sz="2000" dirty="0"/>
              <a:t>Имя собирается из трех частей: </a:t>
            </a:r>
            <a:r>
              <a:rPr lang="ru-RU" sz="2000" b="1" dirty="0"/>
              <a:t>[</a:t>
            </a:r>
            <a:r>
              <a:rPr lang="ru-RU" sz="2000" b="1" dirty="0" err="1"/>
              <a:t>Имя_деплоймента</a:t>
            </a:r>
            <a:r>
              <a:rPr lang="ru-RU" sz="2000" b="1" dirty="0"/>
              <a:t>] </a:t>
            </a:r>
            <a:r>
              <a:rPr lang="ru-RU" sz="2000" dirty="0"/>
              <a:t>+ </a:t>
            </a:r>
            <a:r>
              <a:rPr lang="ru-RU" sz="2000" b="1" dirty="0"/>
              <a:t>[</a:t>
            </a:r>
            <a:r>
              <a:rPr lang="ru-RU" sz="2000" b="1" dirty="0" err="1"/>
              <a:t>Хэш_шаблона</a:t>
            </a:r>
            <a:r>
              <a:rPr lang="ru-RU" sz="2000" b="1" dirty="0"/>
              <a:t>] </a:t>
            </a:r>
            <a:r>
              <a:rPr lang="ru-RU" sz="2000" dirty="0"/>
              <a:t>+ </a:t>
            </a:r>
            <a:r>
              <a:rPr lang="ru-RU" sz="2000" b="1" dirty="0"/>
              <a:t>[</a:t>
            </a:r>
            <a:r>
              <a:rPr lang="ru-RU" sz="2000" b="1" dirty="0" err="1"/>
              <a:t>Случайный_суффикс</a:t>
            </a:r>
            <a:r>
              <a:rPr lang="ru-RU" sz="2000" b="1" dirty="0"/>
              <a:t>].</a:t>
            </a:r>
          </a:p>
          <a:p>
            <a:r>
              <a:rPr lang="ru-RU" sz="2000" b="1" dirty="0" err="1"/>
              <a:t>coredns</a:t>
            </a:r>
            <a:r>
              <a:rPr lang="ru-RU" sz="2000" dirty="0"/>
              <a:t> — базовое имя самого развертывания.</a:t>
            </a:r>
          </a:p>
          <a:p>
            <a:r>
              <a:rPr lang="ru-RU" sz="2000" b="1" dirty="0"/>
              <a:t>Вторая часть</a:t>
            </a:r>
            <a:r>
              <a:rPr lang="ru-RU" sz="2000" dirty="0"/>
              <a:t> — это </a:t>
            </a:r>
            <a:r>
              <a:rPr lang="ru-RU" sz="2000" b="1" dirty="0"/>
              <a:t>хэш (</a:t>
            </a:r>
            <a:r>
              <a:rPr lang="ru-RU" sz="2000" b="1" dirty="0" err="1"/>
              <a:t>Pod</a:t>
            </a:r>
            <a:r>
              <a:rPr lang="ru-RU" sz="2000" b="1" dirty="0"/>
              <a:t> </a:t>
            </a:r>
            <a:r>
              <a:rPr lang="ru-RU" sz="2000" b="1" dirty="0" err="1"/>
              <a:t>Template</a:t>
            </a:r>
            <a:r>
              <a:rPr lang="ru-RU" sz="2000" b="1" dirty="0"/>
              <a:t> </a:t>
            </a:r>
            <a:r>
              <a:rPr lang="ru-RU" sz="2000" b="1" dirty="0" err="1"/>
              <a:t>Hash</a:t>
            </a:r>
            <a:r>
              <a:rPr lang="ru-RU" sz="2000" b="1" dirty="0"/>
              <a:t>)</a:t>
            </a:r>
            <a:r>
              <a:rPr lang="ru-RU" sz="2000" dirty="0"/>
              <a:t>. Kubernetes берет конфигурацию пода (образ, порты, переменные окружения), которую вы описали, и кодирует ее в этот хэш.</a:t>
            </a:r>
          </a:p>
          <a:p>
            <a:pPr lvl="1"/>
            <a:r>
              <a:rPr lang="ru-RU" sz="2000" i="1" dirty="0"/>
              <a:t>Почему это важно:</a:t>
            </a:r>
            <a:r>
              <a:rPr lang="ru-RU" sz="2000" dirty="0"/>
              <a:t> Если вы обновите версию </a:t>
            </a:r>
            <a:r>
              <a:rPr lang="ru-RU" sz="2000" dirty="0" err="1"/>
              <a:t>CoreDNS</a:t>
            </a:r>
            <a:r>
              <a:rPr lang="ru-RU" sz="2000" dirty="0"/>
              <a:t>, Kubernetes создаст новый хэш (например, 8a55231...). По этому хэшу K8s понимает, какие поды относятся к старой версии приложения, а какие к новой, позволяя делать плавное обновление (Rolling Update) без остановки сети.</a:t>
            </a:r>
          </a:p>
          <a:p>
            <a:r>
              <a:rPr lang="ru-RU" sz="2000" b="1" dirty="0"/>
              <a:t>Третья часть</a:t>
            </a:r>
            <a:r>
              <a:rPr lang="ru-RU" sz="2000" dirty="0"/>
              <a:t> — уникальный случайный суффикс конкретного пода. Поскольку подов </a:t>
            </a:r>
            <a:r>
              <a:rPr lang="ru-RU" sz="2000" dirty="0" err="1"/>
              <a:t>CoreDNS</a:t>
            </a:r>
            <a:r>
              <a:rPr lang="ru-RU" sz="2000" dirty="0"/>
              <a:t> может быть несколько (например, 2 или 3 для отказоустойчивости), у каждого из них должен быть свой уникальный идентификатор в кластере, чтобы K8s их не перепутал.</a:t>
            </a:r>
          </a:p>
        </p:txBody>
      </p:sp>
    </p:spTree>
    <p:extLst>
      <p:ext uri="{BB962C8B-B14F-4D97-AF65-F5344CB8AC3E}">
        <p14:creationId xmlns:p14="http://schemas.microsoft.com/office/powerpoint/2010/main" val="847692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DA70-7D12-08F0-286A-AC86B37F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2D89D1-7478-516A-AB7F-C3A6BD80B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Разбор запущенных </a:t>
            </a:r>
            <a:r>
              <a:rPr lang="en-US" dirty="0"/>
              <a:t>pods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A9321F-A965-04C0-D7E3-E0A0061F9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Компоненты управления кластером (Control </a:t>
            </a:r>
            <a:r>
              <a:rPr lang="ru-RU" sz="2000" dirty="0" err="1"/>
              <a:t>Plane</a:t>
            </a:r>
            <a:r>
              <a:rPr lang="ru-RU" sz="2000" dirty="0"/>
              <a:t>) — такие как </a:t>
            </a:r>
            <a:r>
              <a:rPr lang="ru-RU" sz="2000" dirty="0" err="1"/>
              <a:t>kube-apiserver</a:t>
            </a:r>
            <a:r>
              <a:rPr lang="ru-RU" sz="2000" dirty="0"/>
              <a:t>, </a:t>
            </a:r>
            <a:r>
              <a:rPr lang="ru-RU" sz="2000" dirty="0" err="1"/>
              <a:t>kube-controller-manager</a:t>
            </a:r>
            <a:r>
              <a:rPr lang="ru-RU" sz="2000" dirty="0"/>
              <a:t> и </a:t>
            </a:r>
            <a:r>
              <a:rPr lang="ru-RU" sz="2000" dirty="0" err="1"/>
              <a:t>etcd</a:t>
            </a:r>
            <a:r>
              <a:rPr lang="ru-RU" sz="2000" dirty="0"/>
              <a:t> — запускаются как </a:t>
            </a:r>
            <a:r>
              <a:rPr lang="ru-RU" sz="2000" b="1" dirty="0" err="1"/>
              <a:t>Static</a:t>
            </a:r>
            <a:r>
              <a:rPr lang="ru-RU" sz="2000" b="1" dirty="0"/>
              <a:t> </a:t>
            </a:r>
            <a:r>
              <a:rPr lang="ru-RU" sz="2000" b="1" dirty="0" err="1"/>
              <a:t>Pods</a:t>
            </a:r>
            <a:r>
              <a:rPr lang="ru-RU" sz="2000" dirty="0"/>
              <a:t> (Статические поды).</a:t>
            </a:r>
          </a:p>
          <a:p>
            <a:pPr marL="0" indent="0">
              <a:buNone/>
            </a:pPr>
            <a:r>
              <a:rPr lang="ru-RU" sz="2000" dirty="0"/>
              <a:t>Они управляются не через API Kubernetes (ведь сам API-сервер еще только должен запуститься!), а напрямую агентом </a:t>
            </a:r>
            <a:r>
              <a:rPr lang="ru-RU" sz="2000" dirty="0" err="1"/>
              <a:t>kubelet</a:t>
            </a:r>
            <a:r>
              <a:rPr lang="ru-RU" sz="2000" dirty="0"/>
              <a:t> на конкретной ноде (узле). </a:t>
            </a:r>
            <a:r>
              <a:rPr lang="ru-RU" sz="2000" dirty="0" err="1"/>
              <a:t>Kubelet</a:t>
            </a:r>
            <a:r>
              <a:rPr lang="ru-RU" sz="2000" dirty="0"/>
              <a:t> смотрит в специальную локальную папку на сервере (обычно /</a:t>
            </a:r>
            <a:r>
              <a:rPr lang="ru-RU" sz="2000" dirty="0" err="1"/>
              <a:t>etc</a:t>
            </a:r>
            <a:r>
              <a:rPr lang="ru-RU" sz="2000" dirty="0"/>
              <a:t>/</a:t>
            </a:r>
            <a:r>
              <a:rPr lang="ru-RU" sz="2000" dirty="0" err="1"/>
              <a:t>kubernetes</a:t>
            </a:r>
            <a:r>
              <a:rPr lang="ru-RU" sz="2000" dirty="0"/>
              <a:t>/</a:t>
            </a:r>
            <a:r>
              <a:rPr lang="ru-RU" sz="2000" dirty="0" err="1"/>
              <a:t>manifests</a:t>
            </a:r>
            <a:r>
              <a:rPr lang="ru-RU" sz="2000" dirty="0"/>
              <a:t>), видит там YAML-файл API-сервера и запускает его.</a:t>
            </a:r>
          </a:p>
          <a:p>
            <a:pPr marL="0" indent="0">
              <a:buNone/>
            </a:pPr>
            <a:r>
              <a:rPr lang="ru-RU" sz="2000" dirty="0"/>
              <a:t>Правило именования статических подов: [</a:t>
            </a:r>
            <a:r>
              <a:rPr lang="ru-RU" sz="2000" dirty="0" err="1"/>
              <a:t>Имя_компонента</a:t>
            </a:r>
            <a:r>
              <a:rPr lang="ru-RU" sz="2000" dirty="0"/>
              <a:t>]-[</a:t>
            </a:r>
            <a:r>
              <a:rPr lang="ru-RU" sz="2000" dirty="0" err="1"/>
              <a:t>Имя_ноды</a:t>
            </a:r>
            <a:r>
              <a:rPr lang="ru-RU" sz="2000" dirty="0"/>
              <a:t>].</a:t>
            </a:r>
            <a:br>
              <a:rPr lang="ru-RU" sz="2000" dirty="0"/>
            </a:br>
            <a:r>
              <a:rPr lang="ru-RU" sz="2000" dirty="0"/>
              <a:t>Поскольку у вас локальный </a:t>
            </a:r>
            <a:r>
              <a:rPr lang="ru-RU" sz="2000" dirty="0" err="1"/>
              <a:t>однонодовый</a:t>
            </a:r>
            <a:r>
              <a:rPr lang="ru-RU" sz="2000" dirty="0"/>
              <a:t> кластер </a:t>
            </a:r>
            <a:r>
              <a:rPr lang="ru-RU" sz="2000" dirty="0" err="1"/>
              <a:t>Minikube</a:t>
            </a:r>
            <a:r>
              <a:rPr lang="ru-RU" sz="2000" dirty="0"/>
              <a:t>, имя вашей единственной ноды — </a:t>
            </a:r>
            <a:r>
              <a:rPr lang="ru-RU" sz="2000" dirty="0" err="1"/>
              <a:t>minikube</a:t>
            </a:r>
            <a:r>
              <a:rPr lang="ru-RU" sz="2000" dirty="0"/>
              <a:t>. Отсюда и фиксированное имя: </a:t>
            </a:r>
            <a:r>
              <a:rPr lang="ru-RU" sz="2000" dirty="0" err="1"/>
              <a:t>kube-apiserver-minikube</a:t>
            </a:r>
            <a:r>
              <a:rPr lang="ru-RU" sz="2000" dirty="0"/>
              <a:t>. Никаких случайных хэшей тут нет, так как этот под «прибит гвоздями» к конкретной машине и не может масштабироваться или переезжать на другие ноды.</a:t>
            </a:r>
          </a:p>
        </p:txBody>
      </p:sp>
    </p:spTree>
    <p:extLst>
      <p:ext uri="{BB962C8B-B14F-4D97-AF65-F5344CB8AC3E}">
        <p14:creationId xmlns:p14="http://schemas.microsoft.com/office/powerpoint/2010/main" val="626993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1E8D9-D5BA-2B06-F54D-67D27EBD6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C27293-9686-153E-06AD-687D1F2F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Разбор запущенных </a:t>
            </a:r>
            <a:r>
              <a:rPr lang="en-US" dirty="0"/>
              <a:t>pods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7B4A4-7594-A29D-8660-3E6B59AAD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 err="1"/>
              <a:t>kube-proxy</a:t>
            </a:r>
            <a:r>
              <a:rPr lang="ru-RU" sz="2000" dirty="0"/>
              <a:t> запускается с помощью контроллера </a:t>
            </a:r>
            <a:r>
              <a:rPr lang="ru-RU" sz="2000" b="1" dirty="0" err="1"/>
              <a:t>DaemonSet</a:t>
            </a:r>
            <a:r>
              <a:rPr lang="ru-RU" sz="2000" dirty="0"/>
              <a:t>.</a:t>
            </a:r>
            <a:br>
              <a:rPr lang="ru-RU" sz="2000" dirty="0"/>
            </a:br>
            <a:r>
              <a:rPr lang="ru-RU" sz="2000" dirty="0"/>
              <a:t>Задача </a:t>
            </a:r>
            <a:r>
              <a:rPr lang="ru-RU" sz="2000" dirty="0" err="1"/>
              <a:t>DaemonSet</a:t>
            </a:r>
            <a:r>
              <a:rPr lang="ru-RU" sz="2000" dirty="0"/>
              <a:t> — гарантировать, что ровно одна копия этого пода будет работать </a:t>
            </a:r>
            <a:r>
              <a:rPr lang="ru-RU" sz="2000" b="1" dirty="0"/>
              <a:t>на каждой ноде</a:t>
            </a:r>
            <a:r>
              <a:rPr lang="ru-RU" sz="2000" dirty="0"/>
              <a:t> кластера. Когда вы добавляете новую ноду в большой продакшн-кластер, </a:t>
            </a:r>
            <a:r>
              <a:rPr lang="ru-RU" sz="2000" dirty="0" err="1"/>
              <a:t>DaemonSet</a:t>
            </a:r>
            <a:r>
              <a:rPr lang="ru-RU" sz="2000" dirty="0"/>
              <a:t> автоматически разворачивает на ней </a:t>
            </a:r>
            <a:r>
              <a:rPr lang="ru-RU" sz="2000" dirty="0" err="1"/>
              <a:t>kube-proxy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Правило именования подов в </a:t>
            </a:r>
            <a:r>
              <a:rPr lang="ru-RU" sz="2000" dirty="0" err="1"/>
              <a:t>DaemonSet</a:t>
            </a:r>
            <a:r>
              <a:rPr lang="ru-RU" sz="2000" dirty="0"/>
              <a:t>: [</a:t>
            </a:r>
            <a:r>
              <a:rPr lang="ru-RU" sz="2000" dirty="0" err="1"/>
              <a:t>Имя_даймонсета</a:t>
            </a:r>
            <a:r>
              <a:rPr lang="ru-RU" sz="2000" dirty="0"/>
              <a:t>]-[</a:t>
            </a:r>
            <a:r>
              <a:rPr lang="ru-RU" sz="2000" dirty="0" err="1"/>
              <a:t>Случайный_пятизначный_суффикс</a:t>
            </a:r>
            <a:r>
              <a:rPr lang="ru-RU" sz="2000" dirty="0"/>
              <a:t>].</a:t>
            </a:r>
            <a:br>
              <a:rPr lang="ru-RU" sz="2000" dirty="0"/>
            </a:br>
            <a:r>
              <a:rPr lang="ru-RU" sz="2000" dirty="0"/>
              <a:t>Ему не нужен хэш шаблона (как у </a:t>
            </a:r>
            <a:r>
              <a:rPr lang="ru-RU" sz="2000" dirty="0" err="1"/>
              <a:t>Deployment</a:t>
            </a:r>
            <a:r>
              <a:rPr lang="ru-RU" sz="2000" dirty="0"/>
              <a:t> в Вопросе 1), потому что он не делает сложных плавных обновлений с параллельным запуском старых и новых версий на одной ноде. Ему нужен просто короткий уникальный суффикс для идентификации пода на конкретном узле. Поэтому имя выглядит примерно как kube-proxy-m4n7q.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664615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44DA72-1BFE-B90C-6CAD-77D744243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Разбор запущенных </a:t>
            </a:r>
            <a:r>
              <a:rPr lang="en-US" dirty="0"/>
              <a:t>pods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2AA874-C604-29B2-3054-18137C42E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Для </a:t>
            </a:r>
            <a:r>
              <a:rPr lang="ru-RU" dirty="0" err="1"/>
              <a:t>Minikube</a:t>
            </a:r>
            <a:r>
              <a:rPr lang="ru-RU" dirty="0"/>
              <a:t> при самом первом старте — </a:t>
            </a:r>
            <a:r>
              <a:rPr lang="ru-RU" b="1" dirty="0"/>
              <a:t>да, это абсолютно нормально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 err="1"/>
              <a:t>storage-provisioner</a:t>
            </a:r>
            <a:r>
              <a:rPr lang="ru-RU" dirty="0"/>
              <a:t> — это внутренний плагин </a:t>
            </a:r>
            <a:r>
              <a:rPr lang="ru-RU" dirty="0" err="1"/>
              <a:t>Minikube</a:t>
            </a:r>
            <a:r>
              <a:rPr lang="ru-RU" dirty="0"/>
              <a:t>, который отвечает за динамическое выделение места на диске вашего компьютера, когда тесты просят создать </a:t>
            </a:r>
            <a:r>
              <a:rPr lang="ru-RU" dirty="0" err="1"/>
              <a:t>PersistentVolume</a:t>
            </a:r>
            <a:r>
              <a:rPr lang="ru-RU" dirty="0"/>
              <a:t> (например, для базы данных).</a:t>
            </a:r>
          </a:p>
          <a:p>
            <a:pPr marL="0" indent="0">
              <a:buNone/>
            </a:pPr>
            <a:r>
              <a:rPr lang="ru-RU" b="1" dirty="0"/>
              <a:t>Почему происходит этот один перезапуск:</a:t>
            </a:r>
            <a:br>
              <a:rPr lang="ru-RU" dirty="0"/>
            </a:br>
            <a:r>
              <a:rPr lang="ru-RU" dirty="0"/>
              <a:t>При первом запуске команды </a:t>
            </a:r>
            <a:r>
              <a:rPr lang="ru-RU" dirty="0" err="1"/>
              <a:t>minikube</a:t>
            </a:r>
            <a:r>
              <a:rPr lang="ru-RU" dirty="0"/>
              <a:t> </a:t>
            </a:r>
            <a:r>
              <a:rPr lang="ru-RU" dirty="0" err="1"/>
              <a:t>start</a:t>
            </a:r>
            <a:r>
              <a:rPr lang="ru-RU" dirty="0"/>
              <a:t> происходит инициализация кластера. </a:t>
            </a:r>
            <a:r>
              <a:rPr lang="ru-RU" dirty="0" err="1"/>
              <a:t>storage-provisioner</a:t>
            </a:r>
            <a:r>
              <a:rPr lang="ru-RU" dirty="0"/>
              <a:t> запускается очень рано. Ему для полноценной настройки нужно дождаться, пока полностью поднимется и начнет отвечать </a:t>
            </a:r>
            <a:r>
              <a:rPr lang="ru-RU" dirty="0" err="1"/>
              <a:t>kube-apiserver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Если API-сервер в этот момент еще загружается, </a:t>
            </a:r>
            <a:r>
              <a:rPr lang="ru-RU" dirty="0" err="1"/>
              <a:t>storage-provisioner</a:t>
            </a:r>
            <a:r>
              <a:rPr lang="ru-RU" dirty="0"/>
              <a:t> делает попытку подключиться к нему, получает отказ, завершается с ошибкой и переходит в статус </a:t>
            </a:r>
            <a:r>
              <a:rPr lang="ru-RU" dirty="0" err="1"/>
              <a:t>Error</a:t>
            </a:r>
            <a:r>
              <a:rPr lang="ru-RU" dirty="0"/>
              <a:t> или </a:t>
            </a:r>
            <a:r>
              <a:rPr lang="ru-RU" dirty="0" err="1"/>
              <a:t>CrashLoopBackOff</a:t>
            </a:r>
            <a:r>
              <a:rPr lang="ru-RU" dirty="0"/>
              <a:t>. Kubernetes видит, что под упал, и согласно своей политике (</a:t>
            </a:r>
            <a:r>
              <a:rPr lang="ru-RU" dirty="0" err="1"/>
              <a:t>RestartPolicy</a:t>
            </a:r>
            <a:r>
              <a:rPr lang="ru-RU" dirty="0"/>
              <a:t>: Always) запускает его заново. Ко второй попытке API-сервер уже готов, под успешно подключается, начинает работать, но счетчик RESTARTS навсегда увеличивается на 1.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6025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821157-18B2-6818-D9E3-C16289F6D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ru-RU" dirty="0"/>
              <a:t>Создаем наше первое приложение </a:t>
            </a:r>
            <a:br>
              <a:rPr lang="en-US" dirty="0"/>
            </a:br>
            <a:r>
              <a:rPr lang="ru-RU" dirty="0"/>
              <a:t>«Банк котиков»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1E63E0-198F-87C1-E73C-93CAF670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Файл </a:t>
            </a:r>
            <a:r>
              <a:rPr lang="ru-RU" b="1" dirty="0"/>
              <a:t>cat-bank-stage1.yaml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В Kubernetes можно разделять разные сущности через три дефиса (---), и K8s применит их по очереди одной командой.</a:t>
            </a:r>
          </a:p>
          <a:p>
            <a:pPr marL="0" indent="0">
              <a:buNone/>
            </a:pPr>
            <a:r>
              <a:rPr lang="ru-RU" b="1" dirty="0"/>
              <a:t>Что внутри этого файла:</a:t>
            </a:r>
          </a:p>
          <a:p>
            <a:r>
              <a:rPr lang="ru-RU" b="1" dirty="0" err="1"/>
              <a:t>ConfigMap</a:t>
            </a:r>
            <a:r>
              <a:rPr lang="ru-RU" dirty="0"/>
              <a:t> — здесь лежит HTML-код главной страницы нашего «Банка Котиков».</a:t>
            </a:r>
          </a:p>
          <a:p>
            <a:r>
              <a:rPr lang="ru-RU" b="1" dirty="0" err="1"/>
              <a:t>Deployment</a:t>
            </a:r>
            <a:r>
              <a:rPr lang="ru-RU" dirty="0"/>
              <a:t> — шаблон, который создает Под с контейнером </a:t>
            </a:r>
            <a:r>
              <a:rPr lang="ru-RU" dirty="0" err="1"/>
              <a:t>Nginx</a:t>
            </a:r>
            <a:r>
              <a:rPr lang="ru-RU" dirty="0"/>
              <a:t> и монтирует туда HTML-код из </a:t>
            </a:r>
            <a:r>
              <a:rPr lang="ru-RU" dirty="0" err="1"/>
              <a:t>ConfigMap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CED81D2-9A8E-B90A-309C-36BC483D5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330" y="491872"/>
            <a:ext cx="1478470" cy="1478470"/>
          </a:xfrm>
          <a:prstGeom prst="rect">
            <a:avLst/>
          </a:prstGeom>
        </p:spPr>
      </p:pic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013ED772-3A90-E54E-8DE7-57C9B556435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11983211"/>
              </p:ext>
            </p:extLst>
          </p:nvPr>
        </p:nvGraphicFramePr>
        <p:xfrm>
          <a:off x="10663237" y="1817435"/>
          <a:ext cx="13811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1381169" imgH="514350" progId="Package">
                  <p:embed/>
                </p:oleObj>
              </mc:Choice>
              <mc:Fallback>
                <p:oleObj name="Объект упаковщика для оболочки" showAsIcon="1" r:id="rId3" imgW="13811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663237" y="1817435"/>
                        <a:ext cx="138112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71820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BFA3-6D80-4686-7640-059DC539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71CB75-9AF3-5C72-1140-DC927EF64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1. Создаем наше первое приложение </a:t>
            </a:r>
            <a:br>
              <a:rPr lang="en-US" dirty="0"/>
            </a:br>
            <a:r>
              <a:rPr lang="ru-RU" dirty="0"/>
              <a:t>«Банк котиков»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8F79D6-BB36-636C-D8B7-3323DE248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1) </a:t>
            </a:r>
            <a:r>
              <a:rPr lang="en-US" dirty="0" err="1"/>
              <a:t>kubectl</a:t>
            </a:r>
            <a:r>
              <a:rPr lang="en-US" dirty="0"/>
              <a:t> apply -f cat-bank-stage1.yaml (</a:t>
            </a:r>
            <a:r>
              <a:rPr lang="ru-RU" dirty="0"/>
              <a:t>применяем манифест из каталога с файлом)</a:t>
            </a:r>
          </a:p>
          <a:p>
            <a:pPr marL="0" indent="0">
              <a:buNone/>
            </a:pPr>
            <a:r>
              <a:rPr lang="ru-RU" dirty="0"/>
              <a:t>Кластер сам создаст </a:t>
            </a:r>
            <a:r>
              <a:rPr lang="ru-RU" dirty="0" err="1"/>
              <a:t>ConfigMap</a:t>
            </a:r>
            <a:r>
              <a:rPr lang="ru-RU" dirty="0"/>
              <a:t>, запустит под с </a:t>
            </a:r>
            <a:r>
              <a:rPr lang="ru-RU" dirty="0" err="1"/>
              <a:t>КотоБанком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2) Найти запущенный под напрямую (в </a:t>
            </a:r>
            <a:r>
              <a:rPr lang="ru-RU" dirty="0" err="1"/>
              <a:t>Lens</a:t>
            </a:r>
            <a:r>
              <a:rPr lang="ru-RU" dirty="0"/>
              <a:t> или через </a:t>
            </a: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ru-RU" dirty="0"/>
              <a:t> -o </a:t>
            </a:r>
            <a:r>
              <a:rPr lang="ru-RU" dirty="0" err="1"/>
              <a:t>wide</a:t>
            </a:r>
            <a:r>
              <a:rPr lang="ru-RU" dirty="0"/>
              <a:t>).</a:t>
            </a:r>
          </a:p>
          <a:p>
            <a:pPr marL="0" indent="0">
              <a:buNone/>
            </a:pPr>
            <a:r>
              <a:rPr lang="ru-RU" dirty="0"/>
              <a:t>3) Запомнить его текущий IP-адрес (например, 10.244.0.15).</a:t>
            </a:r>
          </a:p>
          <a:p>
            <a:pPr marL="0" indent="0">
              <a:buNone/>
            </a:pPr>
            <a:r>
              <a:rPr lang="ru-RU" dirty="0"/>
              <a:t>4) Пробросить порт </a:t>
            </a:r>
            <a:r>
              <a:rPr lang="ru-RU" b="1" dirty="0"/>
              <a:t>напрямую к поду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port-forward</a:t>
            </a:r>
            <a:r>
              <a:rPr lang="ru-RU" dirty="0"/>
              <a:t> </a:t>
            </a:r>
            <a:r>
              <a:rPr lang="ru-RU" dirty="0" err="1"/>
              <a:t>pod</a:t>
            </a:r>
            <a:r>
              <a:rPr lang="ru-RU" dirty="0"/>
              <a:t>/ИМЯ_ПОДА 8080:80</a:t>
            </a:r>
          </a:p>
          <a:p>
            <a:pPr marL="0" indent="0">
              <a:buNone/>
            </a:pPr>
            <a:r>
              <a:rPr lang="ru-RU" dirty="0"/>
              <a:t>5) Открыть localhost:8080 — банк работает. </a:t>
            </a:r>
            <a:br>
              <a:rPr lang="ru-RU" dirty="0"/>
            </a:b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6345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A2A76-B56F-DC91-D88A-34BE2A743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02B6C1-D8DF-6614-AEC1-32934A290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1. Создаем наше первое приложение </a:t>
            </a:r>
            <a:br>
              <a:rPr lang="en-US" dirty="0"/>
            </a:br>
            <a:r>
              <a:rPr lang="ru-RU" dirty="0"/>
              <a:t>«Банк котиков»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0EC33A01-2571-7824-9E31-22CA74200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17120" y="1825625"/>
            <a:ext cx="675776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851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D5B6F-1194-7C1D-0A74-6E12D79C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670147-C0A2-58B2-AD26-D9F7ED2D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Авария «Банка котиков»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3930227-9C5E-2521-32A1-4B0A1E44C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Представьте, что под завис или обновился. </a:t>
            </a:r>
          </a:p>
          <a:p>
            <a:pPr marL="514350" indent="-514350">
              <a:buAutoNum type="arabicParenR"/>
            </a:pPr>
            <a:r>
              <a:rPr lang="ru-RU" dirty="0"/>
              <a:t>Убить под (через корзину в </a:t>
            </a:r>
            <a:r>
              <a:rPr lang="ru-RU" dirty="0" err="1"/>
              <a:t>Lens</a:t>
            </a:r>
            <a:r>
              <a:rPr lang="ru-RU" dirty="0"/>
              <a:t> или </a:t>
            </a: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delete</a:t>
            </a:r>
            <a:r>
              <a:rPr lang="ru-RU" dirty="0"/>
              <a:t> </a:t>
            </a:r>
            <a:r>
              <a:rPr lang="ru-RU" dirty="0" err="1"/>
              <a:t>pod</a:t>
            </a:r>
            <a:r>
              <a:rPr lang="ru-RU" dirty="0"/>
              <a:t> ИМЯ_ПОДА).</a:t>
            </a:r>
          </a:p>
          <a:p>
            <a:pPr marL="514350" indent="-514350">
              <a:buAutoNum type="arabicParenR"/>
            </a:pPr>
            <a:r>
              <a:rPr lang="ru-RU" dirty="0" err="1"/>
              <a:t>Deployment</a:t>
            </a:r>
            <a:r>
              <a:rPr lang="ru-RU" dirty="0"/>
              <a:t> мгновенно создаст новый под взамен удаленного (ведь он обязан поддерживать </a:t>
            </a:r>
            <a:r>
              <a:rPr lang="ru-RU" dirty="0" err="1"/>
              <a:t>replicas</a:t>
            </a:r>
            <a:r>
              <a:rPr lang="ru-RU" dirty="0"/>
              <a:t>)</a:t>
            </a:r>
          </a:p>
          <a:p>
            <a:pPr marL="514350" indent="-514350">
              <a:buAutoNum type="arabicParenR"/>
            </a:pPr>
            <a:r>
              <a:rPr lang="ru-RU" b="1" dirty="0"/>
              <a:t>Главное наблюдение:</a:t>
            </a:r>
            <a:r>
              <a:rPr lang="ru-RU" dirty="0"/>
              <a:t> IP-адрес нового пода изменился! Был 10.244.0.15, а стал, например, 10.244.0.18.</a:t>
            </a:r>
          </a:p>
          <a:p>
            <a:pPr marL="514350" indent="-514350">
              <a:buAutoNum type="arabicParenR"/>
            </a:pPr>
            <a:r>
              <a:rPr lang="ru-RU" dirty="0"/>
              <a:t>Команда </a:t>
            </a:r>
            <a:r>
              <a:rPr lang="ru-RU" dirty="0" err="1"/>
              <a:t>port-forward</a:t>
            </a:r>
            <a:r>
              <a:rPr lang="ru-RU" dirty="0"/>
              <a:t> отвалилась с ошибкой, а если бы это был </a:t>
            </a:r>
            <a:r>
              <a:rPr lang="ru-RU" dirty="0" err="1"/>
              <a:t>автотест</a:t>
            </a:r>
            <a:r>
              <a:rPr lang="ru-RU" dirty="0"/>
              <a:t>, завязанный на IP — он бы упал (теперь и банк недоступен по адресу).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73495-6514-F8B0-5B68-51FFA459303C}"/>
              </a:ext>
            </a:extLst>
          </p:cNvPr>
          <p:cNvSpPr txBox="1"/>
          <p:nvPr/>
        </p:nvSpPr>
        <p:spPr>
          <a:xfrm>
            <a:off x="662511" y="3835492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8BEA65-A8BB-4A43-DD3F-87656BBF6DB7}"/>
              </a:ext>
            </a:extLst>
          </p:cNvPr>
          <p:cNvSpPr txBox="1"/>
          <p:nvPr/>
        </p:nvSpPr>
        <p:spPr>
          <a:xfrm>
            <a:off x="662511" y="2992669"/>
            <a:ext cx="3513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735659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563A8-5071-8802-10E3-D914CB13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821ECF-16C6-88F4-4502-5EF9A5E59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ru-RU" dirty="0"/>
              <a:t>. Добавляем </a:t>
            </a:r>
            <a:r>
              <a:rPr lang="en-US" dirty="0"/>
              <a:t>Service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4E7B013-59E8-8E30-FE69-9B8A703FF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1) Применить сервис: </a:t>
            </a: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apply</a:t>
            </a:r>
            <a:r>
              <a:rPr lang="ru-RU" dirty="0"/>
              <a:t> -f </a:t>
            </a:r>
            <a:r>
              <a:rPr lang="ru-RU" dirty="0" err="1"/>
              <a:t>cat-bank-service.yaml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/>
              <a:t>применяем манифест из каталога с файлом сервиса)</a:t>
            </a:r>
          </a:p>
          <a:p>
            <a:pPr marL="0" indent="0">
              <a:buNone/>
            </a:pPr>
            <a:r>
              <a:rPr lang="ru-RU" dirty="0"/>
              <a:t>2) Зайти в </a:t>
            </a:r>
            <a:r>
              <a:rPr lang="ru-RU" dirty="0" err="1"/>
              <a:t>Lens</a:t>
            </a:r>
            <a:r>
              <a:rPr lang="ru-RU" dirty="0"/>
              <a:t> в раздел </a:t>
            </a:r>
            <a:r>
              <a:rPr lang="ru-RU" b="1" dirty="0"/>
              <a:t>Network - Services - </a:t>
            </a:r>
            <a:r>
              <a:rPr lang="ru-RU" b="1" dirty="0" err="1"/>
              <a:t>cat-bank-service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3) Проверить вкладку </a:t>
            </a:r>
            <a:r>
              <a:rPr lang="ru-RU" b="1" dirty="0" err="1"/>
              <a:t>Endpoints</a:t>
            </a:r>
            <a:r>
              <a:rPr lang="ru-RU" dirty="0"/>
              <a:t>: там будет текущий (новый) IP-адрес пода. Обратить внимание на </a:t>
            </a:r>
            <a:r>
              <a:rPr lang="en-US" dirty="0"/>
              <a:t>selector!</a:t>
            </a:r>
            <a:endParaRPr lang="ru-RU" dirty="0"/>
          </a:p>
          <a:p>
            <a:pPr marL="0" indent="0">
              <a:buNone/>
            </a:pPr>
            <a:r>
              <a:rPr lang="en-US" dirty="0"/>
              <a:t>4) </a:t>
            </a:r>
            <a:r>
              <a:rPr lang="ru-RU" dirty="0"/>
              <a:t>Пробросить порт уже </a:t>
            </a:r>
            <a:r>
              <a:rPr lang="ru-RU" b="1" dirty="0"/>
              <a:t>до Сервиса</a:t>
            </a:r>
            <a:r>
              <a:rPr lang="ru-RU" dirty="0"/>
              <a:t>: </a:t>
            </a:r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port-forward</a:t>
            </a:r>
            <a:r>
              <a:rPr lang="ru-RU" dirty="0"/>
              <a:t> </a:t>
            </a:r>
            <a:r>
              <a:rPr lang="ru-RU" dirty="0" err="1"/>
              <a:t>svc</a:t>
            </a:r>
            <a:r>
              <a:rPr lang="ru-RU" dirty="0"/>
              <a:t>/</a:t>
            </a:r>
            <a:r>
              <a:rPr lang="ru-RU" dirty="0" err="1"/>
              <a:t>cat-bank-service</a:t>
            </a:r>
            <a:r>
              <a:rPr lang="ru-RU" dirty="0"/>
              <a:t> 8080:80</a:t>
            </a:r>
          </a:p>
          <a:p>
            <a:pPr marL="0" indent="0">
              <a:buNone/>
            </a:pPr>
            <a:r>
              <a:rPr lang="ru-RU" dirty="0"/>
              <a:t>5) Открыть localhost:8080 — банк снова доступен.</a:t>
            </a:r>
          </a:p>
          <a:p>
            <a:pPr marL="0" indent="0">
              <a:buNone/>
            </a:pPr>
            <a:r>
              <a:rPr lang="ru-RU" b="1" dirty="0"/>
              <a:t>6) Финальный эксперимент:</a:t>
            </a:r>
            <a:r>
              <a:rPr lang="ru-RU" dirty="0"/>
              <a:t> Снова убить под приложения. </a:t>
            </a:r>
            <a:r>
              <a:rPr lang="ru-RU" dirty="0" err="1"/>
              <a:t>Deployment</a:t>
            </a:r>
            <a:r>
              <a:rPr lang="ru-RU" dirty="0"/>
              <a:t> создает еще один под с еще одним НОВЫМ IP. Но чудо — </a:t>
            </a:r>
            <a:r>
              <a:rPr lang="ru-RU" dirty="0" err="1"/>
              <a:t>port-forward</a:t>
            </a:r>
            <a:r>
              <a:rPr lang="ru-RU" dirty="0"/>
              <a:t> до Сервиса </a:t>
            </a:r>
            <a:r>
              <a:rPr lang="ru-RU" b="1" dirty="0"/>
              <a:t>не порвался</a:t>
            </a:r>
            <a:r>
              <a:rPr lang="ru-RU" dirty="0"/>
              <a:t>! Сервис сам мгновенно поменял IP внутри вкладки </a:t>
            </a:r>
            <a:r>
              <a:rPr lang="ru-RU" dirty="0" err="1"/>
              <a:t>Endpoints</a:t>
            </a:r>
            <a:r>
              <a:rPr lang="ru-RU" dirty="0"/>
              <a:t>, и страница продолжает работать без перенастройки со стороны QA.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8" name="Объект 7">
            <a:extLst>
              <a:ext uri="{FF2B5EF4-FFF2-40B4-BE49-F238E27FC236}">
                <a16:creationId xmlns:a16="http://schemas.microsoft.com/office/drawing/2014/main" id="{05D2D4B5-D17D-ED6C-4596-6BDCE4F2174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6129873"/>
              </p:ext>
            </p:extLst>
          </p:nvPr>
        </p:nvGraphicFramePr>
        <p:xfrm>
          <a:off x="10653712" y="2169397"/>
          <a:ext cx="140017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2" imgW="1400308" imgH="514350" progId="Package">
                  <p:embed/>
                </p:oleObj>
              </mc:Choice>
              <mc:Fallback>
                <p:oleObj name="Объект упаковщика для оболочки" showAsIcon="1" r:id="rId2" imgW="1400308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0653712" y="2169397"/>
                        <a:ext cx="140017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66490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98EC-63C8-1A50-DCD5-A145E387F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937E04-02E0-1757-2179-798DAD893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ru-RU" dirty="0"/>
              <a:t>. Добавляем </a:t>
            </a:r>
            <a:r>
              <a:rPr lang="en-US" dirty="0"/>
              <a:t>Service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713AD45-0136-9DCC-4879-672B0DD3F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062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Эксперименты:</a:t>
            </a:r>
          </a:p>
          <a:p>
            <a:pPr marL="514350" indent="-514350">
              <a:buAutoNum type="arabicParenR"/>
            </a:pPr>
            <a:r>
              <a:rPr lang="ru-RU" sz="2200" dirty="0"/>
              <a:t>Снова убить под приложения. </a:t>
            </a:r>
            <a:r>
              <a:rPr lang="ru-RU" sz="2200" dirty="0" err="1"/>
              <a:t>Deployment</a:t>
            </a:r>
            <a:r>
              <a:rPr lang="ru-RU" sz="2200" dirty="0"/>
              <a:t> создает еще один под с еще одним НОВЫМ IP. Если </a:t>
            </a:r>
            <a:r>
              <a:rPr lang="ru-RU" sz="2200" dirty="0" err="1"/>
              <a:t>форвардинг</a:t>
            </a:r>
            <a:r>
              <a:rPr lang="ru-RU" sz="2200" dirty="0"/>
              <a:t> сломался, то повторить команду.</a:t>
            </a:r>
          </a:p>
          <a:p>
            <a:pPr marL="514350" indent="-514350">
              <a:buAutoNum type="arabicParenR"/>
            </a:pPr>
            <a:r>
              <a:rPr lang="ru-RU" sz="2200" dirty="0"/>
              <a:t>Изменить количество котиков на счету и указать статус «Под с сервисом».</a:t>
            </a:r>
            <a:br>
              <a:rPr lang="ru-RU" sz="2200" dirty="0"/>
            </a:br>
            <a:r>
              <a:rPr lang="ru-RU" sz="2200" dirty="0"/>
              <a:t>Подсказка: найти в </a:t>
            </a:r>
            <a:r>
              <a:rPr lang="en-US" sz="2200" dirty="0" err="1"/>
              <a:t>ConfigMaps</a:t>
            </a:r>
            <a:r>
              <a:rPr lang="en-US" sz="2200" dirty="0"/>
              <a:t> </a:t>
            </a:r>
            <a:r>
              <a:rPr lang="ru-RU" sz="2200" dirty="0"/>
              <a:t>соответствующие настройки, изменить и сохранить число, перезапустить под, восстановить подключение</a:t>
            </a:r>
            <a:br>
              <a:rPr lang="ru-RU" sz="2200" dirty="0"/>
            </a:br>
            <a:r>
              <a:rPr lang="ru-RU" sz="2200" dirty="0"/>
              <a:t>и проверить результат.</a:t>
            </a:r>
            <a:br>
              <a:rPr lang="ru-RU" sz="2200" dirty="0"/>
            </a:br>
            <a:r>
              <a:rPr lang="ru-RU" sz="2200" dirty="0" err="1"/>
              <a:t>kubectl</a:t>
            </a:r>
            <a:r>
              <a:rPr lang="ru-RU" sz="2200" dirty="0"/>
              <a:t> </a:t>
            </a:r>
            <a:r>
              <a:rPr lang="ru-RU" sz="2200" dirty="0" err="1"/>
              <a:t>rollout</a:t>
            </a:r>
            <a:r>
              <a:rPr lang="ru-RU" sz="2200" dirty="0"/>
              <a:t> </a:t>
            </a:r>
            <a:r>
              <a:rPr lang="ru-RU" sz="2200" dirty="0" err="1"/>
              <a:t>restart</a:t>
            </a:r>
            <a:r>
              <a:rPr lang="ru-RU" sz="2200" dirty="0"/>
              <a:t> </a:t>
            </a:r>
            <a:r>
              <a:rPr lang="ru-RU" sz="2200" dirty="0" err="1"/>
              <a:t>deployment</a:t>
            </a:r>
            <a:r>
              <a:rPr lang="ru-RU" sz="2200" dirty="0"/>
              <a:t> </a:t>
            </a:r>
            <a:r>
              <a:rPr lang="en-US" sz="2200" dirty="0"/>
              <a:t>&lt;</a:t>
            </a:r>
            <a:r>
              <a:rPr lang="ru-RU" sz="2200" dirty="0"/>
              <a:t>имя</a:t>
            </a:r>
            <a:r>
              <a:rPr lang="en-US" sz="2200" dirty="0"/>
              <a:t>&gt;</a:t>
            </a:r>
            <a:br>
              <a:rPr lang="ru-RU" sz="2200" dirty="0"/>
            </a:br>
            <a:r>
              <a:rPr lang="ru-RU" sz="2200" i="1" dirty="0"/>
              <a:t>При реальной работе вы не будете удалять поды руками, вы делаете рестарт деплоя.</a:t>
            </a:r>
          </a:p>
          <a:p>
            <a:pPr marL="514350" indent="-514350">
              <a:buAutoNum type="arabicParenR"/>
            </a:pPr>
            <a:r>
              <a:rPr lang="ru-RU" sz="2200" dirty="0"/>
              <a:t>Изменить целевое количество реплик для нашего </a:t>
            </a:r>
            <a:r>
              <a:rPr lang="en-US" sz="2200" dirty="0"/>
              <a:t>cat-bank</a:t>
            </a:r>
            <a:br>
              <a:rPr lang="ru-RU" sz="2200" dirty="0"/>
            </a:br>
            <a:r>
              <a:rPr lang="ru-RU" sz="2200" dirty="0" err="1"/>
              <a:t>kubectl</a:t>
            </a:r>
            <a:r>
              <a:rPr lang="ru-RU" sz="2200" dirty="0"/>
              <a:t> </a:t>
            </a:r>
            <a:r>
              <a:rPr lang="ru-RU" sz="2200" dirty="0" err="1"/>
              <a:t>scale</a:t>
            </a:r>
            <a:r>
              <a:rPr lang="ru-RU" sz="2200" dirty="0"/>
              <a:t> </a:t>
            </a:r>
            <a:r>
              <a:rPr lang="ru-RU" sz="2200" dirty="0" err="1"/>
              <a:t>deployment</a:t>
            </a:r>
            <a:r>
              <a:rPr lang="ru-RU" sz="2200" dirty="0"/>
              <a:t>/</a:t>
            </a:r>
            <a:r>
              <a:rPr lang="ru-RU" sz="2200" dirty="0" err="1"/>
              <a:t>cat-bank-deployment</a:t>
            </a:r>
            <a:r>
              <a:rPr lang="ru-RU" sz="2200" dirty="0"/>
              <a:t> --</a:t>
            </a:r>
            <a:r>
              <a:rPr lang="ru-RU" sz="2200" dirty="0" err="1"/>
              <a:t>replicas</a:t>
            </a:r>
            <a:r>
              <a:rPr lang="ru-RU" sz="2200" dirty="0"/>
              <a:t>=3</a:t>
            </a:r>
            <a:br>
              <a:rPr lang="en-US" sz="2200" dirty="0"/>
            </a:br>
            <a:r>
              <a:rPr lang="en-US" sz="2200" dirty="0"/>
              <a:t>GUI Lens: </a:t>
            </a:r>
            <a:r>
              <a:rPr lang="ru-RU" sz="2200" dirty="0"/>
              <a:t>три точки - </a:t>
            </a:r>
            <a:r>
              <a:rPr lang="en-US" sz="2200" dirty="0"/>
              <a:t>scale</a:t>
            </a:r>
            <a:br>
              <a:rPr lang="en-US" sz="2200" dirty="0"/>
            </a:br>
            <a:r>
              <a:rPr lang="ru-RU" sz="2200" dirty="0"/>
              <a:t>Либо изменить файл с cat-bank-stage1.yaml, указав </a:t>
            </a:r>
            <a:br>
              <a:rPr lang="ru-RU" sz="2200" dirty="0"/>
            </a:br>
            <a:r>
              <a:rPr lang="ru-RU" sz="2200" dirty="0"/>
              <a:t>3 реплики</a:t>
            </a:r>
            <a:r>
              <a:rPr lang="en-US" sz="2200" dirty="0"/>
              <a:t>, </a:t>
            </a:r>
            <a:r>
              <a:rPr lang="ru-RU" sz="2200" dirty="0"/>
              <a:t>обновить той же командой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2FAA56-F672-0ADA-A054-EC69AD235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412" y="91340"/>
            <a:ext cx="2016183" cy="186137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A83D178-0B6D-334F-8457-966546D9E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7983" y="4925187"/>
            <a:ext cx="2723782" cy="156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286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B00DC-8719-FF72-7676-D7040BFEB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E4725D-3E1D-9889-036F-765FD64E6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4. Добавляем </a:t>
            </a:r>
            <a:r>
              <a:rPr lang="en-US" dirty="0"/>
              <a:t>Ingress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C4257AC-558D-4C30-1128-0A03E58E2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3528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/>
              <a:t>C</a:t>
            </a:r>
            <a:r>
              <a:rPr lang="ru-RU" sz="2200" dirty="0"/>
              <a:t>делаем так, чтобы </a:t>
            </a:r>
            <a:r>
              <a:rPr lang="ru-RU" sz="2200" dirty="0" err="1"/>
              <a:t>КотоБанк</a:t>
            </a:r>
            <a:r>
              <a:rPr lang="ru-RU" sz="2200" dirty="0"/>
              <a:t> открывался в браузере по красивому доменному имени: </a:t>
            </a:r>
            <a:r>
              <a:rPr lang="ru-RU" sz="2200" dirty="0">
                <a:hlinkClick r:id="rId2"/>
              </a:rPr>
              <a:t>http://cat-bank.local</a:t>
            </a:r>
            <a:r>
              <a:rPr lang="ru-RU" sz="2200" dirty="0"/>
              <a:t>.</a:t>
            </a:r>
          </a:p>
          <a:p>
            <a:pPr marL="457200" indent="-457200">
              <a:buAutoNum type="arabicParenR"/>
            </a:pPr>
            <a:r>
              <a:rPr lang="ru-RU" sz="2200" dirty="0"/>
              <a:t>Разрешить </a:t>
            </a:r>
            <a:r>
              <a:rPr lang="en-US" sz="2200" dirty="0"/>
              <a:t>Ingress</a:t>
            </a:r>
            <a:r>
              <a:rPr lang="ru-RU" sz="2200" dirty="0"/>
              <a:t> в</a:t>
            </a:r>
            <a:r>
              <a:rPr lang="en-US" sz="2200" dirty="0"/>
              <a:t> </a:t>
            </a:r>
            <a:r>
              <a:rPr lang="en-US" sz="2200" dirty="0" err="1"/>
              <a:t>Minikube</a:t>
            </a:r>
            <a:r>
              <a:rPr lang="ru-RU" sz="2200" dirty="0"/>
              <a:t>: </a:t>
            </a:r>
            <a:r>
              <a:rPr lang="ru-RU" sz="2200" dirty="0" err="1"/>
              <a:t>minikube</a:t>
            </a:r>
            <a:r>
              <a:rPr lang="ru-RU" sz="2200" dirty="0"/>
              <a:t> </a:t>
            </a:r>
            <a:r>
              <a:rPr lang="ru-RU" sz="2200" dirty="0" err="1"/>
              <a:t>addons</a:t>
            </a:r>
            <a:r>
              <a:rPr lang="ru-RU" sz="2200" dirty="0"/>
              <a:t> </a:t>
            </a:r>
            <a:r>
              <a:rPr lang="ru-RU" sz="2200" dirty="0" err="1"/>
              <a:t>enable</a:t>
            </a:r>
            <a:r>
              <a:rPr lang="ru-RU" sz="2200" dirty="0"/>
              <a:t> </a:t>
            </a:r>
            <a:r>
              <a:rPr lang="ru-RU" sz="2200" dirty="0" err="1"/>
              <a:t>ingress</a:t>
            </a:r>
            <a:br>
              <a:rPr lang="en-US" sz="2200" dirty="0"/>
            </a:br>
            <a:r>
              <a:rPr lang="ru-RU" sz="2200" dirty="0"/>
              <a:t>Займет пару минут.</a:t>
            </a:r>
          </a:p>
          <a:p>
            <a:pPr marL="457200" indent="-457200">
              <a:buAutoNum type="arabicParenR"/>
            </a:pPr>
            <a:r>
              <a:rPr lang="ru-RU" sz="2200" dirty="0"/>
              <a:t>Создать манифест </a:t>
            </a:r>
            <a:r>
              <a:rPr lang="en-US" sz="2200" dirty="0"/>
              <a:t>Ingress: </a:t>
            </a:r>
            <a:r>
              <a:rPr lang="ru-RU" sz="2200" dirty="0" err="1"/>
              <a:t>cat-bank-ingress.yaml</a:t>
            </a:r>
            <a:endParaRPr lang="ru-RU" sz="2200" dirty="0"/>
          </a:p>
          <a:p>
            <a:pPr marL="457200" indent="-457200">
              <a:buAutoNum type="arabicParenR"/>
            </a:pPr>
            <a:r>
              <a:rPr lang="ru-RU" sz="2200" dirty="0"/>
              <a:t>Применить этот файл в терминале: </a:t>
            </a:r>
            <a:r>
              <a:rPr lang="ru-RU" sz="2200" dirty="0" err="1"/>
              <a:t>kubectl</a:t>
            </a:r>
            <a:r>
              <a:rPr lang="ru-RU" sz="2200" dirty="0"/>
              <a:t> </a:t>
            </a:r>
            <a:r>
              <a:rPr lang="ru-RU" sz="2200" dirty="0" err="1"/>
              <a:t>apply</a:t>
            </a:r>
            <a:r>
              <a:rPr lang="ru-RU" sz="2200" dirty="0"/>
              <a:t> -f </a:t>
            </a:r>
            <a:r>
              <a:rPr lang="ru-RU" sz="2200" dirty="0" err="1"/>
              <a:t>cat-bank-ingress.yaml</a:t>
            </a:r>
            <a:endParaRPr lang="en-US" sz="2200" dirty="0"/>
          </a:p>
          <a:p>
            <a:pPr marL="457200" indent="-457200">
              <a:buAutoNum type="arabicParenR"/>
            </a:pPr>
            <a:r>
              <a:rPr lang="ru-RU" sz="2200" dirty="0"/>
              <a:t>Добавить в файл </a:t>
            </a:r>
            <a:r>
              <a:rPr lang="en-US" sz="2200" dirty="0"/>
              <a:t>hosts </a:t>
            </a:r>
            <a:r>
              <a:rPr lang="ru-RU" sz="2200" dirty="0"/>
              <a:t>строку 127.0.0.1 </a:t>
            </a:r>
            <a:r>
              <a:rPr lang="ru-RU" sz="2200" dirty="0" err="1"/>
              <a:t>cat-bank.local</a:t>
            </a:r>
            <a:r>
              <a:rPr lang="ru-RU" sz="2200" dirty="0"/>
              <a:t> (</a:t>
            </a:r>
            <a:r>
              <a:rPr lang="en-US" sz="2200" dirty="0"/>
              <a:t>Windows)</a:t>
            </a:r>
            <a:br>
              <a:rPr lang="en-US" sz="2200" dirty="0"/>
            </a:br>
            <a:r>
              <a:rPr lang="ru-RU" sz="2200" b="1" dirty="0"/>
              <a:t>Для Linux/</a:t>
            </a:r>
            <a:r>
              <a:rPr lang="ru-RU" sz="2200" b="1" dirty="0" err="1"/>
              <a:t>macOS</a:t>
            </a:r>
            <a:r>
              <a:rPr lang="ru-RU" sz="2200" b="1" dirty="0"/>
              <a:t>:</a:t>
            </a:r>
            <a:r>
              <a:rPr lang="ru-RU" sz="2200" dirty="0"/>
              <a:t> в </a:t>
            </a:r>
            <a:r>
              <a:rPr lang="ru-RU" sz="2200" dirty="0" err="1"/>
              <a:t>hosts</a:t>
            </a:r>
            <a:r>
              <a:rPr lang="ru-RU" sz="2200" dirty="0"/>
              <a:t> прописывается результат выполнения команды </a:t>
            </a:r>
            <a:r>
              <a:rPr lang="ru-RU" sz="2200" dirty="0" err="1"/>
              <a:t>minikube</a:t>
            </a:r>
            <a:r>
              <a:rPr lang="ru-RU" sz="2200" dirty="0"/>
              <a:t> </a:t>
            </a:r>
            <a:r>
              <a:rPr lang="ru-RU" sz="2200" dirty="0" err="1"/>
              <a:t>ip</a:t>
            </a:r>
            <a:endParaRPr lang="ru-RU" sz="2200" dirty="0"/>
          </a:p>
          <a:p>
            <a:pPr marL="457200" indent="-457200">
              <a:buAutoNum type="arabicParenR"/>
            </a:pPr>
            <a:r>
              <a:rPr lang="ru-RU" sz="2200" dirty="0" err="1"/>
              <a:t>minikube</a:t>
            </a:r>
            <a:r>
              <a:rPr lang="ru-RU" sz="2200" dirty="0"/>
              <a:t> </a:t>
            </a:r>
            <a:r>
              <a:rPr lang="ru-RU" sz="2200" dirty="0" err="1"/>
              <a:t>tunnel</a:t>
            </a:r>
            <a:br>
              <a:rPr lang="ru-RU" sz="2200" dirty="0"/>
            </a:br>
            <a:r>
              <a:rPr lang="ru-RU" sz="2200" dirty="0"/>
              <a:t>Для пользователей Windows + </a:t>
            </a:r>
            <a:r>
              <a:rPr lang="ru-RU" sz="2200" dirty="0" err="1"/>
              <a:t>Docker</a:t>
            </a:r>
            <a:r>
              <a:rPr lang="ru-RU" sz="2200" dirty="0"/>
              <a:t> Desktop команда </a:t>
            </a:r>
            <a:r>
              <a:rPr lang="ru-RU" sz="2200" b="1" dirty="0" err="1"/>
              <a:t>minikube</a:t>
            </a:r>
            <a:r>
              <a:rPr lang="ru-RU" sz="2200" b="1" dirty="0"/>
              <a:t> </a:t>
            </a:r>
            <a:r>
              <a:rPr lang="ru-RU" sz="2200" b="1" dirty="0" err="1"/>
              <a:t>tunnel</a:t>
            </a:r>
            <a:r>
              <a:rPr lang="ru-RU" sz="2200" dirty="0"/>
              <a:t> в отдельном терминале ОБЯЗАТЕЛЬНА, иначе </a:t>
            </a:r>
            <a:r>
              <a:rPr lang="ru-RU" sz="2200" dirty="0" err="1"/>
              <a:t>Ingress</a:t>
            </a:r>
            <a:r>
              <a:rPr lang="ru-RU" sz="2200" dirty="0"/>
              <a:t> не пропустит трафик внутрь кластера</a:t>
            </a:r>
          </a:p>
          <a:p>
            <a:pPr marL="457200" indent="-457200">
              <a:buAutoNum type="arabicParenR"/>
            </a:pPr>
            <a:r>
              <a:rPr lang="ru-RU" sz="2200" dirty="0"/>
              <a:t>Открыть </a:t>
            </a:r>
            <a:r>
              <a:rPr lang="ru-RU" sz="2200" dirty="0" err="1"/>
              <a:t>Котобанк</a:t>
            </a:r>
            <a:r>
              <a:rPr lang="ru-RU" sz="2200" dirty="0"/>
              <a:t> в браузере по адресу: </a:t>
            </a:r>
            <a:r>
              <a:rPr lang="ru-RU" sz="2200" dirty="0" err="1"/>
              <a:t>cat-bank.local</a:t>
            </a:r>
            <a:endParaRPr lang="ru-RU" sz="2200" dirty="0"/>
          </a:p>
        </p:txBody>
      </p:sp>
      <p:graphicFrame>
        <p:nvGraphicFramePr>
          <p:cNvPr id="8" name="Объект 7">
            <a:extLst>
              <a:ext uri="{FF2B5EF4-FFF2-40B4-BE49-F238E27FC236}">
                <a16:creationId xmlns:a16="http://schemas.microsoft.com/office/drawing/2014/main" id="{617B8C62-4169-ADDD-2399-F339018D54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43574047"/>
              </p:ext>
            </p:extLst>
          </p:nvPr>
        </p:nvGraphicFramePr>
        <p:xfrm>
          <a:off x="10549504" y="2198213"/>
          <a:ext cx="140970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1409877" imgH="514350" progId="Package">
                  <p:embed/>
                </p:oleObj>
              </mc:Choice>
              <mc:Fallback>
                <p:oleObj name="Объект упаковщика для оболочки" showAsIcon="1" r:id="rId3" imgW="1409877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549504" y="2198213"/>
                        <a:ext cx="1409700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017539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6DD83-6B2A-38E0-C4DD-10FC88D9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BA6A75-EC07-5D5B-1F27-76FFC5D2F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5. Добавляем </a:t>
            </a:r>
            <a:r>
              <a:rPr lang="ru-RU" dirty="0" err="1"/>
              <a:t>Котобанку</a:t>
            </a:r>
            <a:r>
              <a:rPr lang="ru-RU" dirty="0"/>
              <a:t> работу с внешними сервисами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2262CD6-FB2D-8929-6C4C-F90462D8E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400" dirty="0"/>
              <a:t>Обновить конфигурацию </a:t>
            </a:r>
            <a:r>
              <a:rPr lang="ru-RU" sz="2400" dirty="0" err="1"/>
              <a:t>КотоБанка</a:t>
            </a:r>
            <a:r>
              <a:rPr lang="ru-RU" sz="2400" dirty="0"/>
              <a:t>. Теперь на странице появится блок для вывода полезных советов и кнопка для их обновления, которая отправляет HTTP-запросы на внутренний /advice</a:t>
            </a:r>
            <a:br>
              <a:rPr lang="ru-RU" sz="2400" dirty="0"/>
            </a:br>
            <a:r>
              <a:rPr lang="en-US" sz="2400" dirty="0" err="1"/>
              <a:t>kubectl</a:t>
            </a:r>
            <a:r>
              <a:rPr lang="en-US" sz="2400" dirty="0"/>
              <a:t> apply -f cat-bank-stage</a:t>
            </a:r>
            <a:r>
              <a:rPr lang="ru-RU" sz="2400" dirty="0"/>
              <a:t>2</a:t>
            </a:r>
            <a:r>
              <a:rPr lang="en-US" sz="2400" dirty="0"/>
              <a:t>.yaml (</a:t>
            </a:r>
            <a:r>
              <a:rPr lang="ru-RU" sz="2400" dirty="0"/>
              <a:t>применяем манифест из каталога с файлом)</a:t>
            </a:r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400" dirty="0"/>
              <a:t>Проверить работу </a:t>
            </a:r>
            <a:r>
              <a:rPr lang="ru-RU" sz="2400" dirty="0" err="1"/>
              <a:t>Котобанка</a:t>
            </a:r>
            <a:r>
              <a:rPr lang="ru-RU" sz="2400" dirty="0"/>
              <a:t>: </a:t>
            </a:r>
            <a:r>
              <a:rPr lang="en-US" sz="2400" dirty="0"/>
              <a:t>http://cat-bank.local/</a:t>
            </a:r>
          </a:p>
          <a:p>
            <a:pPr marL="457200" indent="-457200">
              <a:buFont typeface="Arial" panose="020B0604020202020204" pitchFamily="34" charset="0"/>
              <a:buAutoNum type="arabicParenR"/>
            </a:pPr>
            <a:endParaRPr lang="ru-RU" sz="2400" b="1" dirty="0"/>
          </a:p>
          <a:p>
            <a:pPr marL="457200" indent="-457200">
              <a:buAutoNum type="arabicParenR"/>
            </a:pPr>
            <a:endParaRPr lang="ru-RU" sz="2400" dirty="0"/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CD03611-D91E-895F-4B89-62B72733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736" y="3429000"/>
            <a:ext cx="3386142" cy="3128818"/>
          </a:xfrm>
          <a:prstGeom prst="rect">
            <a:avLst/>
          </a:prstGeom>
        </p:spPr>
      </p:pic>
      <p:graphicFrame>
        <p:nvGraphicFramePr>
          <p:cNvPr id="10" name="Объект 9">
            <a:extLst>
              <a:ext uri="{FF2B5EF4-FFF2-40B4-BE49-F238E27FC236}">
                <a16:creationId xmlns:a16="http://schemas.microsoft.com/office/drawing/2014/main" id="{6DC2946D-F919-766F-439B-8C26F9145F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64601692"/>
              </p:ext>
            </p:extLst>
          </p:nvPr>
        </p:nvGraphicFramePr>
        <p:xfrm>
          <a:off x="10810875" y="2533795"/>
          <a:ext cx="13811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1381169" imgH="514350" progId="Package">
                  <p:embed/>
                </p:oleObj>
              </mc:Choice>
              <mc:Fallback>
                <p:oleObj name="Объект упаковщика для оболочки" showAsIcon="1" r:id="rId3" imgW="13811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810875" y="2533795"/>
                        <a:ext cx="138112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383570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658D0-6644-D128-CBF5-A91AFAFA6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453763-246E-3C48-C1D6-27A91AA3E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Заменим сервис на мок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510A636-73E5-F513-5EF1-6F2B4D43D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007"/>
            <a:ext cx="10515600" cy="4351338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000" dirty="0"/>
              <a:t>Создать манифест для </a:t>
            </a:r>
            <a:r>
              <a:rPr lang="ru-RU" sz="2000" dirty="0" err="1"/>
              <a:t>мока</a:t>
            </a:r>
            <a:r>
              <a:rPr lang="en-US" sz="2000" dirty="0"/>
              <a:t>: mock</a:t>
            </a:r>
            <a:r>
              <a:rPr lang="ru-RU" sz="2000" dirty="0"/>
              <a:t>.</a:t>
            </a:r>
            <a:r>
              <a:rPr lang="ru-RU" sz="2000" dirty="0" err="1"/>
              <a:t>yaml</a:t>
            </a:r>
            <a:r>
              <a:rPr lang="en-US" sz="2000" dirty="0"/>
              <a:t> (deployment + service</a:t>
            </a:r>
            <a:r>
              <a:rPr lang="ru-RU" sz="2000" dirty="0"/>
              <a:t> + конфиги</a:t>
            </a:r>
            <a:r>
              <a:rPr lang="en-US" sz="2000" dirty="0"/>
              <a:t>)</a:t>
            </a:r>
            <a:br>
              <a:rPr lang="ru-RU" sz="2000" dirty="0"/>
            </a:br>
            <a:r>
              <a:rPr lang="ru-RU" sz="2000" dirty="0"/>
              <a:t>Внимательно изучить содержимое файла.</a:t>
            </a:r>
            <a:br>
              <a:rPr lang="ru-RU" sz="2000" dirty="0"/>
            </a:br>
            <a:r>
              <a:rPr lang="ru-RU" sz="2000" i="1" dirty="0"/>
              <a:t>На самом деле, вместо того чтобы редактировать </a:t>
            </a:r>
            <a:r>
              <a:rPr lang="ru-RU" sz="2000" i="1" dirty="0" err="1"/>
              <a:t>ConfigMap</a:t>
            </a:r>
            <a:r>
              <a:rPr lang="ru-RU" sz="2000" i="1" dirty="0"/>
              <a:t> каждый раз, можно создать </a:t>
            </a:r>
            <a:r>
              <a:rPr lang="ru-RU" sz="2000" b="1" i="1" dirty="0"/>
              <a:t>несколько </a:t>
            </a:r>
            <a:r>
              <a:rPr lang="ru-RU" sz="2000" b="1" i="1" dirty="0" err="1"/>
              <a:t>ConfigMap</a:t>
            </a:r>
            <a:r>
              <a:rPr lang="ru-RU" sz="2000" b="1" i="1" dirty="0"/>
              <a:t> (для разных сценариев!). </a:t>
            </a:r>
            <a:r>
              <a:rPr lang="ru-RU" sz="2000" i="1" dirty="0"/>
              <a:t>И менять только одну строчку в </a:t>
            </a:r>
            <a:r>
              <a:rPr lang="en-US" sz="2000" i="1" dirty="0"/>
              <a:t>Deployment, </a:t>
            </a:r>
            <a:r>
              <a:rPr lang="ru-RU" sz="2000" i="1" dirty="0"/>
              <a:t>например,</a:t>
            </a:r>
            <a:r>
              <a:rPr lang="en-US" sz="2000" b="1" i="1" dirty="0"/>
              <a:t> </a:t>
            </a:r>
            <a:r>
              <a:rPr lang="ru-RU" sz="2000" i="1" dirty="0" err="1"/>
              <a:t>configMap</a:t>
            </a:r>
            <a:r>
              <a:rPr lang="ru-RU" sz="2000" i="1" dirty="0"/>
              <a:t>: </a:t>
            </a:r>
            <a:r>
              <a:rPr lang="ru-RU" sz="2000" i="1" dirty="0" err="1"/>
              <a:t>name</a:t>
            </a:r>
            <a:r>
              <a:rPr lang="ru-RU" sz="2000" i="1" dirty="0"/>
              <a:t>: </a:t>
            </a:r>
            <a:r>
              <a:rPr lang="ru-RU" sz="2000" i="1" dirty="0" err="1"/>
              <a:t>wiremock-config-delay</a:t>
            </a:r>
            <a:endParaRPr lang="ru-RU" sz="2000" i="1" dirty="0"/>
          </a:p>
          <a:p>
            <a:pPr marL="457200" indent="-457200">
              <a:buAutoNum type="arabicParenR"/>
            </a:pPr>
            <a:r>
              <a:rPr lang="ru-RU" sz="2000" dirty="0"/>
              <a:t>Применить этот файл в терминале: </a:t>
            </a:r>
            <a:r>
              <a:rPr lang="ru-RU" sz="2000" dirty="0" err="1"/>
              <a:t>kubectl</a:t>
            </a:r>
            <a:r>
              <a:rPr lang="ru-RU" sz="2000" dirty="0"/>
              <a:t> </a:t>
            </a:r>
            <a:r>
              <a:rPr lang="ru-RU" sz="2000" dirty="0" err="1"/>
              <a:t>apply</a:t>
            </a:r>
            <a:r>
              <a:rPr lang="ru-RU" sz="2000" dirty="0"/>
              <a:t> -f </a:t>
            </a:r>
            <a:r>
              <a:rPr lang="en-US" sz="2000" dirty="0"/>
              <a:t>mock</a:t>
            </a:r>
            <a:r>
              <a:rPr lang="ru-RU" sz="2000" dirty="0"/>
              <a:t>.</a:t>
            </a:r>
            <a:r>
              <a:rPr lang="ru-RU" sz="2000" dirty="0" err="1"/>
              <a:t>yaml</a:t>
            </a:r>
            <a:r>
              <a:rPr lang="en-US" sz="2000" dirty="0"/>
              <a:t> (</a:t>
            </a:r>
            <a:r>
              <a:rPr lang="ru-RU" sz="2000" dirty="0"/>
              <a:t>опять же, из каталога)</a:t>
            </a:r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000" dirty="0"/>
              <a:t>Меняем в </a:t>
            </a:r>
            <a:r>
              <a:rPr lang="en-US" sz="2000" dirty="0"/>
              <a:t>deployment </a:t>
            </a:r>
            <a:r>
              <a:rPr lang="ru-RU" sz="2000" dirty="0" err="1"/>
              <a:t>Котобанка</a:t>
            </a:r>
            <a:r>
              <a:rPr lang="ru-RU" sz="2000" dirty="0"/>
              <a:t> (можно через </a:t>
            </a:r>
            <a:r>
              <a:rPr lang="ru-RU" sz="2000" dirty="0" err="1"/>
              <a:t>apply</a:t>
            </a:r>
            <a:r>
              <a:rPr lang="ru-RU" sz="2000" dirty="0"/>
              <a:t>):</a:t>
            </a:r>
            <a:br>
              <a:rPr lang="ru-RU" sz="2000" dirty="0"/>
            </a:br>
            <a:r>
              <a:rPr lang="ru-RU" sz="2000" dirty="0" err="1"/>
              <a:t>proxy_pass</a:t>
            </a:r>
            <a:r>
              <a:rPr lang="ru-RU" sz="2000" dirty="0"/>
              <a:t> </a:t>
            </a:r>
            <a:r>
              <a:rPr lang="ru-RU" sz="2000" dirty="0">
                <a:hlinkClick r:id="rId2"/>
              </a:rPr>
              <a:t>https://api.adviceslip.com/advice</a:t>
            </a:r>
            <a:r>
              <a:rPr lang="ru-RU" sz="2000" dirty="0"/>
              <a:t>; </a:t>
            </a:r>
            <a:br>
              <a:rPr lang="ru-RU" sz="2000" dirty="0"/>
            </a:br>
            <a:r>
              <a:rPr lang="ru-RU" sz="2000" dirty="0"/>
              <a:t>на </a:t>
            </a:r>
            <a:br>
              <a:rPr lang="ru-RU" sz="2000" dirty="0"/>
            </a:br>
            <a:r>
              <a:rPr lang="ru-RU" sz="2000" dirty="0" err="1"/>
              <a:t>proxy_pass</a:t>
            </a:r>
            <a:r>
              <a:rPr lang="ru-RU" sz="2000" dirty="0"/>
              <a:t> http://wiremock-service:8080/advice;</a:t>
            </a:r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000" dirty="0"/>
              <a:t>Перезапустить под с </a:t>
            </a:r>
            <a:r>
              <a:rPr lang="ru-RU" sz="2000" dirty="0" err="1"/>
              <a:t>Котобанком</a:t>
            </a:r>
            <a:r>
              <a:rPr lang="ru-RU" sz="2000" dirty="0"/>
              <a:t>:</a:t>
            </a:r>
            <a:br>
              <a:rPr lang="ru-RU" sz="2000" dirty="0"/>
            </a:br>
            <a:r>
              <a:rPr lang="ru-RU" sz="2000" dirty="0" err="1"/>
              <a:t>kubectl</a:t>
            </a:r>
            <a:r>
              <a:rPr lang="ru-RU" sz="2000" dirty="0"/>
              <a:t> </a:t>
            </a:r>
            <a:r>
              <a:rPr lang="ru-RU" sz="2000" dirty="0" err="1"/>
              <a:t>rollout</a:t>
            </a:r>
            <a:r>
              <a:rPr lang="ru-RU" sz="2000" dirty="0"/>
              <a:t> </a:t>
            </a:r>
            <a:r>
              <a:rPr lang="ru-RU" sz="2000" dirty="0" err="1"/>
              <a:t>restart</a:t>
            </a:r>
            <a:r>
              <a:rPr lang="ru-RU" sz="2000" dirty="0"/>
              <a:t> </a:t>
            </a:r>
            <a:r>
              <a:rPr lang="ru-RU" sz="2000" dirty="0" err="1"/>
              <a:t>deployment</a:t>
            </a:r>
            <a:r>
              <a:rPr lang="ru-RU" sz="2000" dirty="0"/>
              <a:t> </a:t>
            </a:r>
            <a:r>
              <a:rPr lang="ru-RU" sz="2000" dirty="0" err="1"/>
              <a:t>cat-bank-deployment</a:t>
            </a:r>
            <a:endParaRPr lang="ru-RU" sz="2000" dirty="0"/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000" dirty="0"/>
              <a:t>Проверить результат: </a:t>
            </a:r>
            <a:r>
              <a:rPr lang="en-US" sz="2000" dirty="0"/>
              <a:t>http://cat-bank.local/</a:t>
            </a: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B8CC38C8-CBEB-9B56-0A7C-A7491C24FD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9880771"/>
              </p:ext>
            </p:extLst>
          </p:nvPr>
        </p:nvGraphicFramePr>
        <p:xfrm>
          <a:off x="11353800" y="1567007"/>
          <a:ext cx="71437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714508" imgH="514350" progId="Package">
                  <p:embed/>
                </p:oleObj>
              </mc:Choice>
              <mc:Fallback>
                <p:oleObj name="Объект упаковщика для оболочки" showAsIcon="1" r:id="rId3" imgW="714508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353800" y="1567007"/>
                        <a:ext cx="71437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1D7D60A0-24A7-3983-18AB-F070637132A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4060053"/>
              </p:ext>
            </p:extLst>
          </p:nvPr>
        </p:nvGraphicFramePr>
        <p:xfrm>
          <a:off x="10794711" y="3990254"/>
          <a:ext cx="13811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5" imgW="1381169" imgH="514350" progId="Package">
                  <p:embed/>
                </p:oleObj>
              </mc:Choice>
              <mc:Fallback>
                <p:oleObj name="Объект упаковщика для оболочки" showAsIcon="1" r:id="rId5" imgW="13811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0794711" y="3990254"/>
                        <a:ext cx="1381125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58219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752DC-3478-B940-9314-F7D20418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E54D6A-1CFD-4D9B-2FD0-0AF95FF5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Заменим сервис на мок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DF65E29-5263-FF84-6B55-17A312E33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007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2400" dirty="0"/>
          </a:p>
          <a:p>
            <a:pPr marL="457200" indent="-457200">
              <a:buAutoNum type="arabicParenR"/>
            </a:pPr>
            <a:endParaRPr lang="ru-RU" sz="2400" dirty="0"/>
          </a:p>
          <a:p>
            <a:pPr marL="0" indent="0">
              <a:buNone/>
            </a:pPr>
            <a:endParaRPr lang="ru-RU" sz="2400" dirty="0"/>
          </a:p>
          <a:p>
            <a:pPr marL="457200" indent="-457200">
              <a:buAutoNum type="arabicParenR"/>
            </a:pPr>
            <a:endParaRPr lang="en-US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BCD0F49-3F79-8026-2B64-979E3779C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018" y="1690688"/>
            <a:ext cx="4622800" cy="4523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200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1038-6B38-B8C1-B204-74A1B75A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915B6E-86EB-3955-EB65-879B5517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Заменим сервис на мок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19660E9-7BA7-F19A-5233-AAFE0C23A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007"/>
            <a:ext cx="10515600" cy="4351338"/>
          </a:xfrm>
        </p:spPr>
        <p:txBody>
          <a:bodyPr>
            <a:noAutofit/>
          </a:bodyPr>
          <a:lstStyle/>
          <a:p>
            <a:pPr marL="457200" indent="-457200">
              <a:buAutoNum type="arabicParenR"/>
            </a:pPr>
            <a:r>
              <a:rPr lang="ru-RU" sz="2400" dirty="0"/>
              <a:t>Создать файл с «негативными» сценариями работы мок</a:t>
            </a:r>
            <a:br>
              <a:rPr lang="ru-RU" sz="2400" dirty="0"/>
            </a:br>
            <a:r>
              <a:rPr lang="en-US" sz="2400" dirty="0"/>
              <a:t>mock-negative-</a:t>
            </a:r>
            <a:r>
              <a:rPr lang="en-US" sz="2400" dirty="0" err="1"/>
              <a:t>config.yaml</a:t>
            </a:r>
            <a:endParaRPr lang="en-US" sz="2400" dirty="0"/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400" dirty="0"/>
              <a:t>Применить его: </a:t>
            </a:r>
            <a:r>
              <a:rPr lang="ru-RU" sz="2400" dirty="0" err="1"/>
              <a:t>kubectl</a:t>
            </a:r>
            <a:r>
              <a:rPr lang="ru-RU" sz="2400" dirty="0"/>
              <a:t> </a:t>
            </a:r>
            <a:r>
              <a:rPr lang="ru-RU" sz="2400" dirty="0" err="1"/>
              <a:t>apply</a:t>
            </a:r>
            <a:r>
              <a:rPr lang="ru-RU" sz="2400" dirty="0"/>
              <a:t> -f </a:t>
            </a:r>
            <a:r>
              <a:rPr lang="en-US" sz="2400" dirty="0"/>
              <a:t>mock-negative-</a:t>
            </a:r>
            <a:r>
              <a:rPr lang="en-US" sz="2400" dirty="0" err="1"/>
              <a:t>config.yaml</a:t>
            </a:r>
            <a:r>
              <a:rPr lang="en-US" sz="2400" dirty="0"/>
              <a:t> (</a:t>
            </a:r>
            <a:r>
              <a:rPr lang="ru-RU" sz="2400" dirty="0"/>
              <a:t>из каталога)</a:t>
            </a:r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400" dirty="0"/>
              <a:t>Убедиться, что созданы соответствующие </a:t>
            </a:r>
            <a:r>
              <a:rPr lang="en-US" sz="2400" dirty="0" err="1"/>
              <a:t>configmap</a:t>
            </a:r>
            <a:endParaRPr lang="ru-RU" sz="2400" dirty="0"/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400" dirty="0"/>
              <a:t>Изменить в настройках </a:t>
            </a:r>
            <a:r>
              <a:rPr lang="en-US" sz="2400" dirty="0"/>
              <a:t>deployment </a:t>
            </a:r>
            <a:r>
              <a:rPr lang="ru-RU" sz="2400" dirty="0"/>
              <a:t>мок конфиг на любой с ошибкой запроса (и перезапустить мок).</a:t>
            </a:r>
          </a:p>
          <a:p>
            <a:pPr marL="457200" indent="-457200">
              <a:buFont typeface="Arial" panose="020B0604020202020204" pitchFamily="34" charset="0"/>
              <a:buAutoNum type="arabicParenR"/>
            </a:pPr>
            <a:r>
              <a:rPr lang="ru-RU" sz="2400" dirty="0"/>
              <a:t>Проверить результат: </a:t>
            </a:r>
            <a:r>
              <a:rPr lang="en-US" sz="2400" dirty="0"/>
              <a:t>http://cat-bank.local/</a:t>
            </a:r>
            <a:endParaRPr lang="ru-RU" sz="2400" dirty="0"/>
          </a:p>
          <a:p>
            <a:pPr marL="457200" indent="-457200">
              <a:buAutoNum type="arabicParenR"/>
            </a:pPr>
            <a:endParaRPr lang="ru-RU" sz="2400" dirty="0"/>
          </a:p>
          <a:p>
            <a:pPr marL="457200" indent="-457200">
              <a:buAutoNum type="arabicParenR"/>
            </a:pPr>
            <a:endParaRPr lang="en-US" sz="24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C7070F-D81F-702C-40C3-D9A24BE66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454" y="3742676"/>
            <a:ext cx="3384948" cy="2980527"/>
          </a:xfrm>
          <a:prstGeom prst="rect">
            <a:avLst/>
          </a:prstGeom>
        </p:spPr>
      </p:pic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1B5A3830-BF7E-71DD-75BE-06DE7775DC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35169"/>
              </p:ext>
            </p:extLst>
          </p:nvPr>
        </p:nvGraphicFramePr>
        <p:xfrm>
          <a:off x="10208752" y="1690688"/>
          <a:ext cx="17716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Объект упаковщика для оболочки" showAsIcon="1" r:id="rId3" imgW="1771916" imgH="514350" progId="Package">
                  <p:embed/>
                </p:oleObj>
              </mc:Choice>
              <mc:Fallback>
                <p:oleObj name="Объект упаковщика для оболочки" showAsIcon="1" r:id="rId3" imgW="1771916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208752" y="1690688"/>
                        <a:ext cx="1771650" cy="51435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613424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E5BF5-4C68-575B-CED6-F58EE7CC3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BF16D3-1817-8E13-37E1-943EEA40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Самые частые команды </a:t>
            </a:r>
            <a:r>
              <a:rPr lang="en-US" dirty="0"/>
              <a:t>QA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949F5A-6A18-7801-1A76-91B42724D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007"/>
            <a:ext cx="10515600" cy="4351338"/>
          </a:xfrm>
        </p:spPr>
        <p:txBody>
          <a:bodyPr>
            <a:noAutofit/>
          </a:bodyPr>
          <a:lstStyle/>
          <a:p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get</a:t>
            </a:r>
            <a:r>
              <a:rPr lang="ru-RU" dirty="0"/>
              <a:t> </a:t>
            </a:r>
            <a:r>
              <a:rPr lang="ru-RU" dirty="0" err="1"/>
              <a:t>pods</a:t>
            </a:r>
            <a:r>
              <a:rPr lang="ru-RU" dirty="0"/>
              <a:t> -n &lt;</a:t>
            </a:r>
            <a:r>
              <a:rPr lang="ru-RU" dirty="0" err="1"/>
              <a:t>ns</a:t>
            </a:r>
            <a:r>
              <a:rPr lang="ru-RU" dirty="0"/>
              <a:t>&gt; -w (смотреть в реальном времени)</a:t>
            </a:r>
          </a:p>
          <a:p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describe</a:t>
            </a:r>
            <a:r>
              <a:rPr lang="ru-RU" dirty="0"/>
              <a:t> </a:t>
            </a:r>
            <a:r>
              <a:rPr lang="ru-RU" dirty="0" err="1"/>
              <a:t>pod</a:t>
            </a:r>
            <a:r>
              <a:rPr lang="ru-RU" dirty="0"/>
              <a:t> (смотреть ивенты)</a:t>
            </a:r>
          </a:p>
          <a:p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logs</a:t>
            </a:r>
            <a:r>
              <a:rPr lang="ru-RU" dirty="0"/>
              <a:t> -f --</a:t>
            </a:r>
            <a:r>
              <a:rPr lang="ru-RU" dirty="0" err="1"/>
              <a:t>tail</a:t>
            </a:r>
            <a:r>
              <a:rPr lang="ru-RU" dirty="0"/>
              <a:t>=100 (смотреть последние логи)</a:t>
            </a:r>
          </a:p>
          <a:p>
            <a:r>
              <a:rPr lang="ru-RU" dirty="0" err="1"/>
              <a:t>kubectl</a:t>
            </a:r>
            <a:r>
              <a:rPr lang="ru-RU" dirty="0"/>
              <a:t> </a:t>
            </a:r>
            <a:r>
              <a:rPr lang="ru-RU" dirty="0" err="1"/>
              <a:t>exec</a:t>
            </a:r>
            <a:r>
              <a:rPr lang="ru-RU" dirty="0"/>
              <a:t> -</a:t>
            </a:r>
            <a:r>
              <a:rPr lang="ru-RU" dirty="0" err="1"/>
              <a:t>it</a:t>
            </a:r>
            <a:r>
              <a:rPr lang="ru-RU" dirty="0"/>
              <a:t> &lt;</a:t>
            </a:r>
            <a:r>
              <a:rPr lang="ru-RU" dirty="0" err="1"/>
              <a:t>pod</a:t>
            </a:r>
            <a:r>
              <a:rPr lang="ru-RU" dirty="0"/>
              <a:t>&gt; -- </a:t>
            </a:r>
            <a:r>
              <a:rPr lang="ru-RU" dirty="0" err="1"/>
              <a:t>sh</a:t>
            </a:r>
            <a:r>
              <a:rPr lang="ru-RU" dirty="0"/>
              <a:t> (залезть внутрь контейнера проверить переменные)</a:t>
            </a:r>
            <a:endParaRPr lang="ru-RU" sz="2400" dirty="0"/>
          </a:p>
          <a:p>
            <a:pPr marL="457200" indent="-457200">
              <a:buAutoNum type="arabicParenR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9684219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8404</TotalTime>
  <Words>1853</Words>
  <Application>Microsoft Office PowerPoint</Application>
  <PresentationFormat>Широкоэкранный</PresentationFormat>
  <Paragraphs>110</Paragraphs>
  <Slides>24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Тема Office</vt:lpstr>
      <vt:lpstr>Объект упаковщика для оболочки</vt:lpstr>
      <vt:lpstr>K8s взглядом специалиста по качеству</vt:lpstr>
      <vt:lpstr>Зачем нам разбираться с Minikube?</vt:lpstr>
      <vt:lpstr>Предварительная установка</vt:lpstr>
      <vt:lpstr>Установка kubectl</vt:lpstr>
      <vt:lpstr>Установка minikube</vt:lpstr>
      <vt:lpstr>Установка minikube</vt:lpstr>
      <vt:lpstr>Запуск minikube</vt:lpstr>
      <vt:lpstr>Запуск minikube</vt:lpstr>
      <vt:lpstr>Разбор запущенных pods</vt:lpstr>
      <vt:lpstr>Разбор запущенных pods</vt:lpstr>
      <vt:lpstr>Разбор запущенных pods</vt:lpstr>
      <vt:lpstr>Разбор запущенных pods</vt:lpstr>
      <vt:lpstr>1. Создаем наше первое приложение  «Банк котиков»</vt:lpstr>
      <vt:lpstr>1. Создаем наше первое приложение  «Банк котиков»</vt:lpstr>
      <vt:lpstr>1. Создаем наше первое приложение  «Банк котиков»</vt:lpstr>
      <vt:lpstr>2. Авария «Банка котиков»</vt:lpstr>
      <vt:lpstr>3. Добавляем Service</vt:lpstr>
      <vt:lpstr>3. Добавляем Service</vt:lpstr>
      <vt:lpstr>4. Добавляем Ingress</vt:lpstr>
      <vt:lpstr>5. Добавляем Котобанку работу с внешними сервисами</vt:lpstr>
      <vt:lpstr>6. Заменим сервис на мок</vt:lpstr>
      <vt:lpstr>6. Заменим сервис на мок</vt:lpstr>
      <vt:lpstr>6. Заменим сервис на мок</vt:lpstr>
      <vt:lpstr>Самые частые команды QA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Алена Собина</dc:creator>
  <cp:lastModifiedBy>Алена Собина</cp:lastModifiedBy>
  <cp:revision>60</cp:revision>
  <dcterms:created xsi:type="dcterms:W3CDTF">2026-07-03T04:37:23Z</dcterms:created>
  <dcterms:modified xsi:type="dcterms:W3CDTF">2026-07-14T10:34:24Z</dcterms:modified>
</cp:coreProperties>
</file>